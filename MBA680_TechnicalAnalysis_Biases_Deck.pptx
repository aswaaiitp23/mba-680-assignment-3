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310" r:id="rId5"/>
    <p:sldId id="311" r:id="rId15"/>
    <p:sldId id="312" r:id="rId16"/>
    <p:sldId id="313" r:id="rId17"/>
    <p:sldId id="314" r:id="rId18"/>
    <p:sldId id="315" r:id="rId14"/>
    <p:sldId id="316" r:id="rId13"/>
    <p:sldId id="317" r:id="rId12"/>
    <p:sldId id="318" r:id="rId11"/>
    <p:sldId id="319" r:id="rId10"/>
    <p:sldId id="320" r:id="rId9"/>
    <p:sldId id="321" r:id="rId8"/>
    <p:sldId id="322" r:id="rId7"/>
    <p:sldId id="323" r:id="rId6"/>
    <p:sldId id="271" r:id="rId19"/>
    <p:sldId id="324" r:id="rId28"/>
    <p:sldId id="32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EE6"/>
    <a:srgbClr val="132BDC"/>
    <a:srgbClr val="DCE0FC"/>
    <a:srgbClr val="FDF200"/>
    <a:srgbClr val="80FBE5"/>
    <a:srgbClr val="3CF3D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4658"/>
  </p:normalViewPr>
  <p:slideViewPr>
    <p:cSldViewPr snapToGrid="0">
      <p:cViewPr varScale="1">
        <p:scale>
          <a:sx n="120" d="100"/>
          <a:sy n="120" d="100"/>
        </p:scale>
        <p:origin x="704" y="184"/>
      </p:cViewPr>
      <p:guideLst/>
    </p:cSldViewPr>
  </p:slideViewPr>
  <p:notesTextViewPr>
    <p:cViewPr>
      <p:scale>
        <a:sx n="1" d="1"/>
        <a:sy n="1" d="1"/>
      </p:scale>
      <p:origin x="0" y="0"/>
    </p:cViewPr>
  </p:notesTextViewPr>
  <p:notesViewPr>
    <p:cSldViewPr snapToGrid="0">
      <p:cViewPr varScale="1">
        <p:scale>
          <a:sx n="137" d="100"/>
          <a:sy n="137" d="100"/>
        </p:scale>
        <p:origin x="6744" y="2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3.xml"/><Relationship Id="rId9" Type="http://schemas.openxmlformats.org/officeDocument/2006/relationships/slide" Target="slides/slide12.xml"/><Relationship Id="rId10" Type="http://schemas.openxmlformats.org/officeDocument/2006/relationships/slide" Target="slides/slide11.xml"/><Relationship Id="rId11" Type="http://schemas.openxmlformats.org/officeDocument/2006/relationships/slide" Target="slides/slide10.xml"/><Relationship Id="rId12" Type="http://schemas.openxmlformats.org/officeDocument/2006/relationships/slide" Target="slides/slide9.xml"/><Relationship Id="rId13" Type="http://schemas.openxmlformats.org/officeDocument/2006/relationships/slide" Target="slides/slide8.xml"/><Relationship Id="rId14" Type="http://schemas.openxmlformats.org/officeDocument/2006/relationships/slide" Target="slides/slide7.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99.xml"/><Relationship Id="rId20" Type="http://schemas.openxmlformats.org/officeDocument/2006/relationships/notesMaster" Target="notesMasters/notesMaster1.xml"/><Relationship Id="rId21" Type="http://schemas.openxmlformats.org/officeDocument/2006/relationships/handoutMaster" Target="handoutMasters/handoutMaster1.xml"/><Relationship Id="rId22" Type="http://schemas.openxmlformats.org/officeDocument/2006/relationships/commentAuthors" Target="commentAuthor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8/10/relationships/authors" Target="authors.xml"/><Relationship Id="rId28" Type="http://schemas.openxmlformats.org/officeDocument/2006/relationships/slide" Target="slides/slide16.xml"/><Relationship Id="rId29"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36393B"/>
                </a:solidFill>
              </a:rPr>
              <a:t>Indexed close, Jan 2015 = 100</a:t>
            </a:r>
          </a:p>
        </c:rich>
      </c:tx>
      <c:layout/>
      <c:overlay val="0"/>
    </c:title>
    <c:autoTitleDeleted val="0"/>
    <c:plotArea>
      <c:lineChart>
        <c:grouping val="standard"/>
        <c:varyColors val="0"/>
        <c:ser>
          <c:idx val="0"/>
          <c:order val="0"/>
          <c:tx>
            <c:strRef>
              <c:f>Sheet1!$B$1</c:f>
              <c:strCache>
                <c:ptCount val="1"/>
                <c:pt idx="0">
                  <c:v>RELIANCE</c:v>
                </c:pt>
              </c:strCache>
            </c:strRef>
          </c:tx>
          <c:spPr>
            <a:ln w="19050">
              <a:solidFill>
                <a:srgbClr val="0E8C74"/>
              </a:solidFill>
            </a:ln>
          </c:spPr>
          <c:marker>
            <c:symbol val="none"/>
          </c:marker>
          <c:cat>
            <c:strRef>
              <c:f>Sheet1!$A$2:$A$142</c:f>
              <c:strCache>
                <c:ptCount val="141"/>
                <c:pt idx="0">
                  <c:v>Jan 15</c:v>
                </c:pt>
                <c:pt idx="1">
                  <c:v>Feb 15</c:v>
                </c:pt>
                <c:pt idx="2">
                  <c:v>Mar 15</c:v>
                </c:pt>
                <c:pt idx="3">
                  <c:v>Apr 15</c:v>
                </c:pt>
                <c:pt idx="4">
                  <c:v>May 15</c:v>
                </c:pt>
                <c:pt idx="5">
                  <c:v>Jun 15</c:v>
                </c:pt>
                <c:pt idx="6">
                  <c:v>Jul 15</c:v>
                </c:pt>
                <c:pt idx="7">
                  <c:v>Aug 15</c:v>
                </c:pt>
                <c:pt idx="8">
                  <c:v>Sep 15</c:v>
                </c:pt>
                <c:pt idx="9">
                  <c:v>Oct 15</c:v>
                </c:pt>
                <c:pt idx="10">
                  <c:v>Nov 15</c:v>
                </c:pt>
                <c:pt idx="11">
                  <c:v>Dec 15</c:v>
                </c:pt>
                <c:pt idx="12">
                  <c:v>Jan 16</c:v>
                </c:pt>
                <c:pt idx="13">
                  <c:v>Feb 16</c:v>
                </c:pt>
                <c:pt idx="14">
                  <c:v>Mar 16</c:v>
                </c:pt>
                <c:pt idx="15">
                  <c:v>Apr 16</c:v>
                </c:pt>
                <c:pt idx="16">
                  <c:v>May 16</c:v>
                </c:pt>
                <c:pt idx="17">
                  <c:v>Jun 16</c:v>
                </c:pt>
                <c:pt idx="18">
                  <c:v>Jul 16</c:v>
                </c:pt>
                <c:pt idx="19">
                  <c:v>Aug 16</c:v>
                </c:pt>
                <c:pt idx="20">
                  <c:v>Sep 16</c:v>
                </c:pt>
                <c:pt idx="21">
                  <c:v>Oct 16</c:v>
                </c:pt>
                <c:pt idx="22">
                  <c:v>Nov 16</c:v>
                </c:pt>
                <c:pt idx="23">
                  <c:v>Dec 16</c:v>
                </c:pt>
                <c:pt idx="24">
                  <c:v>Jan 17</c:v>
                </c:pt>
                <c:pt idx="25">
                  <c:v>Feb 17</c:v>
                </c:pt>
                <c:pt idx="26">
                  <c:v>Mar 17</c:v>
                </c:pt>
                <c:pt idx="27">
                  <c:v>Apr 17</c:v>
                </c:pt>
                <c:pt idx="28">
                  <c:v>May 17</c:v>
                </c:pt>
                <c:pt idx="29">
                  <c:v>Jun 17</c:v>
                </c:pt>
                <c:pt idx="30">
                  <c:v>Jul 17</c:v>
                </c:pt>
                <c:pt idx="31">
                  <c:v>Aug 17</c:v>
                </c:pt>
                <c:pt idx="32">
                  <c:v>Sep 17</c:v>
                </c:pt>
                <c:pt idx="33">
                  <c:v>Oct 17</c:v>
                </c:pt>
                <c:pt idx="34">
                  <c:v>Nov 17</c:v>
                </c:pt>
                <c:pt idx="35">
                  <c:v>Dec 17</c:v>
                </c:pt>
                <c:pt idx="36">
                  <c:v>Jan 18</c:v>
                </c:pt>
                <c:pt idx="37">
                  <c:v>Feb 18</c:v>
                </c:pt>
                <c:pt idx="38">
                  <c:v>Mar 18</c:v>
                </c:pt>
                <c:pt idx="39">
                  <c:v>Apr 18</c:v>
                </c:pt>
                <c:pt idx="40">
                  <c:v>May 18</c:v>
                </c:pt>
                <c:pt idx="41">
                  <c:v>Jun 18</c:v>
                </c:pt>
                <c:pt idx="42">
                  <c:v>Jul 18</c:v>
                </c:pt>
                <c:pt idx="43">
                  <c:v>Aug 18</c:v>
                </c:pt>
                <c:pt idx="44">
                  <c:v>Sep 18</c:v>
                </c:pt>
                <c:pt idx="45">
                  <c:v>Oct 18</c:v>
                </c:pt>
                <c:pt idx="46">
                  <c:v>Nov 18</c:v>
                </c:pt>
                <c:pt idx="47">
                  <c:v>Dec 18</c:v>
                </c:pt>
                <c:pt idx="48">
                  <c:v>Jan 19</c:v>
                </c:pt>
                <c:pt idx="49">
                  <c:v>Feb 19</c:v>
                </c:pt>
                <c:pt idx="50">
                  <c:v>Mar 19</c:v>
                </c:pt>
                <c:pt idx="51">
                  <c:v>Apr 19</c:v>
                </c:pt>
                <c:pt idx="52">
                  <c:v>May 19</c:v>
                </c:pt>
                <c:pt idx="53">
                  <c:v>Jun 19</c:v>
                </c:pt>
                <c:pt idx="54">
                  <c:v>Jul 19</c:v>
                </c:pt>
                <c:pt idx="55">
                  <c:v>Aug 19</c:v>
                </c:pt>
                <c:pt idx="56">
                  <c:v>Sep 19</c:v>
                </c:pt>
                <c:pt idx="57">
                  <c:v>Oct 19</c:v>
                </c:pt>
                <c:pt idx="58">
                  <c:v>Nov 19</c:v>
                </c:pt>
                <c:pt idx="59">
                  <c:v>Dec 19</c:v>
                </c:pt>
                <c:pt idx="60">
                  <c:v>Jan 20</c:v>
                </c:pt>
                <c:pt idx="61">
                  <c:v>Feb 20</c:v>
                </c:pt>
                <c:pt idx="62">
                  <c:v>Mar 20</c:v>
                </c:pt>
                <c:pt idx="63">
                  <c:v>Apr 20</c:v>
                </c:pt>
                <c:pt idx="64">
                  <c:v>May 20</c:v>
                </c:pt>
                <c:pt idx="65">
                  <c:v>Jun 20</c:v>
                </c:pt>
                <c:pt idx="66">
                  <c:v>Jul 20</c:v>
                </c:pt>
                <c:pt idx="67">
                  <c:v>Aug 20</c:v>
                </c:pt>
                <c:pt idx="68">
                  <c:v>Sep 20</c:v>
                </c:pt>
                <c:pt idx="69">
                  <c:v>Oct 20</c:v>
                </c:pt>
                <c:pt idx="70">
                  <c:v>Nov 20</c:v>
                </c:pt>
                <c:pt idx="71">
                  <c:v>Dec 20</c:v>
                </c:pt>
                <c:pt idx="72">
                  <c:v>Jan 21</c:v>
                </c:pt>
                <c:pt idx="73">
                  <c:v>Feb 21</c:v>
                </c:pt>
                <c:pt idx="74">
                  <c:v>Mar 21</c:v>
                </c:pt>
                <c:pt idx="75">
                  <c:v>Apr 21</c:v>
                </c:pt>
                <c:pt idx="76">
                  <c:v>May 21</c:v>
                </c:pt>
                <c:pt idx="77">
                  <c:v>Jun 21</c:v>
                </c:pt>
                <c:pt idx="78">
                  <c:v>Jul 21</c:v>
                </c:pt>
                <c:pt idx="79">
                  <c:v>Aug 21</c:v>
                </c:pt>
                <c:pt idx="80">
                  <c:v>Sep 21</c:v>
                </c:pt>
                <c:pt idx="81">
                  <c:v>Oct 21</c:v>
                </c:pt>
                <c:pt idx="82">
                  <c:v>Nov 21</c:v>
                </c:pt>
                <c:pt idx="83">
                  <c:v>Dec 21</c:v>
                </c:pt>
                <c:pt idx="84">
                  <c:v>Jan 22</c:v>
                </c:pt>
                <c:pt idx="85">
                  <c:v>Feb 22</c:v>
                </c:pt>
                <c:pt idx="86">
                  <c:v>Mar 22</c:v>
                </c:pt>
                <c:pt idx="87">
                  <c:v>Apr 22</c:v>
                </c:pt>
                <c:pt idx="88">
                  <c:v>May 22</c:v>
                </c:pt>
                <c:pt idx="89">
                  <c:v>Jun 22</c:v>
                </c:pt>
                <c:pt idx="90">
                  <c:v>Jul 22</c:v>
                </c:pt>
                <c:pt idx="91">
                  <c:v>Aug 22</c:v>
                </c:pt>
                <c:pt idx="92">
                  <c:v>Sep 22</c:v>
                </c:pt>
                <c:pt idx="93">
                  <c:v>Oct 22</c:v>
                </c:pt>
                <c:pt idx="94">
                  <c:v>Nov 22</c:v>
                </c:pt>
                <c:pt idx="95">
                  <c:v>Dec 22</c:v>
                </c:pt>
                <c:pt idx="96">
                  <c:v>Jan 23</c:v>
                </c:pt>
                <c:pt idx="97">
                  <c:v>Feb 23</c:v>
                </c:pt>
                <c:pt idx="98">
                  <c:v>Mar 23</c:v>
                </c:pt>
                <c:pt idx="99">
                  <c:v>Apr 23</c:v>
                </c:pt>
                <c:pt idx="100">
                  <c:v>May 23</c:v>
                </c:pt>
                <c:pt idx="101">
                  <c:v>Jun 23</c:v>
                </c:pt>
                <c:pt idx="102">
                  <c:v>Jul 23</c:v>
                </c:pt>
                <c:pt idx="103">
                  <c:v>Aug 23</c:v>
                </c:pt>
                <c:pt idx="104">
                  <c:v>Sep 23</c:v>
                </c:pt>
                <c:pt idx="105">
                  <c:v>Oct 23</c:v>
                </c:pt>
                <c:pt idx="106">
                  <c:v>Nov 23</c:v>
                </c:pt>
                <c:pt idx="107">
                  <c:v>Dec 23</c:v>
                </c:pt>
                <c:pt idx="108">
                  <c:v>Jan 24</c:v>
                </c:pt>
                <c:pt idx="109">
                  <c:v>Feb 24</c:v>
                </c:pt>
                <c:pt idx="110">
                  <c:v>Mar 24</c:v>
                </c:pt>
                <c:pt idx="111">
                  <c:v>Apr 24</c:v>
                </c:pt>
                <c:pt idx="112">
                  <c:v>May 24</c:v>
                </c:pt>
                <c:pt idx="113">
                  <c:v>Jun 24</c:v>
                </c:pt>
                <c:pt idx="114">
                  <c:v>Jul 24</c:v>
                </c:pt>
                <c:pt idx="115">
                  <c:v>Aug 24</c:v>
                </c:pt>
                <c:pt idx="116">
                  <c:v>Sep 24</c:v>
                </c:pt>
                <c:pt idx="117">
                  <c:v>Oct 24</c:v>
                </c:pt>
                <c:pt idx="118">
                  <c:v>Nov 24</c:v>
                </c:pt>
                <c:pt idx="119">
                  <c:v>Dec 24</c:v>
                </c:pt>
                <c:pt idx="120">
                  <c:v>Jan 25</c:v>
                </c:pt>
                <c:pt idx="121">
                  <c:v>Feb 25</c:v>
                </c:pt>
                <c:pt idx="122">
                  <c:v>Mar 25</c:v>
                </c:pt>
                <c:pt idx="123">
                  <c:v>Apr 25</c:v>
                </c:pt>
                <c:pt idx="124">
                  <c:v>May 25</c:v>
                </c:pt>
                <c:pt idx="125">
                  <c:v>Jun 25</c:v>
                </c:pt>
                <c:pt idx="126">
                  <c:v>Jul 25</c:v>
                </c:pt>
                <c:pt idx="127">
                  <c:v>Aug 25</c:v>
                </c:pt>
                <c:pt idx="128">
                  <c:v>Sep 25</c:v>
                </c:pt>
                <c:pt idx="129">
                  <c:v>Oct 25</c:v>
                </c:pt>
                <c:pt idx="130">
                  <c:v>Nov 25</c:v>
                </c:pt>
                <c:pt idx="131">
                  <c:v>Dec 25</c:v>
                </c:pt>
                <c:pt idx="132">
                  <c:v>Jan 26</c:v>
                </c:pt>
                <c:pt idx="133">
                  <c:v>Feb 26</c:v>
                </c:pt>
                <c:pt idx="134">
                  <c:v>Mar 26</c:v>
                </c:pt>
                <c:pt idx="135">
                  <c:v>Apr 26</c:v>
                </c:pt>
                <c:pt idx="136">
                  <c:v>May 26</c:v>
                </c:pt>
                <c:pt idx="137">
                  <c:v>Jun 26</c:v>
                </c:pt>
                <c:pt idx="138">
                  <c:v>Jul 26</c:v>
                </c:pt>
                <c:pt idx="139">
                  <c:v>Aug 26</c:v>
                </c:pt>
                <c:pt idx="140">
                  <c:v>Sep 26</c:v>
                </c:pt>
              </c:strCache>
            </c:strRef>
          </c:cat>
          <c:val>
            <c:numRef>
              <c:f>Sheet1!$B$2:$B$142</c:f>
              <c:numCache>
                <c:formatCode>General</c:formatCode>
                <c:ptCount val="141"/>
                <c:pt idx="0">
                  <c:v>100.0</c:v>
                </c:pt>
                <c:pt idx="1">
                  <c:v>94.5</c:v>
                </c:pt>
                <c:pt idx="2">
                  <c:v>90.3</c:v>
                </c:pt>
                <c:pt idx="3">
                  <c:v>94.2</c:v>
                </c:pt>
                <c:pt idx="4">
                  <c:v>95.8</c:v>
                </c:pt>
                <c:pt idx="5">
                  <c:v>109.3</c:v>
                </c:pt>
                <c:pt idx="6">
                  <c:v>109.5</c:v>
                </c:pt>
                <c:pt idx="7">
                  <c:v>93.5</c:v>
                </c:pt>
                <c:pt idx="8">
                  <c:v>94.2</c:v>
                </c:pt>
                <c:pt idx="9">
                  <c:v>103.5</c:v>
                </c:pt>
                <c:pt idx="10">
                  <c:v>105.5</c:v>
                </c:pt>
                <c:pt idx="11">
                  <c:v>110.9</c:v>
                </c:pt>
                <c:pt idx="12">
                  <c:v>113.1</c:v>
                </c:pt>
                <c:pt idx="13">
                  <c:v>105.6</c:v>
                </c:pt>
                <c:pt idx="14">
                  <c:v>114.2</c:v>
                </c:pt>
                <c:pt idx="15">
                  <c:v>107.4</c:v>
                </c:pt>
                <c:pt idx="16">
                  <c:v>104.7</c:v>
                </c:pt>
                <c:pt idx="17">
                  <c:v>105.9</c:v>
                </c:pt>
                <c:pt idx="18">
                  <c:v>110.9</c:v>
                </c:pt>
                <c:pt idx="19">
                  <c:v>115.8</c:v>
                </c:pt>
                <c:pt idx="20">
                  <c:v>118.4</c:v>
                </c:pt>
                <c:pt idx="21">
                  <c:v>114.9</c:v>
                </c:pt>
                <c:pt idx="22">
                  <c:v>108.2</c:v>
                </c:pt>
                <c:pt idx="23">
                  <c:v>118.3</c:v>
                </c:pt>
                <c:pt idx="24">
                  <c:v>114.2</c:v>
                </c:pt>
                <c:pt idx="25">
                  <c:v>135.3</c:v>
                </c:pt>
                <c:pt idx="26">
                  <c:v>144.3</c:v>
                </c:pt>
                <c:pt idx="27">
                  <c:v>152.4</c:v>
                </c:pt>
                <c:pt idx="28">
                  <c:v>146.5</c:v>
                </c:pt>
                <c:pt idx="29">
                  <c:v>150.8</c:v>
                </c:pt>
                <c:pt idx="30">
                  <c:v>176.5</c:v>
                </c:pt>
                <c:pt idx="31">
                  <c:v>174.2</c:v>
                </c:pt>
                <c:pt idx="32">
                  <c:v>170.7</c:v>
                </c:pt>
                <c:pt idx="33">
                  <c:v>205.6</c:v>
                </c:pt>
                <c:pt idx="34">
                  <c:v>201.4</c:v>
                </c:pt>
                <c:pt idx="35">
                  <c:v>201.3</c:v>
                </c:pt>
                <c:pt idx="36">
                  <c:v>210.1</c:v>
                </c:pt>
                <c:pt idx="37">
                  <c:v>208.6</c:v>
                </c:pt>
                <c:pt idx="38">
                  <c:v>192.9</c:v>
                </c:pt>
                <c:pt idx="39">
                  <c:v>210.5</c:v>
                </c:pt>
                <c:pt idx="40">
                  <c:v>201.4</c:v>
                </c:pt>
                <c:pt idx="41">
                  <c:v>212.5</c:v>
                </c:pt>
                <c:pt idx="42">
                  <c:v>259.2</c:v>
                </c:pt>
                <c:pt idx="43">
                  <c:v>271.3</c:v>
                </c:pt>
                <c:pt idx="44">
                  <c:v>274.9</c:v>
                </c:pt>
                <c:pt idx="45">
                  <c:v>231.9</c:v>
                </c:pt>
                <c:pt idx="46">
                  <c:v>255.1</c:v>
                </c:pt>
                <c:pt idx="47">
                  <c:v>245.0</c:v>
                </c:pt>
                <c:pt idx="48">
                  <c:v>268.2</c:v>
                </c:pt>
                <c:pt idx="49">
                  <c:v>269.0</c:v>
                </c:pt>
                <c:pt idx="50">
                  <c:v>297.9</c:v>
                </c:pt>
                <c:pt idx="51">
                  <c:v>304.4</c:v>
                </c:pt>
                <c:pt idx="52">
                  <c:v>290.7</c:v>
                </c:pt>
                <c:pt idx="53">
                  <c:v>273.8</c:v>
                </c:pt>
                <c:pt idx="54">
                  <c:v>254.9</c:v>
                </c:pt>
                <c:pt idx="55">
                  <c:v>272.8</c:v>
                </c:pt>
                <c:pt idx="56">
                  <c:v>291.1</c:v>
                </c:pt>
                <c:pt idx="57">
                  <c:v>320.0</c:v>
                </c:pt>
                <c:pt idx="58">
                  <c:v>339.0</c:v>
                </c:pt>
                <c:pt idx="59">
                  <c:v>330.9</c:v>
                </c:pt>
                <c:pt idx="60">
                  <c:v>308.5</c:v>
                </c:pt>
                <c:pt idx="61">
                  <c:v>290.3</c:v>
                </c:pt>
                <c:pt idx="62">
                  <c:v>243.4</c:v>
                </c:pt>
                <c:pt idx="63">
                  <c:v>320.4</c:v>
                </c:pt>
                <c:pt idx="64">
                  <c:v>323.1</c:v>
                </c:pt>
                <c:pt idx="65">
                  <c:v>375.9</c:v>
                </c:pt>
                <c:pt idx="66">
                  <c:v>456.0</c:v>
                </c:pt>
                <c:pt idx="67">
                  <c:v>459.0</c:v>
                </c:pt>
                <c:pt idx="68">
                  <c:v>492.9</c:v>
                </c:pt>
                <c:pt idx="69">
                  <c:v>453.2</c:v>
                </c:pt>
                <c:pt idx="70">
                  <c:v>425.7</c:v>
                </c:pt>
                <c:pt idx="71">
                  <c:v>438.0</c:v>
                </c:pt>
                <c:pt idx="72">
                  <c:v>406.4</c:v>
                </c:pt>
                <c:pt idx="73">
                  <c:v>460.1</c:v>
                </c:pt>
                <c:pt idx="74">
                  <c:v>441.9</c:v>
                </c:pt>
                <c:pt idx="75">
                  <c:v>440.0</c:v>
                </c:pt>
                <c:pt idx="76">
                  <c:v>476.6</c:v>
                </c:pt>
                <c:pt idx="77">
                  <c:v>465.6</c:v>
                </c:pt>
                <c:pt idx="78">
                  <c:v>449.0</c:v>
                </c:pt>
                <c:pt idx="79">
                  <c:v>498.2</c:v>
                </c:pt>
                <c:pt idx="80">
                  <c:v>555.8</c:v>
                </c:pt>
                <c:pt idx="81">
                  <c:v>559.5</c:v>
                </c:pt>
                <c:pt idx="82">
                  <c:v>530.7</c:v>
                </c:pt>
                <c:pt idx="83">
                  <c:v>522.4</c:v>
                </c:pt>
                <c:pt idx="84">
                  <c:v>526.5</c:v>
                </c:pt>
                <c:pt idx="85">
                  <c:v>520.5</c:v>
                </c:pt>
                <c:pt idx="86">
                  <c:v>581.3</c:v>
                </c:pt>
                <c:pt idx="87">
                  <c:v>615.5</c:v>
                </c:pt>
                <c:pt idx="88">
                  <c:v>580.8</c:v>
                </c:pt>
                <c:pt idx="89">
                  <c:v>572.6</c:v>
                </c:pt>
                <c:pt idx="90">
                  <c:v>553.6</c:v>
                </c:pt>
                <c:pt idx="91">
                  <c:v>581.9</c:v>
                </c:pt>
                <c:pt idx="92">
                  <c:v>524.6</c:v>
                </c:pt>
                <c:pt idx="93">
                  <c:v>562.5</c:v>
                </c:pt>
                <c:pt idx="94">
                  <c:v>602.5</c:v>
                </c:pt>
                <c:pt idx="95">
                  <c:v>561.9</c:v>
                </c:pt>
                <c:pt idx="96">
                  <c:v>519.3</c:v>
                </c:pt>
                <c:pt idx="97">
                  <c:v>512.4</c:v>
                </c:pt>
                <c:pt idx="98">
                  <c:v>514.2</c:v>
                </c:pt>
                <c:pt idx="99">
                  <c:v>534.0</c:v>
                </c:pt>
                <c:pt idx="100">
                  <c:v>544.9</c:v>
                </c:pt>
                <c:pt idx="101">
                  <c:v>562.6</c:v>
                </c:pt>
                <c:pt idx="102">
                  <c:v>619.4</c:v>
                </c:pt>
                <c:pt idx="103">
                  <c:v>584.9</c:v>
                </c:pt>
                <c:pt idx="104">
                  <c:v>569.8</c:v>
                </c:pt>
                <c:pt idx="105">
                  <c:v>555.9</c:v>
                </c:pt>
                <c:pt idx="106">
                  <c:v>577.7</c:v>
                </c:pt>
                <c:pt idx="107">
                  <c:v>628.1</c:v>
                </c:pt>
                <c:pt idx="108">
                  <c:v>693.3</c:v>
                </c:pt>
                <c:pt idx="109">
                  <c:v>709.9</c:v>
                </c:pt>
                <c:pt idx="110">
                  <c:v>722.1</c:v>
                </c:pt>
                <c:pt idx="111">
                  <c:v>712.9</c:v>
                </c:pt>
                <c:pt idx="112">
                  <c:v>695.2</c:v>
                </c:pt>
                <c:pt idx="113">
                  <c:v>760.8</c:v>
                </c:pt>
                <c:pt idx="114">
                  <c:v>731.6</c:v>
                </c:pt>
                <c:pt idx="115">
                  <c:v>733.6</c:v>
                </c:pt>
                <c:pt idx="116">
                  <c:v>717.6</c:v>
                </c:pt>
                <c:pt idx="117">
                  <c:v>647.4</c:v>
                </c:pt>
                <c:pt idx="118">
                  <c:v>628.0</c:v>
                </c:pt>
                <c:pt idx="119">
                  <c:v>590.7</c:v>
                </c:pt>
                <c:pt idx="120">
                  <c:v>614.8</c:v>
                </c:pt>
                <c:pt idx="121">
                  <c:v>583.2</c:v>
                </c:pt>
                <c:pt idx="122">
                  <c:v>619.7</c:v>
                </c:pt>
                <c:pt idx="123">
                  <c:v>682.8</c:v>
                </c:pt>
                <c:pt idx="124">
                  <c:v>690.5</c:v>
                </c:pt>
                <c:pt idx="125">
                  <c:v>729.3</c:v>
                </c:pt>
                <c:pt idx="126">
                  <c:v>675.6</c:v>
                </c:pt>
                <c:pt idx="127">
                  <c:v>659.6</c:v>
                </c:pt>
                <c:pt idx="128">
                  <c:v>662.9</c:v>
                </c:pt>
                <c:pt idx="129">
                  <c:v>722.4</c:v>
                </c:pt>
                <c:pt idx="130">
                  <c:v>761.8</c:v>
                </c:pt>
                <c:pt idx="131">
                  <c:v>763.2</c:v>
                </c:pt>
                <c:pt idx="132">
                  <c:v>678.1</c:v>
                </c:pt>
                <c:pt idx="133">
                  <c:v>677.4</c:v>
                </c:pt>
                <c:pt idx="134">
                  <c:v>653.1</c:v>
                </c:pt>
                <c:pt idx="135">
                  <c:v>695.4</c:v>
                </c:pt>
                <c:pt idx="136">
                  <c:v>642.1</c:v>
                </c:pt>
                <c:pt idx="137">
                  <c:v>628.8</c:v>
                </c:pt>
                <c:pt idx="138">
                  <c:v>635.6</c:v>
                </c:pt>
                <c:pt idx="139">
                  <c:v>620.6</c:v>
                </c:pt>
                <c:pt idx="140">
                  <c:v>595.8</c:v>
                </c:pt>
              </c:numCache>
            </c:numRef>
          </c:val>
          <c:smooth val="0"/>
        </c:ser>
        <c:ser>
          <c:idx val="1"/>
          <c:order val="1"/>
          <c:tx>
            <c:strRef>
              <c:f>Sheet1!$C$1</c:f>
              <c:strCache>
                <c:ptCount val="1"/>
                <c:pt idx="0">
                  <c:v>HDFCBANK</c:v>
                </c:pt>
              </c:strCache>
            </c:strRef>
          </c:tx>
          <c:spPr>
            <a:ln w="19050">
              <a:solidFill>
                <a:srgbClr val="4D62EF"/>
              </a:solidFill>
            </a:ln>
          </c:spPr>
          <c:marker>
            <c:symbol val="none"/>
          </c:marker>
          <c:cat>
            <c:strRef>
              <c:f>Sheet1!$A$2:$A$142</c:f>
              <c:strCache>
                <c:ptCount val="141"/>
                <c:pt idx="0">
                  <c:v>Jan 15</c:v>
                </c:pt>
                <c:pt idx="1">
                  <c:v>Feb 15</c:v>
                </c:pt>
                <c:pt idx="2">
                  <c:v>Mar 15</c:v>
                </c:pt>
                <c:pt idx="3">
                  <c:v>Apr 15</c:v>
                </c:pt>
                <c:pt idx="4">
                  <c:v>May 15</c:v>
                </c:pt>
                <c:pt idx="5">
                  <c:v>Jun 15</c:v>
                </c:pt>
                <c:pt idx="6">
                  <c:v>Jul 15</c:v>
                </c:pt>
                <c:pt idx="7">
                  <c:v>Aug 15</c:v>
                </c:pt>
                <c:pt idx="8">
                  <c:v>Sep 15</c:v>
                </c:pt>
                <c:pt idx="9">
                  <c:v>Oct 15</c:v>
                </c:pt>
                <c:pt idx="10">
                  <c:v>Nov 15</c:v>
                </c:pt>
                <c:pt idx="11">
                  <c:v>Dec 15</c:v>
                </c:pt>
                <c:pt idx="12">
                  <c:v>Jan 16</c:v>
                </c:pt>
                <c:pt idx="13">
                  <c:v>Feb 16</c:v>
                </c:pt>
                <c:pt idx="14">
                  <c:v>Mar 16</c:v>
                </c:pt>
                <c:pt idx="15">
                  <c:v>Apr 16</c:v>
                </c:pt>
                <c:pt idx="16">
                  <c:v>May 16</c:v>
                </c:pt>
                <c:pt idx="17">
                  <c:v>Jun 16</c:v>
                </c:pt>
                <c:pt idx="18">
                  <c:v>Jul 16</c:v>
                </c:pt>
                <c:pt idx="19">
                  <c:v>Aug 16</c:v>
                </c:pt>
                <c:pt idx="20">
                  <c:v>Sep 16</c:v>
                </c:pt>
                <c:pt idx="21">
                  <c:v>Oct 16</c:v>
                </c:pt>
                <c:pt idx="22">
                  <c:v>Nov 16</c:v>
                </c:pt>
                <c:pt idx="23">
                  <c:v>Dec 16</c:v>
                </c:pt>
                <c:pt idx="24">
                  <c:v>Jan 17</c:v>
                </c:pt>
                <c:pt idx="25">
                  <c:v>Feb 17</c:v>
                </c:pt>
                <c:pt idx="26">
                  <c:v>Mar 17</c:v>
                </c:pt>
                <c:pt idx="27">
                  <c:v>Apr 17</c:v>
                </c:pt>
                <c:pt idx="28">
                  <c:v>May 17</c:v>
                </c:pt>
                <c:pt idx="29">
                  <c:v>Jun 17</c:v>
                </c:pt>
                <c:pt idx="30">
                  <c:v>Jul 17</c:v>
                </c:pt>
                <c:pt idx="31">
                  <c:v>Aug 17</c:v>
                </c:pt>
                <c:pt idx="32">
                  <c:v>Sep 17</c:v>
                </c:pt>
                <c:pt idx="33">
                  <c:v>Oct 17</c:v>
                </c:pt>
                <c:pt idx="34">
                  <c:v>Nov 17</c:v>
                </c:pt>
                <c:pt idx="35">
                  <c:v>Dec 17</c:v>
                </c:pt>
                <c:pt idx="36">
                  <c:v>Jan 18</c:v>
                </c:pt>
                <c:pt idx="37">
                  <c:v>Feb 18</c:v>
                </c:pt>
                <c:pt idx="38">
                  <c:v>Mar 18</c:v>
                </c:pt>
                <c:pt idx="39">
                  <c:v>Apr 18</c:v>
                </c:pt>
                <c:pt idx="40">
                  <c:v>May 18</c:v>
                </c:pt>
                <c:pt idx="41">
                  <c:v>Jun 18</c:v>
                </c:pt>
                <c:pt idx="42">
                  <c:v>Jul 18</c:v>
                </c:pt>
                <c:pt idx="43">
                  <c:v>Aug 18</c:v>
                </c:pt>
                <c:pt idx="44">
                  <c:v>Sep 18</c:v>
                </c:pt>
                <c:pt idx="45">
                  <c:v>Oct 18</c:v>
                </c:pt>
                <c:pt idx="46">
                  <c:v>Nov 18</c:v>
                </c:pt>
                <c:pt idx="47">
                  <c:v>Dec 18</c:v>
                </c:pt>
                <c:pt idx="48">
                  <c:v>Jan 19</c:v>
                </c:pt>
                <c:pt idx="49">
                  <c:v>Feb 19</c:v>
                </c:pt>
                <c:pt idx="50">
                  <c:v>Mar 19</c:v>
                </c:pt>
                <c:pt idx="51">
                  <c:v>Apr 19</c:v>
                </c:pt>
                <c:pt idx="52">
                  <c:v>May 19</c:v>
                </c:pt>
                <c:pt idx="53">
                  <c:v>Jun 19</c:v>
                </c:pt>
                <c:pt idx="54">
                  <c:v>Jul 19</c:v>
                </c:pt>
                <c:pt idx="55">
                  <c:v>Aug 19</c:v>
                </c:pt>
                <c:pt idx="56">
                  <c:v>Sep 19</c:v>
                </c:pt>
                <c:pt idx="57">
                  <c:v>Oct 19</c:v>
                </c:pt>
                <c:pt idx="58">
                  <c:v>Nov 19</c:v>
                </c:pt>
                <c:pt idx="59">
                  <c:v>Dec 19</c:v>
                </c:pt>
                <c:pt idx="60">
                  <c:v>Jan 20</c:v>
                </c:pt>
                <c:pt idx="61">
                  <c:v>Feb 20</c:v>
                </c:pt>
                <c:pt idx="62">
                  <c:v>Mar 20</c:v>
                </c:pt>
                <c:pt idx="63">
                  <c:v>Apr 20</c:v>
                </c:pt>
                <c:pt idx="64">
                  <c:v>May 20</c:v>
                </c:pt>
                <c:pt idx="65">
                  <c:v>Jun 20</c:v>
                </c:pt>
                <c:pt idx="66">
                  <c:v>Jul 20</c:v>
                </c:pt>
                <c:pt idx="67">
                  <c:v>Aug 20</c:v>
                </c:pt>
                <c:pt idx="68">
                  <c:v>Sep 20</c:v>
                </c:pt>
                <c:pt idx="69">
                  <c:v>Oct 20</c:v>
                </c:pt>
                <c:pt idx="70">
                  <c:v>Nov 20</c:v>
                </c:pt>
                <c:pt idx="71">
                  <c:v>Dec 20</c:v>
                </c:pt>
                <c:pt idx="72">
                  <c:v>Jan 21</c:v>
                </c:pt>
                <c:pt idx="73">
                  <c:v>Feb 21</c:v>
                </c:pt>
                <c:pt idx="74">
                  <c:v>Mar 21</c:v>
                </c:pt>
                <c:pt idx="75">
                  <c:v>Apr 21</c:v>
                </c:pt>
                <c:pt idx="76">
                  <c:v>May 21</c:v>
                </c:pt>
                <c:pt idx="77">
                  <c:v>Jun 21</c:v>
                </c:pt>
                <c:pt idx="78">
                  <c:v>Jul 21</c:v>
                </c:pt>
                <c:pt idx="79">
                  <c:v>Aug 21</c:v>
                </c:pt>
                <c:pt idx="80">
                  <c:v>Sep 21</c:v>
                </c:pt>
                <c:pt idx="81">
                  <c:v>Oct 21</c:v>
                </c:pt>
                <c:pt idx="82">
                  <c:v>Nov 21</c:v>
                </c:pt>
                <c:pt idx="83">
                  <c:v>Dec 21</c:v>
                </c:pt>
                <c:pt idx="84">
                  <c:v>Jan 22</c:v>
                </c:pt>
                <c:pt idx="85">
                  <c:v>Feb 22</c:v>
                </c:pt>
                <c:pt idx="86">
                  <c:v>Mar 22</c:v>
                </c:pt>
                <c:pt idx="87">
                  <c:v>Apr 22</c:v>
                </c:pt>
                <c:pt idx="88">
                  <c:v>May 22</c:v>
                </c:pt>
                <c:pt idx="89">
                  <c:v>Jun 22</c:v>
                </c:pt>
                <c:pt idx="90">
                  <c:v>Jul 22</c:v>
                </c:pt>
                <c:pt idx="91">
                  <c:v>Aug 22</c:v>
                </c:pt>
                <c:pt idx="92">
                  <c:v>Sep 22</c:v>
                </c:pt>
                <c:pt idx="93">
                  <c:v>Oct 22</c:v>
                </c:pt>
                <c:pt idx="94">
                  <c:v>Nov 22</c:v>
                </c:pt>
                <c:pt idx="95">
                  <c:v>Dec 22</c:v>
                </c:pt>
                <c:pt idx="96">
                  <c:v>Jan 23</c:v>
                </c:pt>
                <c:pt idx="97">
                  <c:v>Feb 23</c:v>
                </c:pt>
                <c:pt idx="98">
                  <c:v>Mar 23</c:v>
                </c:pt>
                <c:pt idx="99">
                  <c:v>Apr 23</c:v>
                </c:pt>
                <c:pt idx="100">
                  <c:v>May 23</c:v>
                </c:pt>
                <c:pt idx="101">
                  <c:v>Jun 23</c:v>
                </c:pt>
                <c:pt idx="102">
                  <c:v>Jul 23</c:v>
                </c:pt>
                <c:pt idx="103">
                  <c:v>Aug 23</c:v>
                </c:pt>
                <c:pt idx="104">
                  <c:v>Sep 23</c:v>
                </c:pt>
                <c:pt idx="105">
                  <c:v>Oct 23</c:v>
                </c:pt>
                <c:pt idx="106">
                  <c:v>Nov 23</c:v>
                </c:pt>
                <c:pt idx="107">
                  <c:v>Dec 23</c:v>
                </c:pt>
                <c:pt idx="108">
                  <c:v>Jan 24</c:v>
                </c:pt>
                <c:pt idx="109">
                  <c:v>Feb 24</c:v>
                </c:pt>
                <c:pt idx="110">
                  <c:v>Mar 24</c:v>
                </c:pt>
                <c:pt idx="111">
                  <c:v>Apr 24</c:v>
                </c:pt>
                <c:pt idx="112">
                  <c:v>May 24</c:v>
                </c:pt>
                <c:pt idx="113">
                  <c:v>Jun 24</c:v>
                </c:pt>
                <c:pt idx="114">
                  <c:v>Jul 24</c:v>
                </c:pt>
                <c:pt idx="115">
                  <c:v>Aug 24</c:v>
                </c:pt>
                <c:pt idx="116">
                  <c:v>Sep 24</c:v>
                </c:pt>
                <c:pt idx="117">
                  <c:v>Oct 24</c:v>
                </c:pt>
                <c:pt idx="118">
                  <c:v>Nov 24</c:v>
                </c:pt>
                <c:pt idx="119">
                  <c:v>Dec 24</c:v>
                </c:pt>
                <c:pt idx="120">
                  <c:v>Jan 25</c:v>
                </c:pt>
                <c:pt idx="121">
                  <c:v>Feb 25</c:v>
                </c:pt>
                <c:pt idx="122">
                  <c:v>Mar 25</c:v>
                </c:pt>
                <c:pt idx="123">
                  <c:v>Apr 25</c:v>
                </c:pt>
                <c:pt idx="124">
                  <c:v>May 25</c:v>
                </c:pt>
                <c:pt idx="125">
                  <c:v>Jun 25</c:v>
                </c:pt>
                <c:pt idx="126">
                  <c:v>Jul 25</c:v>
                </c:pt>
                <c:pt idx="127">
                  <c:v>Aug 25</c:v>
                </c:pt>
                <c:pt idx="128">
                  <c:v>Sep 25</c:v>
                </c:pt>
                <c:pt idx="129">
                  <c:v>Oct 25</c:v>
                </c:pt>
                <c:pt idx="130">
                  <c:v>Nov 25</c:v>
                </c:pt>
                <c:pt idx="131">
                  <c:v>Dec 25</c:v>
                </c:pt>
                <c:pt idx="132">
                  <c:v>Jan 26</c:v>
                </c:pt>
                <c:pt idx="133">
                  <c:v>Feb 26</c:v>
                </c:pt>
                <c:pt idx="134">
                  <c:v>Mar 26</c:v>
                </c:pt>
                <c:pt idx="135">
                  <c:v>Apr 26</c:v>
                </c:pt>
                <c:pt idx="136">
                  <c:v>May 26</c:v>
                </c:pt>
                <c:pt idx="137">
                  <c:v>Jun 26</c:v>
                </c:pt>
                <c:pt idx="138">
                  <c:v>Jul 26</c:v>
                </c:pt>
                <c:pt idx="139">
                  <c:v>Aug 26</c:v>
                </c:pt>
                <c:pt idx="140">
                  <c:v>Sep 26</c:v>
                </c:pt>
              </c:strCache>
            </c:strRef>
          </c:cat>
          <c:val>
            <c:numRef>
              <c:f>Sheet1!$C$2:$C$142</c:f>
              <c:numCache>
                <c:formatCode>General</c:formatCode>
                <c:ptCount val="141"/>
                <c:pt idx="0">
                  <c:v>100.0</c:v>
                </c:pt>
                <c:pt idx="1">
                  <c:v>99.4</c:v>
                </c:pt>
                <c:pt idx="2">
                  <c:v>94.9</c:v>
                </c:pt>
                <c:pt idx="3">
                  <c:v>91.8</c:v>
                </c:pt>
                <c:pt idx="4">
                  <c:v>97.5</c:v>
                </c:pt>
                <c:pt idx="5">
                  <c:v>99.1</c:v>
                </c:pt>
                <c:pt idx="6">
                  <c:v>103.2</c:v>
                </c:pt>
                <c:pt idx="7">
                  <c:v>95.4</c:v>
                </c:pt>
                <c:pt idx="8">
                  <c:v>99.2</c:v>
                </c:pt>
                <c:pt idx="9">
                  <c:v>102.1</c:v>
                </c:pt>
                <c:pt idx="10">
                  <c:v>100.1</c:v>
                </c:pt>
                <c:pt idx="11">
                  <c:v>100.5</c:v>
                </c:pt>
                <c:pt idx="12">
                  <c:v>97.5</c:v>
                </c:pt>
                <c:pt idx="13">
                  <c:v>90.2</c:v>
                </c:pt>
                <c:pt idx="14">
                  <c:v>99.4</c:v>
                </c:pt>
                <c:pt idx="15">
                  <c:v>105.1</c:v>
                </c:pt>
                <c:pt idx="16">
                  <c:v>109.7</c:v>
                </c:pt>
                <c:pt idx="17">
                  <c:v>109.2</c:v>
                </c:pt>
                <c:pt idx="18">
                  <c:v>115.7</c:v>
                </c:pt>
                <c:pt idx="19">
                  <c:v>119.9</c:v>
                </c:pt>
                <c:pt idx="20">
                  <c:v>118.2</c:v>
                </c:pt>
                <c:pt idx="21">
                  <c:v>116.3</c:v>
                </c:pt>
                <c:pt idx="22">
                  <c:v>111.4</c:v>
                </c:pt>
                <c:pt idx="23">
                  <c:v>112.0</c:v>
                </c:pt>
                <c:pt idx="24">
                  <c:v>119.4</c:v>
                </c:pt>
                <c:pt idx="25">
                  <c:v>129.0</c:v>
                </c:pt>
                <c:pt idx="26">
                  <c:v>133.9</c:v>
                </c:pt>
                <c:pt idx="27">
                  <c:v>143.6</c:v>
                </c:pt>
                <c:pt idx="28">
                  <c:v>151.9</c:v>
                </c:pt>
                <c:pt idx="29">
                  <c:v>153.4</c:v>
                </c:pt>
                <c:pt idx="30">
                  <c:v>165.7</c:v>
                </c:pt>
                <c:pt idx="31">
                  <c:v>164.9</c:v>
                </c:pt>
                <c:pt idx="32">
                  <c:v>167.6</c:v>
                </c:pt>
                <c:pt idx="33">
                  <c:v>167.9</c:v>
                </c:pt>
                <c:pt idx="34">
                  <c:v>172.1</c:v>
                </c:pt>
                <c:pt idx="35">
                  <c:v>173.8</c:v>
                </c:pt>
                <c:pt idx="36">
                  <c:v>186.2</c:v>
                </c:pt>
                <c:pt idx="37">
                  <c:v>174.9</c:v>
                </c:pt>
                <c:pt idx="38">
                  <c:v>175.1</c:v>
                </c:pt>
                <c:pt idx="39">
                  <c:v>180.5</c:v>
                </c:pt>
                <c:pt idx="40">
                  <c:v>198.6</c:v>
                </c:pt>
                <c:pt idx="41">
                  <c:v>195.7</c:v>
                </c:pt>
                <c:pt idx="42">
                  <c:v>202.3</c:v>
                </c:pt>
                <c:pt idx="43">
                  <c:v>191.3</c:v>
                </c:pt>
                <c:pt idx="44">
                  <c:v>186.2</c:v>
                </c:pt>
                <c:pt idx="45">
                  <c:v>177.5</c:v>
                </c:pt>
                <c:pt idx="46">
                  <c:v>197.6</c:v>
                </c:pt>
                <c:pt idx="47">
                  <c:v>197.0</c:v>
                </c:pt>
                <c:pt idx="48">
                  <c:v>193.1</c:v>
                </c:pt>
                <c:pt idx="49">
                  <c:v>192.9</c:v>
                </c:pt>
                <c:pt idx="50">
                  <c:v>215.3</c:v>
                </c:pt>
                <c:pt idx="51">
                  <c:v>215.1</c:v>
                </c:pt>
                <c:pt idx="52">
                  <c:v>225.1</c:v>
                </c:pt>
                <c:pt idx="53">
                  <c:v>226.9</c:v>
                </c:pt>
                <c:pt idx="54">
                  <c:v>209.0</c:v>
                </c:pt>
                <c:pt idx="55">
                  <c:v>206.8</c:v>
                </c:pt>
                <c:pt idx="56">
                  <c:v>227.9</c:v>
                </c:pt>
                <c:pt idx="57">
                  <c:v>228.4</c:v>
                </c:pt>
                <c:pt idx="58">
                  <c:v>236.7</c:v>
                </c:pt>
                <c:pt idx="59">
                  <c:v>236.2</c:v>
                </c:pt>
                <c:pt idx="60">
                  <c:v>227.7</c:v>
                </c:pt>
                <c:pt idx="61">
                  <c:v>218.6</c:v>
                </c:pt>
                <c:pt idx="62">
                  <c:v>160.0</c:v>
                </c:pt>
                <c:pt idx="63">
                  <c:v>186.0</c:v>
                </c:pt>
                <c:pt idx="64">
                  <c:v>176.7</c:v>
                </c:pt>
                <c:pt idx="65">
                  <c:v>197.9</c:v>
                </c:pt>
                <c:pt idx="66">
                  <c:v>191.8</c:v>
                </c:pt>
                <c:pt idx="67">
                  <c:v>207.2</c:v>
                </c:pt>
                <c:pt idx="68">
                  <c:v>200.3</c:v>
                </c:pt>
                <c:pt idx="69">
                  <c:v>219.7</c:v>
                </c:pt>
                <c:pt idx="70">
                  <c:v>267.5</c:v>
                </c:pt>
                <c:pt idx="71">
                  <c:v>266.7</c:v>
                </c:pt>
                <c:pt idx="72">
                  <c:v>258.2</c:v>
                </c:pt>
                <c:pt idx="73">
                  <c:v>284.9</c:v>
                </c:pt>
                <c:pt idx="74">
                  <c:v>277.3</c:v>
                </c:pt>
                <c:pt idx="75">
                  <c:v>262.2</c:v>
                </c:pt>
                <c:pt idx="76">
                  <c:v>281.4</c:v>
                </c:pt>
                <c:pt idx="77">
                  <c:v>278.1</c:v>
                </c:pt>
                <c:pt idx="78">
                  <c:v>264.8</c:v>
                </c:pt>
                <c:pt idx="79">
                  <c:v>293.6</c:v>
                </c:pt>
                <c:pt idx="80">
                  <c:v>296.1</c:v>
                </c:pt>
                <c:pt idx="81">
                  <c:v>293.9</c:v>
                </c:pt>
                <c:pt idx="82">
                  <c:v>277.3</c:v>
                </c:pt>
                <c:pt idx="83">
                  <c:v>274.7</c:v>
                </c:pt>
                <c:pt idx="84">
                  <c:v>275.8</c:v>
                </c:pt>
                <c:pt idx="85">
                  <c:v>264.8</c:v>
                </c:pt>
                <c:pt idx="86">
                  <c:v>273.0</c:v>
                </c:pt>
                <c:pt idx="87">
                  <c:v>257.1</c:v>
                </c:pt>
                <c:pt idx="88">
                  <c:v>257.9</c:v>
                </c:pt>
                <c:pt idx="89">
                  <c:v>250.3</c:v>
                </c:pt>
                <c:pt idx="90">
                  <c:v>266.3</c:v>
                </c:pt>
                <c:pt idx="91">
                  <c:v>275.9</c:v>
                </c:pt>
                <c:pt idx="92">
                  <c:v>263.9</c:v>
                </c:pt>
                <c:pt idx="93">
                  <c:v>277.9</c:v>
                </c:pt>
                <c:pt idx="94">
                  <c:v>298.6</c:v>
                </c:pt>
                <c:pt idx="95">
                  <c:v>302.3</c:v>
                </c:pt>
                <c:pt idx="96">
                  <c:v>297.7</c:v>
                </c:pt>
                <c:pt idx="97">
                  <c:v>297.0</c:v>
                </c:pt>
                <c:pt idx="98">
                  <c:v>298.8</c:v>
                </c:pt>
                <c:pt idx="99">
                  <c:v>313.3</c:v>
                </c:pt>
                <c:pt idx="100">
                  <c:v>299.1</c:v>
                </c:pt>
                <c:pt idx="101">
                  <c:v>315.9</c:v>
                </c:pt>
                <c:pt idx="102">
                  <c:v>306.6</c:v>
                </c:pt>
                <c:pt idx="103">
                  <c:v>291.8</c:v>
                </c:pt>
                <c:pt idx="104">
                  <c:v>283.4</c:v>
                </c:pt>
                <c:pt idx="105">
                  <c:v>274.1</c:v>
                </c:pt>
                <c:pt idx="106">
                  <c:v>289.4</c:v>
                </c:pt>
                <c:pt idx="107">
                  <c:v>317.3</c:v>
                </c:pt>
                <c:pt idx="108">
                  <c:v>271.5</c:v>
                </c:pt>
                <c:pt idx="109">
                  <c:v>260.6</c:v>
                </c:pt>
                <c:pt idx="110">
                  <c:v>268.8</c:v>
                </c:pt>
                <c:pt idx="111">
                  <c:v>282.2</c:v>
                </c:pt>
                <c:pt idx="112">
                  <c:v>284.3</c:v>
                </c:pt>
                <c:pt idx="113">
                  <c:v>312.6</c:v>
                </c:pt>
                <c:pt idx="114">
                  <c:v>300.0</c:v>
                </c:pt>
                <c:pt idx="115">
                  <c:v>303.9</c:v>
                </c:pt>
                <c:pt idx="116">
                  <c:v>321.6</c:v>
                </c:pt>
                <c:pt idx="117">
                  <c:v>322.3</c:v>
                </c:pt>
                <c:pt idx="118">
                  <c:v>333.5</c:v>
                </c:pt>
                <c:pt idx="119">
                  <c:v>329.1</c:v>
                </c:pt>
                <c:pt idx="120">
                  <c:v>315.4</c:v>
                </c:pt>
                <c:pt idx="121">
                  <c:v>321.6</c:v>
                </c:pt>
                <c:pt idx="122">
                  <c:v>339.4</c:v>
                </c:pt>
                <c:pt idx="123">
                  <c:v>357.4</c:v>
                </c:pt>
                <c:pt idx="124">
                  <c:v>361.1</c:v>
                </c:pt>
                <c:pt idx="125">
                  <c:v>371.6</c:v>
                </c:pt>
                <c:pt idx="126">
                  <c:v>374.7</c:v>
                </c:pt>
                <c:pt idx="127">
                  <c:v>353.4</c:v>
                </c:pt>
                <c:pt idx="128">
                  <c:v>353.1</c:v>
                </c:pt>
                <c:pt idx="129">
                  <c:v>366.6</c:v>
                </c:pt>
                <c:pt idx="130">
                  <c:v>374.2</c:v>
                </c:pt>
                <c:pt idx="131">
                  <c:v>368.1</c:v>
                </c:pt>
                <c:pt idx="132">
                  <c:v>345.1</c:v>
                </c:pt>
                <c:pt idx="133">
                  <c:v>329.7</c:v>
                </c:pt>
                <c:pt idx="134">
                  <c:v>271.6</c:v>
                </c:pt>
                <c:pt idx="135">
                  <c:v>286.6</c:v>
                </c:pt>
                <c:pt idx="136">
                  <c:v>276.5</c:v>
                </c:pt>
                <c:pt idx="137">
                  <c:v>296.3</c:v>
                </c:pt>
                <c:pt idx="138">
                  <c:v>277.8</c:v>
                </c:pt>
                <c:pt idx="139">
                  <c:v>263.3</c:v>
                </c:pt>
                <c:pt idx="140">
                  <c:v>273.2</c:v>
                </c:pt>
              </c:numCache>
            </c:numRef>
          </c:val>
          <c:smooth val="0"/>
        </c:ser>
        <c:ser>
          <c:idx val="2"/>
          <c:order val="2"/>
          <c:tx>
            <c:strRef>
              <c:f>Sheet1!$D$1</c:f>
              <c:strCache>
                <c:ptCount val="1"/>
                <c:pt idx="0">
                  <c:v>INFY</c:v>
                </c:pt>
              </c:strCache>
            </c:strRef>
          </c:tx>
          <c:spPr>
            <a:ln w="19050">
              <a:solidFill>
                <a:srgbClr val="CA54FB"/>
              </a:solidFill>
            </a:ln>
          </c:spPr>
          <c:marker>
            <c:symbol val="none"/>
          </c:marker>
          <c:cat>
            <c:strRef>
              <c:f>Sheet1!$A$2:$A$142</c:f>
              <c:strCache>
                <c:ptCount val="141"/>
                <c:pt idx="0">
                  <c:v>Jan 15</c:v>
                </c:pt>
                <c:pt idx="1">
                  <c:v>Feb 15</c:v>
                </c:pt>
                <c:pt idx="2">
                  <c:v>Mar 15</c:v>
                </c:pt>
                <c:pt idx="3">
                  <c:v>Apr 15</c:v>
                </c:pt>
                <c:pt idx="4">
                  <c:v>May 15</c:v>
                </c:pt>
                <c:pt idx="5">
                  <c:v>Jun 15</c:v>
                </c:pt>
                <c:pt idx="6">
                  <c:v>Jul 15</c:v>
                </c:pt>
                <c:pt idx="7">
                  <c:v>Aug 15</c:v>
                </c:pt>
                <c:pt idx="8">
                  <c:v>Sep 15</c:v>
                </c:pt>
                <c:pt idx="9">
                  <c:v>Oct 15</c:v>
                </c:pt>
                <c:pt idx="10">
                  <c:v>Nov 15</c:v>
                </c:pt>
                <c:pt idx="11">
                  <c:v>Dec 15</c:v>
                </c:pt>
                <c:pt idx="12">
                  <c:v>Jan 16</c:v>
                </c:pt>
                <c:pt idx="13">
                  <c:v>Feb 16</c:v>
                </c:pt>
                <c:pt idx="14">
                  <c:v>Mar 16</c:v>
                </c:pt>
                <c:pt idx="15">
                  <c:v>Apr 16</c:v>
                </c:pt>
                <c:pt idx="16">
                  <c:v>May 16</c:v>
                </c:pt>
                <c:pt idx="17">
                  <c:v>Jun 16</c:v>
                </c:pt>
                <c:pt idx="18">
                  <c:v>Jul 16</c:v>
                </c:pt>
                <c:pt idx="19">
                  <c:v>Aug 16</c:v>
                </c:pt>
                <c:pt idx="20">
                  <c:v>Sep 16</c:v>
                </c:pt>
                <c:pt idx="21">
                  <c:v>Oct 16</c:v>
                </c:pt>
                <c:pt idx="22">
                  <c:v>Nov 16</c:v>
                </c:pt>
                <c:pt idx="23">
                  <c:v>Dec 16</c:v>
                </c:pt>
                <c:pt idx="24">
                  <c:v>Jan 17</c:v>
                </c:pt>
                <c:pt idx="25">
                  <c:v>Feb 17</c:v>
                </c:pt>
                <c:pt idx="26">
                  <c:v>Mar 17</c:v>
                </c:pt>
                <c:pt idx="27">
                  <c:v>Apr 17</c:v>
                </c:pt>
                <c:pt idx="28">
                  <c:v>May 17</c:v>
                </c:pt>
                <c:pt idx="29">
                  <c:v>Jun 17</c:v>
                </c:pt>
                <c:pt idx="30">
                  <c:v>Jul 17</c:v>
                </c:pt>
                <c:pt idx="31">
                  <c:v>Aug 17</c:v>
                </c:pt>
                <c:pt idx="32">
                  <c:v>Sep 17</c:v>
                </c:pt>
                <c:pt idx="33">
                  <c:v>Oct 17</c:v>
                </c:pt>
                <c:pt idx="34">
                  <c:v>Nov 17</c:v>
                </c:pt>
                <c:pt idx="35">
                  <c:v>Dec 17</c:v>
                </c:pt>
                <c:pt idx="36">
                  <c:v>Jan 18</c:v>
                </c:pt>
                <c:pt idx="37">
                  <c:v>Feb 18</c:v>
                </c:pt>
                <c:pt idx="38">
                  <c:v>Mar 18</c:v>
                </c:pt>
                <c:pt idx="39">
                  <c:v>Apr 18</c:v>
                </c:pt>
                <c:pt idx="40">
                  <c:v>May 18</c:v>
                </c:pt>
                <c:pt idx="41">
                  <c:v>Jun 18</c:v>
                </c:pt>
                <c:pt idx="42">
                  <c:v>Jul 18</c:v>
                </c:pt>
                <c:pt idx="43">
                  <c:v>Aug 18</c:v>
                </c:pt>
                <c:pt idx="44">
                  <c:v>Sep 18</c:v>
                </c:pt>
                <c:pt idx="45">
                  <c:v>Oct 18</c:v>
                </c:pt>
                <c:pt idx="46">
                  <c:v>Nov 18</c:v>
                </c:pt>
                <c:pt idx="47">
                  <c:v>Dec 18</c:v>
                </c:pt>
                <c:pt idx="48">
                  <c:v>Jan 19</c:v>
                </c:pt>
                <c:pt idx="49">
                  <c:v>Feb 19</c:v>
                </c:pt>
                <c:pt idx="50">
                  <c:v>Mar 19</c:v>
                </c:pt>
                <c:pt idx="51">
                  <c:v>Apr 19</c:v>
                </c:pt>
                <c:pt idx="52">
                  <c:v>May 19</c:v>
                </c:pt>
                <c:pt idx="53">
                  <c:v>Jun 19</c:v>
                </c:pt>
                <c:pt idx="54">
                  <c:v>Jul 19</c:v>
                </c:pt>
                <c:pt idx="55">
                  <c:v>Aug 19</c:v>
                </c:pt>
                <c:pt idx="56">
                  <c:v>Sep 19</c:v>
                </c:pt>
                <c:pt idx="57">
                  <c:v>Oct 19</c:v>
                </c:pt>
                <c:pt idx="58">
                  <c:v>Nov 19</c:v>
                </c:pt>
                <c:pt idx="59">
                  <c:v>Dec 19</c:v>
                </c:pt>
                <c:pt idx="60">
                  <c:v>Jan 20</c:v>
                </c:pt>
                <c:pt idx="61">
                  <c:v>Feb 20</c:v>
                </c:pt>
                <c:pt idx="62">
                  <c:v>Mar 20</c:v>
                </c:pt>
                <c:pt idx="63">
                  <c:v>Apr 20</c:v>
                </c:pt>
                <c:pt idx="64">
                  <c:v>May 20</c:v>
                </c:pt>
                <c:pt idx="65">
                  <c:v>Jun 20</c:v>
                </c:pt>
                <c:pt idx="66">
                  <c:v>Jul 20</c:v>
                </c:pt>
                <c:pt idx="67">
                  <c:v>Aug 20</c:v>
                </c:pt>
                <c:pt idx="68">
                  <c:v>Sep 20</c:v>
                </c:pt>
                <c:pt idx="69">
                  <c:v>Oct 20</c:v>
                </c:pt>
                <c:pt idx="70">
                  <c:v>Nov 20</c:v>
                </c:pt>
                <c:pt idx="71">
                  <c:v>Dec 20</c:v>
                </c:pt>
                <c:pt idx="72">
                  <c:v>Jan 21</c:v>
                </c:pt>
                <c:pt idx="73">
                  <c:v>Feb 21</c:v>
                </c:pt>
                <c:pt idx="74">
                  <c:v>Mar 21</c:v>
                </c:pt>
                <c:pt idx="75">
                  <c:v>Apr 21</c:v>
                </c:pt>
                <c:pt idx="76">
                  <c:v>May 21</c:v>
                </c:pt>
                <c:pt idx="77">
                  <c:v>Jun 21</c:v>
                </c:pt>
                <c:pt idx="78">
                  <c:v>Jul 21</c:v>
                </c:pt>
                <c:pt idx="79">
                  <c:v>Aug 21</c:v>
                </c:pt>
                <c:pt idx="80">
                  <c:v>Sep 21</c:v>
                </c:pt>
                <c:pt idx="81">
                  <c:v>Oct 21</c:v>
                </c:pt>
                <c:pt idx="82">
                  <c:v>Nov 21</c:v>
                </c:pt>
                <c:pt idx="83">
                  <c:v>Dec 21</c:v>
                </c:pt>
                <c:pt idx="84">
                  <c:v>Jan 22</c:v>
                </c:pt>
                <c:pt idx="85">
                  <c:v>Feb 22</c:v>
                </c:pt>
                <c:pt idx="86">
                  <c:v>Mar 22</c:v>
                </c:pt>
                <c:pt idx="87">
                  <c:v>Apr 22</c:v>
                </c:pt>
                <c:pt idx="88">
                  <c:v>May 22</c:v>
                </c:pt>
                <c:pt idx="89">
                  <c:v>Jun 22</c:v>
                </c:pt>
                <c:pt idx="90">
                  <c:v>Jul 22</c:v>
                </c:pt>
                <c:pt idx="91">
                  <c:v>Aug 22</c:v>
                </c:pt>
                <c:pt idx="92">
                  <c:v>Sep 22</c:v>
                </c:pt>
                <c:pt idx="93">
                  <c:v>Oct 22</c:v>
                </c:pt>
                <c:pt idx="94">
                  <c:v>Nov 22</c:v>
                </c:pt>
                <c:pt idx="95">
                  <c:v>Dec 22</c:v>
                </c:pt>
                <c:pt idx="96">
                  <c:v>Jan 23</c:v>
                </c:pt>
                <c:pt idx="97">
                  <c:v>Feb 23</c:v>
                </c:pt>
                <c:pt idx="98">
                  <c:v>Mar 23</c:v>
                </c:pt>
                <c:pt idx="99">
                  <c:v>Apr 23</c:v>
                </c:pt>
                <c:pt idx="100">
                  <c:v>May 23</c:v>
                </c:pt>
                <c:pt idx="101">
                  <c:v>Jun 23</c:v>
                </c:pt>
                <c:pt idx="102">
                  <c:v>Jul 23</c:v>
                </c:pt>
                <c:pt idx="103">
                  <c:v>Aug 23</c:v>
                </c:pt>
                <c:pt idx="104">
                  <c:v>Sep 23</c:v>
                </c:pt>
                <c:pt idx="105">
                  <c:v>Oct 23</c:v>
                </c:pt>
                <c:pt idx="106">
                  <c:v>Nov 23</c:v>
                </c:pt>
                <c:pt idx="107">
                  <c:v>Dec 23</c:v>
                </c:pt>
                <c:pt idx="108">
                  <c:v>Jan 24</c:v>
                </c:pt>
                <c:pt idx="109">
                  <c:v>Feb 24</c:v>
                </c:pt>
                <c:pt idx="110">
                  <c:v>Mar 24</c:v>
                </c:pt>
                <c:pt idx="111">
                  <c:v>Apr 24</c:v>
                </c:pt>
                <c:pt idx="112">
                  <c:v>May 24</c:v>
                </c:pt>
                <c:pt idx="113">
                  <c:v>Jun 24</c:v>
                </c:pt>
                <c:pt idx="114">
                  <c:v>Jul 24</c:v>
                </c:pt>
                <c:pt idx="115">
                  <c:v>Aug 24</c:v>
                </c:pt>
                <c:pt idx="116">
                  <c:v>Sep 24</c:v>
                </c:pt>
                <c:pt idx="117">
                  <c:v>Oct 24</c:v>
                </c:pt>
                <c:pt idx="118">
                  <c:v>Nov 24</c:v>
                </c:pt>
                <c:pt idx="119">
                  <c:v>Dec 24</c:v>
                </c:pt>
                <c:pt idx="120">
                  <c:v>Jan 25</c:v>
                </c:pt>
                <c:pt idx="121">
                  <c:v>Feb 25</c:v>
                </c:pt>
                <c:pt idx="122">
                  <c:v>Mar 25</c:v>
                </c:pt>
                <c:pt idx="123">
                  <c:v>Apr 25</c:v>
                </c:pt>
                <c:pt idx="124">
                  <c:v>May 25</c:v>
                </c:pt>
                <c:pt idx="125">
                  <c:v>Jun 25</c:v>
                </c:pt>
                <c:pt idx="126">
                  <c:v>Jul 25</c:v>
                </c:pt>
                <c:pt idx="127">
                  <c:v>Aug 25</c:v>
                </c:pt>
                <c:pt idx="128">
                  <c:v>Sep 25</c:v>
                </c:pt>
                <c:pt idx="129">
                  <c:v>Oct 25</c:v>
                </c:pt>
                <c:pt idx="130">
                  <c:v>Nov 25</c:v>
                </c:pt>
                <c:pt idx="131">
                  <c:v>Dec 25</c:v>
                </c:pt>
                <c:pt idx="132">
                  <c:v>Jan 26</c:v>
                </c:pt>
                <c:pt idx="133">
                  <c:v>Feb 26</c:v>
                </c:pt>
                <c:pt idx="134">
                  <c:v>Mar 26</c:v>
                </c:pt>
                <c:pt idx="135">
                  <c:v>Apr 26</c:v>
                </c:pt>
                <c:pt idx="136">
                  <c:v>May 26</c:v>
                </c:pt>
                <c:pt idx="137">
                  <c:v>Jun 26</c:v>
                </c:pt>
                <c:pt idx="138">
                  <c:v>Jul 26</c:v>
                </c:pt>
                <c:pt idx="139">
                  <c:v>Aug 26</c:v>
                </c:pt>
                <c:pt idx="140">
                  <c:v>Sep 26</c:v>
                </c:pt>
              </c:strCache>
            </c:strRef>
          </c:cat>
          <c:val>
            <c:numRef>
              <c:f>Sheet1!$D$2:$D$142</c:f>
              <c:numCache>
                <c:formatCode>General</c:formatCode>
                <c:ptCount val="141"/>
                <c:pt idx="0">
                  <c:v>100.0</c:v>
                </c:pt>
                <c:pt idx="1">
                  <c:v>107.2</c:v>
                </c:pt>
                <c:pt idx="2">
                  <c:v>103.6</c:v>
                </c:pt>
                <c:pt idx="3">
                  <c:v>90.7</c:v>
                </c:pt>
                <c:pt idx="4">
                  <c:v>94.5</c:v>
                </c:pt>
                <c:pt idx="5">
                  <c:v>91.9</c:v>
                </c:pt>
                <c:pt idx="6">
                  <c:v>100.6</c:v>
                </c:pt>
                <c:pt idx="7">
                  <c:v>102.2</c:v>
                </c:pt>
                <c:pt idx="8">
                  <c:v>108.5</c:v>
                </c:pt>
                <c:pt idx="9">
                  <c:v>106.0</c:v>
                </c:pt>
                <c:pt idx="10">
                  <c:v>101.6</c:v>
                </c:pt>
                <c:pt idx="11">
                  <c:v>103.2</c:v>
                </c:pt>
                <c:pt idx="12">
                  <c:v>108.8</c:v>
                </c:pt>
                <c:pt idx="13">
                  <c:v>101.2</c:v>
                </c:pt>
                <c:pt idx="14">
                  <c:v>113.8</c:v>
                </c:pt>
                <c:pt idx="15">
                  <c:v>112.8</c:v>
                </c:pt>
                <c:pt idx="16">
                  <c:v>116.6</c:v>
                </c:pt>
                <c:pt idx="17">
                  <c:v>109.3</c:v>
                </c:pt>
                <c:pt idx="18">
                  <c:v>100.3</c:v>
                </c:pt>
                <c:pt idx="19">
                  <c:v>96.7</c:v>
                </c:pt>
                <c:pt idx="20">
                  <c:v>96.7</c:v>
                </c:pt>
                <c:pt idx="21">
                  <c:v>93.6</c:v>
                </c:pt>
                <c:pt idx="22">
                  <c:v>91.1</c:v>
                </c:pt>
                <c:pt idx="23">
                  <c:v>94.4</c:v>
                </c:pt>
                <c:pt idx="24">
                  <c:v>86.7</c:v>
                </c:pt>
                <c:pt idx="25">
                  <c:v>94.5</c:v>
                </c:pt>
                <c:pt idx="26">
                  <c:v>95.4</c:v>
                </c:pt>
                <c:pt idx="27">
                  <c:v>85.8</c:v>
                </c:pt>
                <c:pt idx="28">
                  <c:v>91.2</c:v>
                </c:pt>
                <c:pt idx="29">
                  <c:v>87.3</c:v>
                </c:pt>
                <c:pt idx="30">
                  <c:v>94.4</c:v>
                </c:pt>
                <c:pt idx="31">
                  <c:v>85.4</c:v>
                </c:pt>
                <c:pt idx="32">
                  <c:v>84.0</c:v>
                </c:pt>
                <c:pt idx="33">
                  <c:v>86.1</c:v>
                </c:pt>
                <c:pt idx="34">
                  <c:v>91.1</c:v>
                </c:pt>
                <c:pt idx="35">
                  <c:v>97.3</c:v>
                </c:pt>
                <c:pt idx="36">
                  <c:v>107.4</c:v>
                </c:pt>
                <c:pt idx="37">
                  <c:v>109.5</c:v>
                </c:pt>
                <c:pt idx="38">
                  <c:v>105.7</c:v>
                </c:pt>
                <c:pt idx="39">
                  <c:v>112.0</c:v>
                </c:pt>
                <c:pt idx="40">
                  <c:v>115.0</c:v>
                </c:pt>
                <c:pt idx="41">
                  <c:v>122.1</c:v>
                </c:pt>
                <c:pt idx="42">
                  <c:v>127.5</c:v>
                </c:pt>
                <c:pt idx="43">
                  <c:v>134.6</c:v>
                </c:pt>
                <c:pt idx="44">
                  <c:v>136.3</c:v>
                </c:pt>
                <c:pt idx="45">
                  <c:v>128.2</c:v>
                </c:pt>
                <c:pt idx="46">
                  <c:v>124.6</c:v>
                </c:pt>
                <c:pt idx="47">
                  <c:v>123.1</c:v>
                </c:pt>
                <c:pt idx="48">
                  <c:v>140.0</c:v>
                </c:pt>
                <c:pt idx="49">
                  <c:v>137.1</c:v>
                </c:pt>
                <c:pt idx="50">
                  <c:v>138.9</c:v>
                </c:pt>
                <c:pt idx="51">
                  <c:v>140.3</c:v>
                </c:pt>
                <c:pt idx="52">
                  <c:v>137.8</c:v>
                </c:pt>
                <c:pt idx="53">
                  <c:v>136.7</c:v>
                </c:pt>
                <c:pt idx="54">
                  <c:v>148.2</c:v>
                </c:pt>
                <c:pt idx="55">
                  <c:v>152.2</c:v>
                </c:pt>
                <c:pt idx="56">
                  <c:v>150.4</c:v>
                </c:pt>
                <c:pt idx="57">
                  <c:v>128.0</c:v>
                </c:pt>
                <c:pt idx="58">
                  <c:v>130.0</c:v>
                </c:pt>
                <c:pt idx="59">
                  <c:v>136.5</c:v>
                </c:pt>
                <c:pt idx="60">
                  <c:v>144.9</c:v>
                </c:pt>
                <c:pt idx="61">
                  <c:v>136.6</c:v>
                </c:pt>
                <c:pt idx="62">
                  <c:v>119.8</c:v>
                </c:pt>
                <c:pt idx="63">
                  <c:v>133.6</c:v>
                </c:pt>
                <c:pt idx="64">
                  <c:v>129.0</c:v>
                </c:pt>
                <c:pt idx="65">
                  <c:v>137.4</c:v>
                </c:pt>
                <c:pt idx="66">
                  <c:v>180.4</c:v>
                </c:pt>
                <c:pt idx="67">
                  <c:v>173.4</c:v>
                </c:pt>
                <c:pt idx="68">
                  <c:v>188.3</c:v>
                </c:pt>
                <c:pt idx="69">
                  <c:v>198.1</c:v>
                </c:pt>
                <c:pt idx="70">
                  <c:v>205.4</c:v>
                </c:pt>
                <c:pt idx="71">
                  <c:v>234.5</c:v>
                </c:pt>
                <c:pt idx="72">
                  <c:v>231.4</c:v>
                </c:pt>
                <c:pt idx="73">
                  <c:v>234.0</c:v>
                </c:pt>
                <c:pt idx="74">
                  <c:v>255.5</c:v>
                </c:pt>
                <c:pt idx="75">
                  <c:v>252.9</c:v>
                </c:pt>
                <c:pt idx="76">
                  <c:v>260.3</c:v>
                </c:pt>
                <c:pt idx="77">
                  <c:v>295.2</c:v>
                </c:pt>
                <c:pt idx="78">
                  <c:v>300.7</c:v>
                </c:pt>
                <c:pt idx="79">
                  <c:v>318.7</c:v>
                </c:pt>
                <c:pt idx="80">
                  <c:v>312.8</c:v>
                </c:pt>
                <c:pt idx="81">
                  <c:v>311.4</c:v>
                </c:pt>
                <c:pt idx="82">
                  <c:v>319.8</c:v>
                </c:pt>
                <c:pt idx="83">
                  <c:v>352.5</c:v>
                </c:pt>
                <c:pt idx="84">
                  <c:v>324.2</c:v>
                </c:pt>
                <c:pt idx="85">
                  <c:v>320.4</c:v>
                </c:pt>
                <c:pt idx="86">
                  <c:v>356.1</c:v>
                </c:pt>
                <c:pt idx="87">
                  <c:v>292.7</c:v>
                </c:pt>
                <c:pt idx="88">
                  <c:v>280.8</c:v>
                </c:pt>
                <c:pt idx="89">
                  <c:v>273.0</c:v>
                </c:pt>
                <c:pt idx="90">
                  <c:v>289.4</c:v>
                </c:pt>
                <c:pt idx="91">
                  <c:v>278.8</c:v>
                </c:pt>
                <c:pt idx="92">
                  <c:v>263.9</c:v>
                </c:pt>
                <c:pt idx="93">
                  <c:v>287.1</c:v>
                </c:pt>
                <c:pt idx="94">
                  <c:v>305.3</c:v>
                </c:pt>
                <c:pt idx="95">
                  <c:v>281.6</c:v>
                </c:pt>
                <c:pt idx="96">
                  <c:v>286.4</c:v>
                </c:pt>
                <c:pt idx="97">
                  <c:v>277.8</c:v>
                </c:pt>
                <c:pt idx="98">
                  <c:v>266.7</c:v>
                </c:pt>
                <c:pt idx="99">
                  <c:v>233.9</c:v>
                </c:pt>
                <c:pt idx="100">
                  <c:v>246.2</c:v>
                </c:pt>
                <c:pt idx="101">
                  <c:v>249.4</c:v>
                </c:pt>
                <c:pt idx="102">
                  <c:v>253.2</c:v>
                </c:pt>
                <c:pt idx="103">
                  <c:v>268.1</c:v>
                </c:pt>
                <c:pt idx="104">
                  <c:v>268.1</c:v>
                </c:pt>
                <c:pt idx="105">
                  <c:v>255.5</c:v>
                </c:pt>
                <c:pt idx="106">
                  <c:v>271.7</c:v>
                </c:pt>
                <c:pt idx="107">
                  <c:v>288.1</c:v>
                </c:pt>
                <c:pt idx="108">
                  <c:v>310.2</c:v>
                </c:pt>
                <c:pt idx="109">
                  <c:v>312.6</c:v>
                </c:pt>
                <c:pt idx="110">
                  <c:v>279.7</c:v>
                </c:pt>
                <c:pt idx="111">
                  <c:v>265.3</c:v>
                </c:pt>
                <c:pt idx="112">
                  <c:v>262.7</c:v>
                </c:pt>
                <c:pt idx="113">
                  <c:v>292.6</c:v>
                </c:pt>
                <c:pt idx="114">
                  <c:v>348.9</c:v>
                </c:pt>
                <c:pt idx="115">
                  <c:v>363.0</c:v>
                </c:pt>
                <c:pt idx="116">
                  <c:v>350.3</c:v>
                </c:pt>
                <c:pt idx="117">
                  <c:v>328.2</c:v>
                </c:pt>
                <c:pt idx="118">
                  <c:v>346.9</c:v>
                </c:pt>
                <c:pt idx="119">
                  <c:v>351.1</c:v>
                </c:pt>
                <c:pt idx="120">
                  <c:v>351.0</c:v>
                </c:pt>
                <c:pt idx="121">
                  <c:v>315.2</c:v>
                </c:pt>
                <c:pt idx="122">
                  <c:v>293.3</c:v>
                </c:pt>
                <c:pt idx="123">
                  <c:v>280.1</c:v>
                </c:pt>
                <c:pt idx="124">
                  <c:v>291.8</c:v>
                </c:pt>
                <c:pt idx="125">
                  <c:v>299.1</c:v>
                </c:pt>
                <c:pt idx="126">
                  <c:v>281.8</c:v>
                </c:pt>
                <c:pt idx="127">
                  <c:v>274.4</c:v>
                </c:pt>
                <c:pt idx="128">
                  <c:v>269.2</c:v>
                </c:pt>
                <c:pt idx="129">
                  <c:v>276.8</c:v>
                </c:pt>
                <c:pt idx="130">
                  <c:v>291.3</c:v>
                </c:pt>
                <c:pt idx="131">
                  <c:v>301.7</c:v>
                </c:pt>
                <c:pt idx="132">
                  <c:v>306.4</c:v>
                </c:pt>
                <c:pt idx="133">
                  <c:v>242.8</c:v>
                </c:pt>
                <c:pt idx="134">
                  <c:v>233.5</c:v>
                </c:pt>
                <c:pt idx="135">
                  <c:v>220.7</c:v>
                </c:pt>
                <c:pt idx="136">
                  <c:v>216.8</c:v>
                </c:pt>
                <c:pt idx="137">
                  <c:v>186.8</c:v>
                </c:pt>
                <c:pt idx="138">
                  <c:v>211.0</c:v>
                </c:pt>
                <c:pt idx="139">
                  <c:v>211.7</c:v>
                </c:pt>
                <c:pt idx="140">
                  <c:v>186.8</c:v>
                </c:pt>
              </c:numCache>
            </c:numRef>
          </c:val>
          <c:smooth val="0"/>
        </c:ser>
        <c:ser>
          <c:idx val="3"/>
          <c:order val="3"/>
          <c:tx>
            <c:strRef>
              <c:f>Sheet1!$E$1</c:f>
              <c:strCache>
                <c:ptCount val="1"/>
                <c:pt idx="0">
                  <c:v>ITC</c:v>
                </c:pt>
              </c:strCache>
            </c:strRef>
          </c:tx>
          <c:spPr>
            <a:ln w="19050">
              <a:solidFill>
                <a:srgbClr val="D69E00"/>
              </a:solidFill>
            </a:ln>
          </c:spPr>
          <c:marker>
            <c:symbol val="none"/>
          </c:marker>
          <c:cat>
            <c:strRef>
              <c:f>Sheet1!$A$2:$A$142</c:f>
              <c:strCache>
                <c:ptCount val="141"/>
                <c:pt idx="0">
                  <c:v>Jan 15</c:v>
                </c:pt>
                <c:pt idx="1">
                  <c:v>Feb 15</c:v>
                </c:pt>
                <c:pt idx="2">
                  <c:v>Mar 15</c:v>
                </c:pt>
                <c:pt idx="3">
                  <c:v>Apr 15</c:v>
                </c:pt>
                <c:pt idx="4">
                  <c:v>May 15</c:v>
                </c:pt>
                <c:pt idx="5">
                  <c:v>Jun 15</c:v>
                </c:pt>
                <c:pt idx="6">
                  <c:v>Jul 15</c:v>
                </c:pt>
                <c:pt idx="7">
                  <c:v>Aug 15</c:v>
                </c:pt>
                <c:pt idx="8">
                  <c:v>Sep 15</c:v>
                </c:pt>
                <c:pt idx="9">
                  <c:v>Oct 15</c:v>
                </c:pt>
                <c:pt idx="10">
                  <c:v>Nov 15</c:v>
                </c:pt>
                <c:pt idx="11">
                  <c:v>Dec 15</c:v>
                </c:pt>
                <c:pt idx="12">
                  <c:v>Jan 16</c:v>
                </c:pt>
                <c:pt idx="13">
                  <c:v>Feb 16</c:v>
                </c:pt>
                <c:pt idx="14">
                  <c:v>Mar 16</c:v>
                </c:pt>
                <c:pt idx="15">
                  <c:v>Apr 16</c:v>
                </c:pt>
                <c:pt idx="16">
                  <c:v>May 16</c:v>
                </c:pt>
                <c:pt idx="17">
                  <c:v>Jun 16</c:v>
                </c:pt>
                <c:pt idx="18">
                  <c:v>Jul 16</c:v>
                </c:pt>
                <c:pt idx="19">
                  <c:v>Aug 16</c:v>
                </c:pt>
                <c:pt idx="20">
                  <c:v>Sep 16</c:v>
                </c:pt>
                <c:pt idx="21">
                  <c:v>Oct 16</c:v>
                </c:pt>
                <c:pt idx="22">
                  <c:v>Nov 16</c:v>
                </c:pt>
                <c:pt idx="23">
                  <c:v>Dec 16</c:v>
                </c:pt>
                <c:pt idx="24">
                  <c:v>Jan 17</c:v>
                </c:pt>
                <c:pt idx="25">
                  <c:v>Feb 17</c:v>
                </c:pt>
                <c:pt idx="26">
                  <c:v>Mar 17</c:v>
                </c:pt>
                <c:pt idx="27">
                  <c:v>Apr 17</c:v>
                </c:pt>
                <c:pt idx="28">
                  <c:v>May 17</c:v>
                </c:pt>
                <c:pt idx="29">
                  <c:v>Jun 17</c:v>
                </c:pt>
                <c:pt idx="30">
                  <c:v>Jul 17</c:v>
                </c:pt>
                <c:pt idx="31">
                  <c:v>Aug 17</c:v>
                </c:pt>
                <c:pt idx="32">
                  <c:v>Sep 17</c:v>
                </c:pt>
                <c:pt idx="33">
                  <c:v>Oct 17</c:v>
                </c:pt>
                <c:pt idx="34">
                  <c:v>Nov 17</c:v>
                </c:pt>
                <c:pt idx="35">
                  <c:v>Dec 17</c:v>
                </c:pt>
                <c:pt idx="36">
                  <c:v>Jan 18</c:v>
                </c:pt>
                <c:pt idx="37">
                  <c:v>Feb 18</c:v>
                </c:pt>
                <c:pt idx="38">
                  <c:v>Mar 18</c:v>
                </c:pt>
                <c:pt idx="39">
                  <c:v>Apr 18</c:v>
                </c:pt>
                <c:pt idx="40">
                  <c:v>May 18</c:v>
                </c:pt>
                <c:pt idx="41">
                  <c:v>Jun 18</c:v>
                </c:pt>
                <c:pt idx="42">
                  <c:v>Jul 18</c:v>
                </c:pt>
                <c:pt idx="43">
                  <c:v>Aug 18</c:v>
                </c:pt>
                <c:pt idx="44">
                  <c:v>Sep 18</c:v>
                </c:pt>
                <c:pt idx="45">
                  <c:v>Oct 18</c:v>
                </c:pt>
                <c:pt idx="46">
                  <c:v>Nov 18</c:v>
                </c:pt>
                <c:pt idx="47">
                  <c:v>Dec 18</c:v>
                </c:pt>
                <c:pt idx="48">
                  <c:v>Jan 19</c:v>
                </c:pt>
                <c:pt idx="49">
                  <c:v>Feb 19</c:v>
                </c:pt>
                <c:pt idx="50">
                  <c:v>Mar 19</c:v>
                </c:pt>
                <c:pt idx="51">
                  <c:v>Apr 19</c:v>
                </c:pt>
                <c:pt idx="52">
                  <c:v>May 19</c:v>
                </c:pt>
                <c:pt idx="53">
                  <c:v>Jun 19</c:v>
                </c:pt>
                <c:pt idx="54">
                  <c:v>Jul 19</c:v>
                </c:pt>
                <c:pt idx="55">
                  <c:v>Aug 19</c:v>
                </c:pt>
                <c:pt idx="56">
                  <c:v>Sep 19</c:v>
                </c:pt>
                <c:pt idx="57">
                  <c:v>Oct 19</c:v>
                </c:pt>
                <c:pt idx="58">
                  <c:v>Nov 19</c:v>
                </c:pt>
                <c:pt idx="59">
                  <c:v>Dec 19</c:v>
                </c:pt>
                <c:pt idx="60">
                  <c:v>Jan 20</c:v>
                </c:pt>
                <c:pt idx="61">
                  <c:v>Feb 20</c:v>
                </c:pt>
                <c:pt idx="62">
                  <c:v>Mar 20</c:v>
                </c:pt>
                <c:pt idx="63">
                  <c:v>Apr 20</c:v>
                </c:pt>
                <c:pt idx="64">
                  <c:v>May 20</c:v>
                </c:pt>
                <c:pt idx="65">
                  <c:v>Jun 20</c:v>
                </c:pt>
                <c:pt idx="66">
                  <c:v>Jul 20</c:v>
                </c:pt>
                <c:pt idx="67">
                  <c:v>Aug 20</c:v>
                </c:pt>
                <c:pt idx="68">
                  <c:v>Sep 20</c:v>
                </c:pt>
                <c:pt idx="69">
                  <c:v>Oct 20</c:v>
                </c:pt>
                <c:pt idx="70">
                  <c:v>Nov 20</c:v>
                </c:pt>
                <c:pt idx="71">
                  <c:v>Dec 20</c:v>
                </c:pt>
                <c:pt idx="72">
                  <c:v>Jan 21</c:v>
                </c:pt>
                <c:pt idx="73">
                  <c:v>Feb 21</c:v>
                </c:pt>
                <c:pt idx="74">
                  <c:v>Mar 21</c:v>
                </c:pt>
                <c:pt idx="75">
                  <c:v>Apr 21</c:v>
                </c:pt>
                <c:pt idx="76">
                  <c:v>May 21</c:v>
                </c:pt>
                <c:pt idx="77">
                  <c:v>Jun 21</c:v>
                </c:pt>
                <c:pt idx="78">
                  <c:v>Jul 21</c:v>
                </c:pt>
                <c:pt idx="79">
                  <c:v>Aug 21</c:v>
                </c:pt>
                <c:pt idx="80">
                  <c:v>Sep 21</c:v>
                </c:pt>
                <c:pt idx="81">
                  <c:v>Oct 21</c:v>
                </c:pt>
                <c:pt idx="82">
                  <c:v>Nov 21</c:v>
                </c:pt>
                <c:pt idx="83">
                  <c:v>Dec 21</c:v>
                </c:pt>
                <c:pt idx="84">
                  <c:v>Jan 22</c:v>
                </c:pt>
                <c:pt idx="85">
                  <c:v>Feb 22</c:v>
                </c:pt>
                <c:pt idx="86">
                  <c:v>Mar 22</c:v>
                </c:pt>
                <c:pt idx="87">
                  <c:v>Apr 22</c:v>
                </c:pt>
                <c:pt idx="88">
                  <c:v>May 22</c:v>
                </c:pt>
                <c:pt idx="89">
                  <c:v>Jun 22</c:v>
                </c:pt>
                <c:pt idx="90">
                  <c:v>Jul 22</c:v>
                </c:pt>
                <c:pt idx="91">
                  <c:v>Aug 22</c:v>
                </c:pt>
                <c:pt idx="92">
                  <c:v>Sep 22</c:v>
                </c:pt>
                <c:pt idx="93">
                  <c:v>Oct 22</c:v>
                </c:pt>
                <c:pt idx="94">
                  <c:v>Nov 22</c:v>
                </c:pt>
                <c:pt idx="95">
                  <c:v>Dec 22</c:v>
                </c:pt>
                <c:pt idx="96">
                  <c:v>Jan 23</c:v>
                </c:pt>
                <c:pt idx="97">
                  <c:v>Feb 23</c:v>
                </c:pt>
                <c:pt idx="98">
                  <c:v>Mar 23</c:v>
                </c:pt>
                <c:pt idx="99">
                  <c:v>Apr 23</c:v>
                </c:pt>
                <c:pt idx="100">
                  <c:v>May 23</c:v>
                </c:pt>
                <c:pt idx="101">
                  <c:v>Jun 23</c:v>
                </c:pt>
                <c:pt idx="102">
                  <c:v>Jul 23</c:v>
                </c:pt>
                <c:pt idx="103">
                  <c:v>Aug 23</c:v>
                </c:pt>
                <c:pt idx="104">
                  <c:v>Sep 23</c:v>
                </c:pt>
                <c:pt idx="105">
                  <c:v>Oct 23</c:v>
                </c:pt>
                <c:pt idx="106">
                  <c:v>Nov 23</c:v>
                </c:pt>
                <c:pt idx="107">
                  <c:v>Dec 23</c:v>
                </c:pt>
                <c:pt idx="108">
                  <c:v>Jan 24</c:v>
                </c:pt>
                <c:pt idx="109">
                  <c:v>Feb 24</c:v>
                </c:pt>
                <c:pt idx="110">
                  <c:v>Mar 24</c:v>
                </c:pt>
                <c:pt idx="111">
                  <c:v>Apr 24</c:v>
                </c:pt>
                <c:pt idx="112">
                  <c:v>May 24</c:v>
                </c:pt>
                <c:pt idx="113">
                  <c:v>Jun 24</c:v>
                </c:pt>
                <c:pt idx="114">
                  <c:v>Jul 24</c:v>
                </c:pt>
                <c:pt idx="115">
                  <c:v>Aug 24</c:v>
                </c:pt>
                <c:pt idx="116">
                  <c:v>Sep 24</c:v>
                </c:pt>
                <c:pt idx="117">
                  <c:v>Oct 24</c:v>
                </c:pt>
                <c:pt idx="118">
                  <c:v>Nov 24</c:v>
                </c:pt>
                <c:pt idx="119">
                  <c:v>Dec 24</c:v>
                </c:pt>
                <c:pt idx="120">
                  <c:v>Jan 25</c:v>
                </c:pt>
                <c:pt idx="121">
                  <c:v>Feb 25</c:v>
                </c:pt>
                <c:pt idx="122">
                  <c:v>Mar 25</c:v>
                </c:pt>
                <c:pt idx="123">
                  <c:v>Apr 25</c:v>
                </c:pt>
                <c:pt idx="124">
                  <c:v>May 25</c:v>
                </c:pt>
                <c:pt idx="125">
                  <c:v>Jun 25</c:v>
                </c:pt>
                <c:pt idx="126">
                  <c:v>Jul 25</c:v>
                </c:pt>
                <c:pt idx="127">
                  <c:v>Aug 25</c:v>
                </c:pt>
                <c:pt idx="128">
                  <c:v>Sep 25</c:v>
                </c:pt>
                <c:pt idx="129">
                  <c:v>Oct 25</c:v>
                </c:pt>
                <c:pt idx="130">
                  <c:v>Nov 25</c:v>
                </c:pt>
                <c:pt idx="131">
                  <c:v>Dec 25</c:v>
                </c:pt>
                <c:pt idx="132">
                  <c:v>Jan 26</c:v>
                </c:pt>
                <c:pt idx="133">
                  <c:v>Feb 26</c:v>
                </c:pt>
                <c:pt idx="134">
                  <c:v>Mar 26</c:v>
                </c:pt>
                <c:pt idx="135">
                  <c:v>Apr 26</c:v>
                </c:pt>
                <c:pt idx="136">
                  <c:v>May 26</c:v>
                </c:pt>
                <c:pt idx="137">
                  <c:v>Jun 26</c:v>
                </c:pt>
                <c:pt idx="138">
                  <c:v>Jul 26</c:v>
                </c:pt>
                <c:pt idx="139">
                  <c:v>Aug 26</c:v>
                </c:pt>
                <c:pt idx="140">
                  <c:v>Sep 26</c:v>
                </c:pt>
              </c:strCache>
            </c:strRef>
          </c:cat>
          <c:val>
            <c:numRef>
              <c:f>Sheet1!$E$2:$E$142</c:f>
              <c:numCache>
                <c:formatCode>General</c:formatCode>
                <c:ptCount val="141"/>
                <c:pt idx="0">
                  <c:v>100.0</c:v>
                </c:pt>
                <c:pt idx="1">
                  <c:v>98.0</c:v>
                </c:pt>
                <c:pt idx="2">
                  <c:v>88.4</c:v>
                </c:pt>
                <c:pt idx="3">
                  <c:v>87.5</c:v>
                </c:pt>
                <c:pt idx="4">
                  <c:v>88.7</c:v>
                </c:pt>
                <c:pt idx="5">
                  <c:v>85.5</c:v>
                </c:pt>
                <c:pt idx="6">
                  <c:v>88.5</c:v>
                </c:pt>
                <c:pt idx="7">
                  <c:v>88.2</c:v>
                </c:pt>
                <c:pt idx="8">
                  <c:v>89.2</c:v>
                </c:pt>
                <c:pt idx="9">
                  <c:v>90.8</c:v>
                </c:pt>
                <c:pt idx="10">
                  <c:v>92.9</c:v>
                </c:pt>
                <c:pt idx="11">
                  <c:v>88.9</c:v>
                </c:pt>
                <c:pt idx="12">
                  <c:v>86.9</c:v>
                </c:pt>
                <c:pt idx="13">
                  <c:v>80.2</c:v>
                </c:pt>
                <c:pt idx="14">
                  <c:v>89.1</c:v>
                </c:pt>
                <c:pt idx="15">
                  <c:v>88.2</c:v>
                </c:pt>
                <c:pt idx="16">
                  <c:v>95.3</c:v>
                </c:pt>
                <c:pt idx="17">
                  <c:v>100.0</c:v>
                </c:pt>
                <c:pt idx="18">
                  <c:v>102.7</c:v>
                </c:pt>
                <c:pt idx="19">
                  <c:v>105.8</c:v>
                </c:pt>
                <c:pt idx="20">
                  <c:v>98.2</c:v>
                </c:pt>
                <c:pt idx="21">
                  <c:v>98.4</c:v>
                </c:pt>
                <c:pt idx="22">
                  <c:v>94.6</c:v>
                </c:pt>
                <c:pt idx="23">
                  <c:v>98.4</c:v>
                </c:pt>
                <c:pt idx="24">
                  <c:v>105.0</c:v>
                </c:pt>
                <c:pt idx="25">
                  <c:v>106.7</c:v>
                </c:pt>
                <c:pt idx="26">
                  <c:v>114.1</c:v>
                </c:pt>
                <c:pt idx="27">
                  <c:v>113.1</c:v>
                </c:pt>
                <c:pt idx="28">
                  <c:v>126.9</c:v>
                </c:pt>
                <c:pt idx="29">
                  <c:v>131.7</c:v>
                </c:pt>
                <c:pt idx="30">
                  <c:v>116.1</c:v>
                </c:pt>
                <c:pt idx="31">
                  <c:v>114.9</c:v>
                </c:pt>
                <c:pt idx="32">
                  <c:v>105.1</c:v>
                </c:pt>
                <c:pt idx="33">
                  <c:v>108.1</c:v>
                </c:pt>
                <c:pt idx="34">
                  <c:v>104.2</c:v>
                </c:pt>
                <c:pt idx="35">
                  <c:v>107.1</c:v>
                </c:pt>
                <c:pt idx="36">
                  <c:v>110.5</c:v>
                </c:pt>
                <c:pt idx="37">
                  <c:v>107.9</c:v>
                </c:pt>
                <c:pt idx="38">
                  <c:v>104.0</c:v>
                </c:pt>
                <c:pt idx="39">
                  <c:v>114.6</c:v>
                </c:pt>
                <c:pt idx="40">
                  <c:v>110.6</c:v>
                </c:pt>
                <c:pt idx="41">
                  <c:v>108.3</c:v>
                </c:pt>
                <c:pt idx="42">
                  <c:v>121.2</c:v>
                </c:pt>
                <c:pt idx="43">
                  <c:v>130.2</c:v>
                </c:pt>
                <c:pt idx="44">
                  <c:v>121.2</c:v>
                </c:pt>
                <c:pt idx="45">
                  <c:v>114.0</c:v>
                </c:pt>
                <c:pt idx="46">
                  <c:v>116.3</c:v>
                </c:pt>
                <c:pt idx="47">
                  <c:v>114.6</c:v>
                </c:pt>
                <c:pt idx="48">
                  <c:v>113.4</c:v>
                </c:pt>
                <c:pt idx="49">
                  <c:v>112.4</c:v>
                </c:pt>
                <c:pt idx="50">
                  <c:v>121.0</c:v>
                </c:pt>
                <c:pt idx="51">
                  <c:v>122.6</c:v>
                </c:pt>
                <c:pt idx="52">
                  <c:v>113.4</c:v>
                </c:pt>
                <c:pt idx="53">
                  <c:v>111.5</c:v>
                </c:pt>
                <c:pt idx="54">
                  <c:v>110.0</c:v>
                </c:pt>
                <c:pt idx="55">
                  <c:v>100.0</c:v>
                </c:pt>
                <c:pt idx="56">
                  <c:v>105.8</c:v>
                </c:pt>
                <c:pt idx="57">
                  <c:v>104.9</c:v>
                </c:pt>
                <c:pt idx="58">
                  <c:v>100.3</c:v>
                </c:pt>
                <c:pt idx="59">
                  <c:v>96.7</c:v>
                </c:pt>
                <c:pt idx="60">
                  <c:v>95.7</c:v>
                </c:pt>
                <c:pt idx="61">
                  <c:v>80.4</c:v>
                </c:pt>
                <c:pt idx="62">
                  <c:v>69.9</c:v>
                </c:pt>
                <c:pt idx="63">
                  <c:v>74.1</c:v>
                </c:pt>
                <c:pt idx="64">
                  <c:v>80.3</c:v>
                </c:pt>
                <c:pt idx="65">
                  <c:v>79.2</c:v>
                </c:pt>
                <c:pt idx="66">
                  <c:v>79.0</c:v>
                </c:pt>
                <c:pt idx="67">
                  <c:v>77.8</c:v>
                </c:pt>
                <c:pt idx="68">
                  <c:v>69.9</c:v>
                </c:pt>
                <c:pt idx="69">
                  <c:v>67.3</c:v>
                </c:pt>
                <c:pt idx="70">
                  <c:v>78.8</c:v>
                </c:pt>
                <c:pt idx="71">
                  <c:v>85.1</c:v>
                </c:pt>
                <c:pt idx="72">
                  <c:v>82.7</c:v>
                </c:pt>
                <c:pt idx="73">
                  <c:v>83.0</c:v>
                </c:pt>
                <c:pt idx="74">
                  <c:v>88.9</c:v>
                </c:pt>
                <c:pt idx="75">
                  <c:v>82.5</c:v>
                </c:pt>
                <c:pt idx="76">
                  <c:v>88.2</c:v>
                </c:pt>
                <c:pt idx="77">
                  <c:v>82.5</c:v>
                </c:pt>
                <c:pt idx="78">
                  <c:v>83.4</c:v>
                </c:pt>
                <c:pt idx="79">
                  <c:v>86.0</c:v>
                </c:pt>
                <c:pt idx="80">
                  <c:v>96.1</c:v>
                </c:pt>
                <c:pt idx="81">
                  <c:v>90.8</c:v>
                </c:pt>
                <c:pt idx="82">
                  <c:v>90.0</c:v>
                </c:pt>
                <c:pt idx="83">
                  <c:v>88.7</c:v>
                </c:pt>
                <c:pt idx="84">
                  <c:v>89.6</c:v>
                </c:pt>
                <c:pt idx="85">
                  <c:v>87.9</c:v>
                </c:pt>
                <c:pt idx="86">
                  <c:v>102.0</c:v>
                </c:pt>
                <c:pt idx="87">
                  <c:v>105.6</c:v>
                </c:pt>
                <c:pt idx="88">
                  <c:v>110.2</c:v>
                </c:pt>
                <c:pt idx="89">
                  <c:v>111.3</c:v>
                </c:pt>
                <c:pt idx="90">
                  <c:v>123.3</c:v>
                </c:pt>
                <c:pt idx="91">
                  <c:v>130.4</c:v>
                </c:pt>
                <c:pt idx="92">
                  <c:v>135.2</c:v>
                </c:pt>
                <c:pt idx="93">
                  <c:v>141.9</c:v>
                </c:pt>
                <c:pt idx="94">
                  <c:v>138.4</c:v>
                </c:pt>
                <c:pt idx="95">
                  <c:v>134.9</c:v>
                </c:pt>
                <c:pt idx="96">
                  <c:v>143.4</c:v>
                </c:pt>
                <c:pt idx="97">
                  <c:v>153.3</c:v>
                </c:pt>
                <c:pt idx="98">
                  <c:v>156.1</c:v>
                </c:pt>
                <c:pt idx="99">
                  <c:v>173.2</c:v>
                </c:pt>
                <c:pt idx="100">
                  <c:v>181.3</c:v>
                </c:pt>
                <c:pt idx="101">
                  <c:v>183.8</c:v>
                </c:pt>
                <c:pt idx="102">
                  <c:v>189.5</c:v>
                </c:pt>
                <c:pt idx="103">
                  <c:v>179.0</c:v>
                </c:pt>
                <c:pt idx="104">
                  <c:v>180.9</c:v>
                </c:pt>
                <c:pt idx="105">
                  <c:v>174.4</c:v>
                </c:pt>
                <c:pt idx="106">
                  <c:v>177.4</c:v>
                </c:pt>
                <c:pt idx="107">
                  <c:v>188.1</c:v>
                </c:pt>
                <c:pt idx="108">
                  <c:v>179.7</c:v>
                </c:pt>
                <c:pt idx="109">
                  <c:v>165.4</c:v>
                </c:pt>
                <c:pt idx="110">
                  <c:v>174.3</c:v>
                </c:pt>
                <c:pt idx="111">
                  <c:v>177.3</c:v>
                </c:pt>
                <c:pt idx="112">
                  <c:v>173.6</c:v>
                </c:pt>
                <c:pt idx="113">
                  <c:v>172.9</c:v>
                </c:pt>
                <c:pt idx="114">
                  <c:v>201.6</c:v>
                </c:pt>
                <c:pt idx="115">
                  <c:v>204.3</c:v>
                </c:pt>
                <c:pt idx="116">
                  <c:v>210.9</c:v>
                </c:pt>
                <c:pt idx="117">
                  <c:v>198.9</c:v>
                </c:pt>
                <c:pt idx="118">
                  <c:v>194.0</c:v>
                </c:pt>
                <c:pt idx="119">
                  <c:v>196.8</c:v>
                </c:pt>
                <c:pt idx="120">
                  <c:v>192.5</c:v>
                </c:pt>
                <c:pt idx="121">
                  <c:v>169.9</c:v>
                </c:pt>
                <c:pt idx="122">
                  <c:v>176.3</c:v>
                </c:pt>
                <c:pt idx="123">
                  <c:v>183.2</c:v>
                </c:pt>
                <c:pt idx="124">
                  <c:v>179.9</c:v>
                </c:pt>
                <c:pt idx="125">
                  <c:v>179.2</c:v>
                </c:pt>
                <c:pt idx="126">
                  <c:v>177.2</c:v>
                </c:pt>
                <c:pt idx="127">
                  <c:v>176.3</c:v>
                </c:pt>
                <c:pt idx="128">
                  <c:v>172.8</c:v>
                </c:pt>
                <c:pt idx="129">
                  <c:v>180.8</c:v>
                </c:pt>
                <c:pt idx="130">
                  <c:v>173.9</c:v>
                </c:pt>
                <c:pt idx="131">
                  <c:v>173.4</c:v>
                </c:pt>
                <c:pt idx="132">
                  <c:v>138.6</c:v>
                </c:pt>
                <c:pt idx="133">
                  <c:v>134.9</c:v>
                </c:pt>
                <c:pt idx="134">
                  <c:v>123.8</c:v>
                </c:pt>
                <c:pt idx="135">
                  <c:v>135.5</c:v>
                </c:pt>
                <c:pt idx="136">
                  <c:v>123.4</c:v>
                </c:pt>
                <c:pt idx="137">
                  <c:v>123.5</c:v>
                </c:pt>
                <c:pt idx="138">
                  <c:v>120.9</c:v>
                </c:pt>
                <c:pt idx="139">
                  <c:v>109.9</c:v>
                </c:pt>
                <c:pt idx="140">
                  <c:v>115.7</c:v>
                </c:pt>
              </c:numCache>
            </c:numRef>
          </c:val>
          <c:smooth val="0"/>
        </c:ser>
        <c:ser>
          <c:idx val="4"/>
          <c:order val="4"/>
          <c:tx>
            <c:strRef>
              <c:f>Sheet1!$F$1</c:f>
              <c:strCache>
                <c:ptCount val="1"/>
                <c:pt idx="0">
                  <c:v>MARUTI</c:v>
                </c:pt>
              </c:strCache>
            </c:strRef>
          </c:tx>
          <c:spPr>
            <a:ln w="19050">
              <a:solidFill>
                <a:srgbClr val="FD4C00"/>
              </a:solidFill>
            </a:ln>
          </c:spPr>
          <c:marker>
            <c:symbol val="none"/>
          </c:marker>
          <c:cat>
            <c:strRef>
              <c:f>Sheet1!$A$2:$A$142</c:f>
              <c:strCache>
                <c:ptCount val="141"/>
                <c:pt idx="0">
                  <c:v>Jan 15</c:v>
                </c:pt>
                <c:pt idx="1">
                  <c:v>Feb 15</c:v>
                </c:pt>
                <c:pt idx="2">
                  <c:v>Mar 15</c:v>
                </c:pt>
                <c:pt idx="3">
                  <c:v>Apr 15</c:v>
                </c:pt>
                <c:pt idx="4">
                  <c:v>May 15</c:v>
                </c:pt>
                <c:pt idx="5">
                  <c:v>Jun 15</c:v>
                </c:pt>
                <c:pt idx="6">
                  <c:v>Jul 15</c:v>
                </c:pt>
                <c:pt idx="7">
                  <c:v>Aug 15</c:v>
                </c:pt>
                <c:pt idx="8">
                  <c:v>Sep 15</c:v>
                </c:pt>
                <c:pt idx="9">
                  <c:v>Oct 15</c:v>
                </c:pt>
                <c:pt idx="10">
                  <c:v>Nov 15</c:v>
                </c:pt>
                <c:pt idx="11">
                  <c:v>Dec 15</c:v>
                </c:pt>
                <c:pt idx="12">
                  <c:v>Jan 16</c:v>
                </c:pt>
                <c:pt idx="13">
                  <c:v>Feb 16</c:v>
                </c:pt>
                <c:pt idx="14">
                  <c:v>Mar 16</c:v>
                </c:pt>
                <c:pt idx="15">
                  <c:v>Apr 16</c:v>
                </c:pt>
                <c:pt idx="16">
                  <c:v>May 16</c:v>
                </c:pt>
                <c:pt idx="17">
                  <c:v>Jun 16</c:v>
                </c:pt>
                <c:pt idx="18">
                  <c:v>Jul 16</c:v>
                </c:pt>
                <c:pt idx="19">
                  <c:v>Aug 16</c:v>
                </c:pt>
                <c:pt idx="20">
                  <c:v>Sep 16</c:v>
                </c:pt>
                <c:pt idx="21">
                  <c:v>Oct 16</c:v>
                </c:pt>
                <c:pt idx="22">
                  <c:v>Nov 16</c:v>
                </c:pt>
                <c:pt idx="23">
                  <c:v>Dec 16</c:v>
                </c:pt>
                <c:pt idx="24">
                  <c:v>Jan 17</c:v>
                </c:pt>
                <c:pt idx="25">
                  <c:v>Feb 17</c:v>
                </c:pt>
                <c:pt idx="26">
                  <c:v>Mar 17</c:v>
                </c:pt>
                <c:pt idx="27">
                  <c:v>Apr 17</c:v>
                </c:pt>
                <c:pt idx="28">
                  <c:v>May 17</c:v>
                </c:pt>
                <c:pt idx="29">
                  <c:v>Jun 17</c:v>
                </c:pt>
                <c:pt idx="30">
                  <c:v>Jul 17</c:v>
                </c:pt>
                <c:pt idx="31">
                  <c:v>Aug 17</c:v>
                </c:pt>
                <c:pt idx="32">
                  <c:v>Sep 17</c:v>
                </c:pt>
                <c:pt idx="33">
                  <c:v>Oct 17</c:v>
                </c:pt>
                <c:pt idx="34">
                  <c:v>Nov 17</c:v>
                </c:pt>
                <c:pt idx="35">
                  <c:v>Dec 17</c:v>
                </c:pt>
                <c:pt idx="36">
                  <c:v>Jan 18</c:v>
                </c:pt>
                <c:pt idx="37">
                  <c:v>Feb 18</c:v>
                </c:pt>
                <c:pt idx="38">
                  <c:v>Mar 18</c:v>
                </c:pt>
                <c:pt idx="39">
                  <c:v>Apr 18</c:v>
                </c:pt>
                <c:pt idx="40">
                  <c:v>May 18</c:v>
                </c:pt>
                <c:pt idx="41">
                  <c:v>Jun 18</c:v>
                </c:pt>
                <c:pt idx="42">
                  <c:v>Jul 18</c:v>
                </c:pt>
                <c:pt idx="43">
                  <c:v>Aug 18</c:v>
                </c:pt>
                <c:pt idx="44">
                  <c:v>Sep 18</c:v>
                </c:pt>
                <c:pt idx="45">
                  <c:v>Oct 18</c:v>
                </c:pt>
                <c:pt idx="46">
                  <c:v>Nov 18</c:v>
                </c:pt>
                <c:pt idx="47">
                  <c:v>Dec 18</c:v>
                </c:pt>
                <c:pt idx="48">
                  <c:v>Jan 19</c:v>
                </c:pt>
                <c:pt idx="49">
                  <c:v>Feb 19</c:v>
                </c:pt>
                <c:pt idx="50">
                  <c:v>Mar 19</c:v>
                </c:pt>
                <c:pt idx="51">
                  <c:v>Apr 19</c:v>
                </c:pt>
                <c:pt idx="52">
                  <c:v>May 19</c:v>
                </c:pt>
                <c:pt idx="53">
                  <c:v>Jun 19</c:v>
                </c:pt>
                <c:pt idx="54">
                  <c:v>Jul 19</c:v>
                </c:pt>
                <c:pt idx="55">
                  <c:v>Aug 19</c:v>
                </c:pt>
                <c:pt idx="56">
                  <c:v>Sep 19</c:v>
                </c:pt>
                <c:pt idx="57">
                  <c:v>Oct 19</c:v>
                </c:pt>
                <c:pt idx="58">
                  <c:v>Nov 19</c:v>
                </c:pt>
                <c:pt idx="59">
                  <c:v>Dec 19</c:v>
                </c:pt>
                <c:pt idx="60">
                  <c:v>Jan 20</c:v>
                </c:pt>
                <c:pt idx="61">
                  <c:v>Feb 20</c:v>
                </c:pt>
                <c:pt idx="62">
                  <c:v>Mar 20</c:v>
                </c:pt>
                <c:pt idx="63">
                  <c:v>Apr 20</c:v>
                </c:pt>
                <c:pt idx="64">
                  <c:v>May 20</c:v>
                </c:pt>
                <c:pt idx="65">
                  <c:v>Jun 20</c:v>
                </c:pt>
                <c:pt idx="66">
                  <c:v>Jul 20</c:v>
                </c:pt>
                <c:pt idx="67">
                  <c:v>Aug 20</c:v>
                </c:pt>
                <c:pt idx="68">
                  <c:v>Sep 20</c:v>
                </c:pt>
                <c:pt idx="69">
                  <c:v>Oct 20</c:v>
                </c:pt>
                <c:pt idx="70">
                  <c:v>Nov 20</c:v>
                </c:pt>
                <c:pt idx="71">
                  <c:v>Dec 20</c:v>
                </c:pt>
                <c:pt idx="72">
                  <c:v>Jan 21</c:v>
                </c:pt>
                <c:pt idx="73">
                  <c:v>Feb 21</c:v>
                </c:pt>
                <c:pt idx="74">
                  <c:v>Mar 21</c:v>
                </c:pt>
                <c:pt idx="75">
                  <c:v>Apr 21</c:v>
                </c:pt>
                <c:pt idx="76">
                  <c:v>May 21</c:v>
                </c:pt>
                <c:pt idx="77">
                  <c:v>Jun 21</c:v>
                </c:pt>
                <c:pt idx="78">
                  <c:v>Jul 21</c:v>
                </c:pt>
                <c:pt idx="79">
                  <c:v>Aug 21</c:v>
                </c:pt>
                <c:pt idx="80">
                  <c:v>Sep 21</c:v>
                </c:pt>
                <c:pt idx="81">
                  <c:v>Oct 21</c:v>
                </c:pt>
                <c:pt idx="82">
                  <c:v>Nov 21</c:v>
                </c:pt>
                <c:pt idx="83">
                  <c:v>Dec 21</c:v>
                </c:pt>
                <c:pt idx="84">
                  <c:v>Jan 22</c:v>
                </c:pt>
                <c:pt idx="85">
                  <c:v>Feb 22</c:v>
                </c:pt>
                <c:pt idx="86">
                  <c:v>Mar 22</c:v>
                </c:pt>
                <c:pt idx="87">
                  <c:v>Apr 22</c:v>
                </c:pt>
                <c:pt idx="88">
                  <c:v>May 22</c:v>
                </c:pt>
                <c:pt idx="89">
                  <c:v>Jun 22</c:v>
                </c:pt>
                <c:pt idx="90">
                  <c:v>Jul 22</c:v>
                </c:pt>
                <c:pt idx="91">
                  <c:v>Aug 22</c:v>
                </c:pt>
                <c:pt idx="92">
                  <c:v>Sep 22</c:v>
                </c:pt>
                <c:pt idx="93">
                  <c:v>Oct 22</c:v>
                </c:pt>
                <c:pt idx="94">
                  <c:v>Nov 22</c:v>
                </c:pt>
                <c:pt idx="95">
                  <c:v>Dec 22</c:v>
                </c:pt>
                <c:pt idx="96">
                  <c:v>Jan 23</c:v>
                </c:pt>
                <c:pt idx="97">
                  <c:v>Feb 23</c:v>
                </c:pt>
                <c:pt idx="98">
                  <c:v>Mar 23</c:v>
                </c:pt>
                <c:pt idx="99">
                  <c:v>Apr 23</c:v>
                </c:pt>
                <c:pt idx="100">
                  <c:v>May 23</c:v>
                </c:pt>
                <c:pt idx="101">
                  <c:v>Jun 23</c:v>
                </c:pt>
                <c:pt idx="102">
                  <c:v>Jul 23</c:v>
                </c:pt>
                <c:pt idx="103">
                  <c:v>Aug 23</c:v>
                </c:pt>
                <c:pt idx="104">
                  <c:v>Sep 23</c:v>
                </c:pt>
                <c:pt idx="105">
                  <c:v>Oct 23</c:v>
                </c:pt>
                <c:pt idx="106">
                  <c:v>Nov 23</c:v>
                </c:pt>
                <c:pt idx="107">
                  <c:v>Dec 23</c:v>
                </c:pt>
                <c:pt idx="108">
                  <c:v>Jan 24</c:v>
                </c:pt>
                <c:pt idx="109">
                  <c:v>Feb 24</c:v>
                </c:pt>
                <c:pt idx="110">
                  <c:v>Mar 24</c:v>
                </c:pt>
                <c:pt idx="111">
                  <c:v>Apr 24</c:v>
                </c:pt>
                <c:pt idx="112">
                  <c:v>May 24</c:v>
                </c:pt>
                <c:pt idx="113">
                  <c:v>Jun 24</c:v>
                </c:pt>
                <c:pt idx="114">
                  <c:v>Jul 24</c:v>
                </c:pt>
                <c:pt idx="115">
                  <c:v>Aug 24</c:v>
                </c:pt>
                <c:pt idx="116">
                  <c:v>Sep 24</c:v>
                </c:pt>
                <c:pt idx="117">
                  <c:v>Oct 24</c:v>
                </c:pt>
                <c:pt idx="118">
                  <c:v>Nov 24</c:v>
                </c:pt>
                <c:pt idx="119">
                  <c:v>Dec 24</c:v>
                </c:pt>
                <c:pt idx="120">
                  <c:v>Jan 25</c:v>
                </c:pt>
                <c:pt idx="121">
                  <c:v>Feb 25</c:v>
                </c:pt>
                <c:pt idx="122">
                  <c:v>Mar 25</c:v>
                </c:pt>
                <c:pt idx="123">
                  <c:v>Apr 25</c:v>
                </c:pt>
                <c:pt idx="124">
                  <c:v>May 25</c:v>
                </c:pt>
                <c:pt idx="125">
                  <c:v>Jun 25</c:v>
                </c:pt>
                <c:pt idx="126">
                  <c:v>Jul 25</c:v>
                </c:pt>
                <c:pt idx="127">
                  <c:v>Aug 25</c:v>
                </c:pt>
                <c:pt idx="128">
                  <c:v>Sep 25</c:v>
                </c:pt>
                <c:pt idx="129">
                  <c:v>Oct 25</c:v>
                </c:pt>
                <c:pt idx="130">
                  <c:v>Nov 25</c:v>
                </c:pt>
                <c:pt idx="131">
                  <c:v>Dec 25</c:v>
                </c:pt>
                <c:pt idx="132">
                  <c:v>Jan 26</c:v>
                </c:pt>
                <c:pt idx="133">
                  <c:v>Feb 26</c:v>
                </c:pt>
                <c:pt idx="134">
                  <c:v>Mar 26</c:v>
                </c:pt>
                <c:pt idx="135">
                  <c:v>Apr 26</c:v>
                </c:pt>
                <c:pt idx="136">
                  <c:v>May 26</c:v>
                </c:pt>
                <c:pt idx="137">
                  <c:v>Jun 26</c:v>
                </c:pt>
                <c:pt idx="138">
                  <c:v>Jul 26</c:v>
                </c:pt>
                <c:pt idx="139">
                  <c:v>Aug 26</c:v>
                </c:pt>
                <c:pt idx="140">
                  <c:v>Sep 26</c:v>
                </c:pt>
              </c:strCache>
            </c:strRef>
          </c:cat>
          <c:val>
            <c:numRef>
              <c:f>Sheet1!$F$2:$F$142</c:f>
              <c:numCache>
                <c:formatCode>General</c:formatCode>
                <c:ptCount val="141"/>
                <c:pt idx="0">
                  <c:v>100.0</c:v>
                </c:pt>
                <c:pt idx="1">
                  <c:v>99.3</c:v>
                </c:pt>
                <c:pt idx="2">
                  <c:v>101.4</c:v>
                </c:pt>
                <c:pt idx="3">
                  <c:v>102.2</c:v>
                </c:pt>
                <c:pt idx="4">
                  <c:v>103.8</c:v>
                </c:pt>
                <c:pt idx="5">
                  <c:v>110.3</c:v>
                </c:pt>
                <c:pt idx="6">
                  <c:v>118.8</c:v>
                </c:pt>
                <c:pt idx="7">
                  <c:v>114.3</c:v>
                </c:pt>
                <c:pt idx="8">
                  <c:v>128.5</c:v>
                </c:pt>
                <c:pt idx="9">
                  <c:v>122.0</c:v>
                </c:pt>
                <c:pt idx="10">
                  <c:v>126.3</c:v>
                </c:pt>
                <c:pt idx="11">
                  <c:v>126.7</c:v>
                </c:pt>
                <c:pt idx="12">
                  <c:v>112.3</c:v>
                </c:pt>
                <c:pt idx="13">
                  <c:v>88.7</c:v>
                </c:pt>
                <c:pt idx="14">
                  <c:v>101.9</c:v>
                </c:pt>
                <c:pt idx="15">
                  <c:v>104.0</c:v>
                </c:pt>
                <c:pt idx="16">
                  <c:v>114.1</c:v>
                </c:pt>
                <c:pt idx="17">
                  <c:v>114.8</c:v>
                </c:pt>
                <c:pt idx="18">
                  <c:v>130.4</c:v>
                </c:pt>
                <c:pt idx="19">
                  <c:v>138.6</c:v>
                </c:pt>
                <c:pt idx="20">
                  <c:v>150.2</c:v>
                </c:pt>
                <c:pt idx="21">
                  <c:v>161.7</c:v>
                </c:pt>
                <c:pt idx="22">
                  <c:v>144.4</c:v>
                </c:pt>
                <c:pt idx="23">
                  <c:v>145.8</c:v>
                </c:pt>
                <c:pt idx="24">
                  <c:v>161.6</c:v>
                </c:pt>
                <c:pt idx="25">
                  <c:v>162.4</c:v>
                </c:pt>
                <c:pt idx="26">
                  <c:v>164.9</c:v>
                </c:pt>
                <c:pt idx="27">
                  <c:v>178.9</c:v>
                </c:pt>
                <c:pt idx="28">
                  <c:v>197.7</c:v>
                </c:pt>
                <c:pt idx="29">
                  <c:v>197.9</c:v>
                </c:pt>
                <c:pt idx="30">
                  <c:v>212.5</c:v>
                </c:pt>
                <c:pt idx="31">
                  <c:v>211.1</c:v>
                </c:pt>
                <c:pt idx="32">
                  <c:v>218.7</c:v>
                </c:pt>
                <c:pt idx="33">
                  <c:v>225.1</c:v>
                </c:pt>
                <c:pt idx="34">
                  <c:v>235.8</c:v>
                </c:pt>
                <c:pt idx="35">
                  <c:v>266.8</c:v>
                </c:pt>
                <c:pt idx="36">
                  <c:v>260.7</c:v>
                </c:pt>
                <c:pt idx="37">
                  <c:v>242.7</c:v>
                </c:pt>
                <c:pt idx="38">
                  <c:v>242.9</c:v>
                </c:pt>
                <c:pt idx="39">
                  <c:v>241.7</c:v>
                </c:pt>
                <c:pt idx="40">
                  <c:v>234.1</c:v>
                </c:pt>
                <c:pt idx="41">
                  <c:v>242.0</c:v>
                </c:pt>
                <c:pt idx="42">
                  <c:v>261.0</c:v>
                </c:pt>
                <c:pt idx="43">
                  <c:v>249.4</c:v>
                </c:pt>
                <c:pt idx="44">
                  <c:v>201.5</c:v>
                </c:pt>
                <c:pt idx="45">
                  <c:v>181.4</c:v>
                </c:pt>
                <c:pt idx="46">
                  <c:v>210.1</c:v>
                </c:pt>
                <c:pt idx="47">
                  <c:v>204.7</c:v>
                </c:pt>
                <c:pt idx="48">
                  <c:v>182.1</c:v>
                </c:pt>
                <c:pt idx="49">
                  <c:v>187.3</c:v>
                </c:pt>
                <c:pt idx="50">
                  <c:v>182.9</c:v>
                </c:pt>
                <c:pt idx="51">
                  <c:v>182.8</c:v>
                </c:pt>
                <c:pt idx="52">
                  <c:v>188.4</c:v>
                </c:pt>
                <c:pt idx="53">
                  <c:v>179.2</c:v>
                </c:pt>
                <c:pt idx="54">
                  <c:v>150.0</c:v>
                </c:pt>
                <c:pt idx="55">
                  <c:v>167.9</c:v>
                </c:pt>
                <c:pt idx="56">
                  <c:v>184.1</c:v>
                </c:pt>
                <c:pt idx="57">
                  <c:v>207.3</c:v>
                </c:pt>
                <c:pt idx="58">
                  <c:v>198.7</c:v>
                </c:pt>
                <c:pt idx="59">
                  <c:v>202.0</c:v>
                </c:pt>
                <c:pt idx="60">
                  <c:v>189.5</c:v>
                </c:pt>
                <c:pt idx="61">
                  <c:v>172.3</c:v>
                </c:pt>
                <c:pt idx="62">
                  <c:v>117.6</c:v>
                </c:pt>
                <c:pt idx="63">
                  <c:v>146.9</c:v>
                </c:pt>
                <c:pt idx="64">
                  <c:v>153.8</c:v>
                </c:pt>
                <c:pt idx="65">
                  <c:v>160.1</c:v>
                </c:pt>
                <c:pt idx="66">
                  <c:v>171.7</c:v>
                </c:pt>
                <c:pt idx="67">
                  <c:v>187.5</c:v>
                </c:pt>
                <c:pt idx="68">
                  <c:v>184.9</c:v>
                </c:pt>
                <c:pt idx="69">
                  <c:v>191.0</c:v>
                </c:pt>
                <c:pt idx="70">
                  <c:v>192.9</c:v>
                </c:pt>
                <c:pt idx="71">
                  <c:v>209.7</c:v>
                </c:pt>
                <c:pt idx="72">
                  <c:v>197.6</c:v>
                </c:pt>
                <c:pt idx="73">
                  <c:v>188.3</c:v>
                </c:pt>
                <c:pt idx="74">
                  <c:v>188.1</c:v>
                </c:pt>
                <c:pt idx="75">
                  <c:v>177.0</c:v>
                </c:pt>
                <c:pt idx="76">
                  <c:v>194.3</c:v>
                </c:pt>
                <c:pt idx="77">
                  <c:v>206.1</c:v>
                </c:pt>
                <c:pt idx="78">
                  <c:v>191.3</c:v>
                </c:pt>
                <c:pt idx="79">
                  <c:v>187.7</c:v>
                </c:pt>
                <c:pt idx="80">
                  <c:v>201.2</c:v>
                </c:pt>
                <c:pt idx="81">
                  <c:v>205.1</c:v>
                </c:pt>
                <c:pt idx="82">
                  <c:v>193.8</c:v>
                </c:pt>
                <c:pt idx="83">
                  <c:v>203.6</c:v>
                </c:pt>
                <c:pt idx="84">
                  <c:v>235.7</c:v>
                </c:pt>
                <c:pt idx="85">
                  <c:v>228.0</c:v>
                </c:pt>
                <c:pt idx="86">
                  <c:v>207.3</c:v>
                </c:pt>
                <c:pt idx="87">
                  <c:v>211.6</c:v>
                </c:pt>
                <c:pt idx="88">
                  <c:v>218.4</c:v>
                </c:pt>
                <c:pt idx="89">
                  <c:v>232.2</c:v>
                </c:pt>
                <c:pt idx="90">
                  <c:v>240.5</c:v>
                </c:pt>
                <c:pt idx="91">
                  <c:v>249.0</c:v>
                </c:pt>
                <c:pt idx="92">
                  <c:v>242.0</c:v>
                </c:pt>
                <c:pt idx="93">
                  <c:v>261.2</c:v>
                </c:pt>
                <c:pt idx="94">
                  <c:v>246.0</c:v>
                </c:pt>
                <c:pt idx="95">
                  <c:v>230.2</c:v>
                </c:pt>
                <c:pt idx="96">
                  <c:v>243.9</c:v>
                </c:pt>
                <c:pt idx="97">
                  <c:v>236.5</c:v>
                </c:pt>
                <c:pt idx="98">
                  <c:v>227.3</c:v>
                </c:pt>
                <c:pt idx="99">
                  <c:v>235.5</c:v>
                </c:pt>
                <c:pt idx="100">
                  <c:v>256.8</c:v>
                </c:pt>
                <c:pt idx="101">
                  <c:v>268.4</c:v>
                </c:pt>
                <c:pt idx="102">
                  <c:v>269.3</c:v>
                </c:pt>
                <c:pt idx="103">
                  <c:v>274.3</c:v>
                </c:pt>
                <c:pt idx="104">
                  <c:v>290.9</c:v>
                </c:pt>
                <c:pt idx="105">
                  <c:v>284.9</c:v>
                </c:pt>
                <c:pt idx="106">
                  <c:v>290.9</c:v>
                </c:pt>
                <c:pt idx="107">
                  <c:v>282.5</c:v>
                </c:pt>
                <c:pt idx="108">
                  <c:v>279.3</c:v>
                </c:pt>
                <c:pt idx="109">
                  <c:v>309.5</c:v>
                </c:pt>
                <c:pt idx="110">
                  <c:v>345.5</c:v>
                </c:pt>
                <c:pt idx="111">
                  <c:v>351.4</c:v>
                </c:pt>
                <c:pt idx="112">
                  <c:v>340.0</c:v>
                </c:pt>
                <c:pt idx="113">
                  <c:v>329.9</c:v>
                </c:pt>
                <c:pt idx="114">
                  <c:v>359.6</c:v>
                </c:pt>
                <c:pt idx="115">
                  <c:v>340.1</c:v>
                </c:pt>
                <c:pt idx="116">
                  <c:v>362.9</c:v>
                </c:pt>
                <c:pt idx="117">
                  <c:v>303.7</c:v>
                </c:pt>
                <c:pt idx="118">
                  <c:v>303.6</c:v>
                </c:pt>
                <c:pt idx="119">
                  <c:v>297.7</c:v>
                </c:pt>
                <c:pt idx="120">
                  <c:v>337.5</c:v>
                </c:pt>
                <c:pt idx="121">
                  <c:v>327.5</c:v>
                </c:pt>
                <c:pt idx="122">
                  <c:v>315.9</c:v>
                </c:pt>
                <c:pt idx="123">
                  <c:v>336.1</c:v>
                </c:pt>
                <c:pt idx="124">
                  <c:v>337.8</c:v>
                </c:pt>
                <c:pt idx="125">
                  <c:v>340.0</c:v>
                </c:pt>
                <c:pt idx="126">
                  <c:v>345.7</c:v>
                </c:pt>
                <c:pt idx="127">
                  <c:v>405.5</c:v>
                </c:pt>
                <c:pt idx="128">
                  <c:v>439.5</c:v>
                </c:pt>
                <c:pt idx="129">
                  <c:v>443.8</c:v>
                </c:pt>
                <c:pt idx="130">
                  <c:v>435.9</c:v>
                </c:pt>
                <c:pt idx="131">
                  <c:v>457.8</c:v>
                </c:pt>
                <c:pt idx="132">
                  <c:v>400.3</c:v>
                </c:pt>
                <c:pt idx="133">
                  <c:v>407.3</c:v>
                </c:pt>
                <c:pt idx="134">
                  <c:v>337.4</c:v>
                </c:pt>
                <c:pt idx="135">
                  <c:v>365.0</c:v>
                </c:pt>
                <c:pt idx="136">
                  <c:v>359.9</c:v>
                </c:pt>
                <c:pt idx="137">
                  <c:v>387.0</c:v>
                </c:pt>
                <c:pt idx="138">
                  <c:v>390.3</c:v>
                </c:pt>
                <c:pt idx="139">
                  <c:v>371.4</c:v>
                </c:pt>
                <c:pt idx="140">
                  <c:v>330.8</c:v>
                </c:pt>
              </c:numCache>
            </c:numRef>
          </c:val>
          <c:smooth val="0"/>
        </c:ser>
        <c:ser>
          <c:idx val="5"/>
          <c:order val="5"/>
          <c:tx>
            <c:strRef>
              <c:f>Sheet1!$G$1</c:f>
              <c:strCache>
                <c:ptCount val="1"/>
                <c:pt idx="0">
                  <c:v>SUNPHARMA</c:v>
                </c:pt>
              </c:strCache>
            </c:strRef>
          </c:tx>
          <c:spPr>
            <a:ln w="19050">
              <a:solidFill>
                <a:srgbClr val="8A8D91"/>
              </a:solidFill>
            </a:ln>
          </c:spPr>
          <c:marker>
            <c:symbol val="none"/>
          </c:marker>
          <c:cat>
            <c:strRef>
              <c:f>Sheet1!$A$2:$A$142</c:f>
              <c:strCache>
                <c:ptCount val="141"/>
                <c:pt idx="0">
                  <c:v>Jan 15</c:v>
                </c:pt>
                <c:pt idx="1">
                  <c:v>Feb 15</c:v>
                </c:pt>
                <c:pt idx="2">
                  <c:v>Mar 15</c:v>
                </c:pt>
                <c:pt idx="3">
                  <c:v>Apr 15</c:v>
                </c:pt>
                <c:pt idx="4">
                  <c:v>May 15</c:v>
                </c:pt>
                <c:pt idx="5">
                  <c:v>Jun 15</c:v>
                </c:pt>
                <c:pt idx="6">
                  <c:v>Jul 15</c:v>
                </c:pt>
                <c:pt idx="7">
                  <c:v>Aug 15</c:v>
                </c:pt>
                <c:pt idx="8">
                  <c:v>Sep 15</c:v>
                </c:pt>
                <c:pt idx="9">
                  <c:v>Oct 15</c:v>
                </c:pt>
                <c:pt idx="10">
                  <c:v>Nov 15</c:v>
                </c:pt>
                <c:pt idx="11">
                  <c:v>Dec 15</c:v>
                </c:pt>
                <c:pt idx="12">
                  <c:v>Jan 16</c:v>
                </c:pt>
                <c:pt idx="13">
                  <c:v>Feb 16</c:v>
                </c:pt>
                <c:pt idx="14">
                  <c:v>Mar 16</c:v>
                </c:pt>
                <c:pt idx="15">
                  <c:v>Apr 16</c:v>
                </c:pt>
                <c:pt idx="16">
                  <c:v>May 16</c:v>
                </c:pt>
                <c:pt idx="17">
                  <c:v>Jun 16</c:v>
                </c:pt>
                <c:pt idx="18">
                  <c:v>Jul 16</c:v>
                </c:pt>
                <c:pt idx="19">
                  <c:v>Aug 16</c:v>
                </c:pt>
                <c:pt idx="20">
                  <c:v>Sep 16</c:v>
                </c:pt>
                <c:pt idx="21">
                  <c:v>Oct 16</c:v>
                </c:pt>
                <c:pt idx="22">
                  <c:v>Nov 16</c:v>
                </c:pt>
                <c:pt idx="23">
                  <c:v>Dec 16</c:v>
                </c:pt>
                <c:pt idx="24">
                  <c:v>Jan 17</c:v>
                </c:pt>
                <c:pt idx="25">
                  <c:v>Feb 17</c:v>
                </c:pt>
                <c:pt idx="26">
                  <c:v>Mar 17</c:v>
                </c:pt>
                <c:pt idx="27">
                  <c:v>Apr 17</c:v>
                </c:pt>
                <c:pt idx="28">
                  <c:v>May 17</c:v>
                </c:pt>
                <c:pt idx="29">
                  <c:v>Jun 17</c:v>
                </c:pt>
                <c:pt idx="30">
                  <c:v>Jul 17</c:v>
                </c:pt>
                <c:pt idx="31">
                  <c:v>Aug 17</c:v>
                </c:pt>
                <c:pt idx="32">
                  <c:v>Sep 17</c:v>
                </c:pt>
                <c:pt idx="33">
                  <c:v>Oct 17</c:v>
                </c:pt>
                <c:pt idx="34">
                  <c:v>Nov 17</c:v>
                </c:pt>
                <c:pt idx="35">
                  <c:v>Dec 17</c:v>
                </c:pt>
                <c:pt idx="36">
                  <c:v>Jan 18</c:v>
                </c:pt>
                <c:pt idx="37">
                  <c:v>Feb 18</c:v>
                </c:pt>
                <c:pt idx="38">
                  <c:v>Mar 18</c:v>
                </c:pt>
                <c:pt idx="39">
                  <c:v>Apr 18</c:v>
                </c:pt>
                <c:pt idx="40">
                  <c:v>May 18</c:v>
                </c:pt>
                <c:pt idx="41">
                  <c:v>Jun 18</c:v>
                </c:pt>
                <c:pt idx="42">
                  <c:v>Jul 18</c:v>
                </c:pt>
                <c:pt idx="43">
                  <c:v>Aug 18</c:v>
                </c:pt>
                <c:pt idx="44">
                  <c:v>Sep 18</c:v>
                </c:pt>
                <c:pt idx="45">
                  <c:v>Oct 18</c:v>
                </c:pt>
                <c:pt idx="46">
                  <c:v>Nov 18</c:v>
                </c:pt>
                <c:pt idx="47">
                  <c:v>Dec 18</c:v>
                </c:pt>
                <c:pt idx="48">
                  <c:v>Jan 19</c:v>
                </c:pt>
                <c:pt idx="49">
                  <c:v>Feb 19</c:v>
                </c:pt>
                <c:pt idx="50">
                  <c:v>Mar 19</c:v>
                </c:pt>
                <c:pt idx="51">
                  <c:v>Apr 19</c:v>
                </c:pt>
                <c:pt idx="52">
                  <c:v>May 19</c:v>
                </c:pt>
                <c:pt idx="53">
                  <c:v>Jun 19</c:v>
                </c:pt>
                <c:pt idx="54">
                  <c:v>Jul 19</c:v>
                </c:pt>
                <c:pt idx="55">
                  <c:v>Aug 19</c:v>
                </c:pt>
                <c:pt idx="56">
                  <c:v>Sep 19</c:v>
                </c:pt>
                <c:pt idx="57">
                  <c:v>Oct 19</c:v>
                </c:pt>
                <c:pt idx="58">
                  <c:v>Nov 19</c:v>
                </c:pt>
                <c:pt idx="59">
                  <c:v>Dec 19</c:v>
                </c:pt>
                <c:pt idx="60">
                  <c:v>Jan 20</c:v>
                </c:pt>
                <c:pt idx="61">
                  <c:v>Feb 20</c:v>
                </c:pt>
                <c:pt idx="62">
                  <c:v>Mar 20</c:v>
                </c:pt>
                <c:pt idx="63">
                  <c:v>Apr 20</c:v>
                </c:pt>
                <c:pt idx="64">
                  <c:v>May 20</c:v>
                </c:pt>
                <c:pt idx="65">
                  <c:v>Jun 20</c:v>
                </c:pt>
                <c:pt idx="66">
                  <c:v>Jul 20</c:v>
                </c:pt>
                <c:pt idx="67">
                  <c:v>Aug 20</c:v>
                </c:pt>
                <c:pt idx="68">
                  <c:v>Sep 20</c:v>
                </c:pt>
                <c:pt idx="69">
                  <c:v>Oct 20</c:v>
                </c:pt>
                <c:pt idx="70">
                  <c:v>Nov 20</c:v>
                </c:pt>
                <c:pt idx="71">
                  <c:v>Dec 20</c:v>
                </c:pt>
                <c:pt idx="72">
                  <c:v>Jan 21</c:v>
                </c:pt>
                <c:pt idx="73">
                  <c:v>Feb 21</c:v>
                </c:pt>
                <c:pt idx="74">
                  <c:v>Mar 21</c:v>
                </c:pt>
                <c:pt idx="75">
                  <c:v>Apr 21</c:v>
                </c:pt>
                <c:pt idx="76">
                  <c:v>May 21</c:v>
                </c:pt>
                <c:pt idx="77">
                  <c:v>Jun 21</c:v>
                </c:pt>
                <c:pt idx="78">
                  <c:v>Jul 21</c:v>
                </c:pt>
                <c:pt idx="79">
                  <c:v>Aug 21</c:v>
                </c:pt>
                <c:pt idx="80">
                  <c:v>Sep 21</c:v>
                </c:pt>
                <c:pt idx="81">
                  <c:v>Oct 21</c:v>
                </c:pt>
                <c:pt idx="82">
                  <c:v>Nov 21</c:v>
                </c:pt>
                <c:pt idx="83">
                  <c:v>Dec 21</c:v>
                </c:pt>
                <c:pt idx="84">
                  <c:v>Jan 22</c:v>
                </c:pt>
                <c:pt idx="85">
                  <c:v>Feb 22</c:v>
                </c:pt>
                <c:pt idx="86">
                  <c:v>Mar 22</c:v>
                </c:pt>
                <c:pt idx="87">
                  <c:v>Apr 22</c:v>
                </c:pt>
                <c:pt idx="88">
                  <c:v>May 22</c:v>
                </c:pt>
                <c:pt idx="89">
                  <c:v>Jun 22</c:v>
                </c:pt>
                <c:pt idx="90">
                  <c:v>Jul 22</c:v>
                </c:pt>
                <c:pt idx="91">
                  <c:v>Aug 22</c:v>
                </c:pt>
                <c:pt idx="92">
                  <c:v>Sep 22</c:v>
                </c:pt>
                <c:pt idx="93">
                  <c:v>Oct 22</c:v>
                </c:pt>
                <c:pt idx="94">
                  <c:v>Nov 22</c:v>
                </c:pt>
                <c:pt idx="95">
                  <c:v>Dec 22</c:v>
                </c:pt>
                <c:pt idx="96">
                  <c:v>Jan 23</c:v>
                </c:pt>
                <c:pt idx="97">
                  <c:v>Feb 23</c:v>
                </c:pt>
                <c:pt idx="98">
                  <c:v>Mar 23</c:v>
                </c:pt>
                <c:pt idx="99">
                  <c:v>Apr 23</c:v>
                </c:pt>
                <c:pt idx="100">
                  <c:v>May 23</c:v>
                </c:pt>
                <c:pt idx="101">
                  <c:v>Jun 23</c:v>
                </c:pt>
                <c:pt idx="102">
                  <c:v>Jul 23</c:v>
                </c:pt>
                <c:pt idx="103">
                  <c:v>Aug 23</c:v>
                </c:pt>
                <c:pt idx="104">
                  <c:v>Sep 23</c:v>
                </c:pt>
                <c:pt idx="105">
                  <c:v>Oct 23</c:v>
                </c:pt>
                <c:pt idx="106">
                  <c:v>Nov 23</c:v>
                </c:pt>
                <c:pt idx="107">
                  <c:v>Dec 23</c:v>
                </c:pt>
                <c:pt idx="108">
                  <c:v>Jan 24</c:v>
                </c:pt>
                <c:pt idx="109">
                  <c:v>Feb 24</c:v>
                </c:pt>
                <c:pt idx="110">
                  <c:v>Mar 24</c:v>
                </c:pt>
                <c:pt idx="111">
                  <c:v>Apr 24</c:v>
                </c:pt>
                <c:pt idx="112">
                  <c:v>May 24</c:v>
                </c:pt>
                <c:pt idx="113">
                  <c:v>Jun 24</c:v>
                </c:pt>
                <c:pt idx="114">
                  <c:v>Jul 24</c:v>
                </c:pt>
                <c:pt idx="115">
                  <c:v>Aug 24</c:v>
                </c:pt>
                <c:pt idx="116">
                  <c:v>Sep 24</c:v>
                </c:pt>
                <c:pt idx="117">
                  <c:v>Oct 24</c:v>
                </c:pt>
                <c:pt idx="118">
                  <c:v>Nov 24</c:v>
                </c:pt>
                <c:pt idx="119">
                  <c:v>Dec 24</c:v>
                </c:pt>
                <c:pt idx="120">
                  <c:v>Jan 25</c:v>
                </c:pt>
                <c:pt idx="121">
                  <c:v>Feb 25</c:v>
                </c:pt>
                <c:pt idx="122">
                  <c:v>Mar 25</c:v>
                </c:pt>
                <c:pt idx="123">
                  <c:v>Apr 25</c:v>
                </c:pt>
                <c:pt idx="124">
                  <c:v>May 25</c:v>
                </c:pt>
                <c:pt idx="125">
                  <c:v>Jun 25</c:v>
                </c:pt>
                <c:pt idx="126">
                  <c:v>Jul 25</c:v>
                </c:pt>
                <c:pt idx="127">
                  <c:v>Aug 25</c:v>
                </c:pt>
                <c:pt idx="128">
                  <c:v>Sep 25</c:v>
                </c:pt>
                <c:pt idx="129">
                  <c:v>Oct 25</c:v>
                </c:pt>
                <c:pt idx="130">
                  <c:v>Nov 25</c:v>
                </c:pt>
                <c:pt idx="131">
                  <c:v>Dec 25</c:v>
                </c:pt>
                <c:pt idx="132">
                  <c:v>Jan 26</c:v>
                </c:pt>
                <c:pt idx="133">
                  <c:v>Feb 26</c:v>
                </c:pt>
                <c:pt idx="134">
                  <c:v>Mar 26</c:v>
                </c:pt>
                <c:pt idx="135">
                  <c:v>Apr 26</c:v>
                </c:pt>
                <c:pt idx="136">
                  <c:v>May 26</c:v>
                </c:pt>
                <c:pt idx="137">
                  <c:v>Jun 26</c:v>
                </c:pt>
                <c:pt idx="138">
                  <c:v>Jul 26</c:v>
                </c:pt>
                <c:pt idx="139">
                  <c:v>Aug 26</c:v>
                </c:pt>
                <c:pt idx="140">
                  <c:v>Sep 26</c:v>
                </c:pt>
              </c:strCache>
            </c:strRef>
          </c:cat>
          <c:val>
            <c:numRef>
              <c:f>Sheet1!$G$2:$G$142</c:f>
              <c:numCache>
                <c:formatCode>General</c:formatCode>
                <c:ptCount val="141"/>
                <c:pt idx="0">
                  <c:v>100.0</c:v>
                </c:pt>
                <c:pt idx="1">
                  <c:v>99.3</c:v>
                </c:pt>
                <c:pt idx="2">
                  <c:v>111.6</c:v>
                </c:pt>
                <c:pt idx="3">
                  <c:v>102.3</c:v>
                </c:pt>
                <c:pt idx="4">
                  <c:v>105.3</c:v>
                </c:pt>
                <c:pt idx="5">
                  <c:v>95.3</c:v>
                </c:pt>
                <c:pt idx="6">
                  <c:v>89.6</c:v>
                </c:pt>
                <c:pt idx="7">
                  <c:v>98.0</c:v>
                </c:pt>
                <c:pt idx="8">
                  <c:v>94.6</c:v>
                </c:pt>
                <c:pt idx="9">
                  <c:v>96.9</c:v>
                </c:pt>
                <c:pt idx="10">
                  <c:v>79.5</c:v>
                </c:pt>
                <c:pt idx="11">
                  <c:v>89.4</c:v>
                </c:pt>
                <c:pt idx="12">
                  <c:v>95.1</c:v>
                </c:pt>
                <c:pt idx="13">
                  <c:v>93.0</c:v>
                </c:pt>
                <c:pt idx="14">
                  <c:v>89.3</c:v>
                </c:pt>
                <c:pt idx="15">
                  <c:v>88.4</c:v>
                </c:pt>
                <c:pt idx="16">
                  <c:v>83.1</c:v>
                </c:pt>
                <c:pt idx="17">
                  <c:v>83.1</c:v>
                </c:pt>
                <c:pt idx="18">
                  <c:v>90.4</c:v>
                </c:pt>
                <c:pt idx="19">
                  <c:v>84.5</c:v>
                </c:pt>
                <c:pt idx="20">
                  <c:v>80.9</c:v>
                </c:pt>
                <c:pt idx="21">
                  <c:v>81.5</c:v>
                </c:pt>
                <c:pt idx="22">
                  <c:v>77.3</c:v>
                </c:pt>
                <c:pt idx="23">
                  <c:v>68.6</c:v>
                </c:pt>
                <c:pt idx="24">
                  <c:v>68.8</c:v>
                </c:pt>
                <c:pt idx="25">
                  <c:v>74.0</c:v>
                </c:pt>
                <c:pt idx="26">
                  <c:v>75.0</c:v>
                </c:pt>
                <c:pt idx="27">
                  <c:v>69.9</c:v>
                </c:pt>
                <c:pt idx="28">
                  <c:v>54.7</c:v>
                </c:pt>
                <c:pt idx="29">
                  <c:v>60.6</c:v>
                </c:pt>
                <c:pt idx="30">
                  <c:v>57.9</c:v>
                </c:pt>
                <c:pt idx="31">
                  <c:v>52.4</c:v>
                </c:pt>
                <c:pt idx="32">
                  <c:v>54.8</c:v>
                </c:pt>
                <c:pt idx="33">
                  <c:v>60.2</c:v>
                </c:pt>
                <c:pt idx="34">
                  <c:v>58.8</c:v>
                </c:pt>
                <c:pt idx="35">
                  <c:v>62.2</c:v>
                </c:pt>
                <c:pt idx="36">
                  <c:v>63.2</c:v>
                </c:pt>
                <c:pt idx="37">
                  <c:v>58.3</c:v>
                </c:pt>
                <c:pt idx="38">
                  <c:v>53.9</c:v>
                </c:pt>
                <c:pt idx="39">
                  <c:v>57.6</c:v>
                </c:pt>
                <c:pt idx="40">
                  <c:v>52.3</c:v>
                </c:pt>
                <c:pt idx="41">
                  <c:v>61.5</c:v>
                </c:pt>
                <c:pt idx="42">
                  <c:v>61.9</c:v>
                </c:pt>
                <c:pt idx="43">
                  <c:v>71.1</c:v>
                </c:pt>
                <c:pt idx="44">
                  <c:v>67.9</c:v>
                </c:pt>
                <c:pt idx="45">
                  <c:v>63.2</c:v>
                </c:pt>
                <c:pt idx="46">
                  <c:v>53.7</c:v>
                </c:pt>
                <c:pt idx="47">
                  <c:v>46.9</c:v>
                </c:pt>
                <c:pt idx="48">
                  <c:v>46.1</c:v>
                </c:pt>
                <c:pt idx="49">
                  <c:v>48.5</c:v>
                </c:pt>
                <c:pt idx="50">
                  <c:v>52.2</c:v>
                </c:pt>
                <c:pt idx="51">
                  <c:v>49.9</c:v>
                </c:pt>
                <c:pt idx="52">
                  <c:v>44.7</c:v>
                </c:pt>
                <c:pt idx="53">
                  <c:v>43.7</c:v>
                </c:pt>
                <c:pt idx="54">
                  <c:v>46.5</c:v>
                </c:pt>
                <c:pt idx="55">
                  <c:v>49.1</c:v>
                </c:pt>
                <c:pt idx="56">
                  <c:v>42.4</c:v>
                </c:pt>
                <c:pt idx="57">
                  <c:v>47.2</c:v>
                </c:pt>
                <c:pt idx="58">
                  <c:v>49.0</c:v>
                </c:pt>
                <c:pt idx="59">
                  <c:v>47.1</c:v>
                </c:pt>
                <c:pt idx="60">
                  <c:v>47.3</c:v>
                </c:pt>
                <c:pt idx="61">
                  <c:v>40.6</c:v>
                </c:pt>
                <c:pt idx="62">
                  <c:v>38.4</c:v>
                </c:pt>
                <c:pt idx="63">
                  <c:v>50.6</c:v>
                </c:pt>
                <c:pt idx="64">
                  <c:v>51.7</c:v>
                </c:pt>
                <c:pt idx="65">
                  <c:v>51.5</c:v>
                </c:pt>
                <c:pt idx="66">
                  <c:v>57.9</c:v>
                </c:pt>
                <c:pt idx="67">
                  <c:v>56.7</c:v>
                </c:pt>
                <c:pt idx="68">
                  <c:v>54.5</c:v>
                </c:pt>
                <c:pt idx="69">
                  <c:v>50.7</c:v>
                </c:pt>
                <c:pt idx="70">
                  <c:v>55.8</c:v>
                </c:pt>
                <c:pt idx="71">
                  <c:v>64.5</c:v>
                </c:pt>
                <c:pt idx="72">
                  <c:v>63.9</c:v>
                </c:pt>
                <c:pt idx="73">
                  <c:v>64.8</c:v>
                </c:pt>
                <c:pt idx="74">
                  <c:v>65.1</c:v>
                </c:pt>
                <c:pt idx="75">
                  <c:v>71.3</c:v>
                </c:pt>
                <c:pt idx="76">
                  <c:v>72.8</c:v>
                </c:pt>
                <c:pt idx="77">
                  <c:v>73.6</c:v>
                </c:pt>
                <c:pt idx="78">
                  <c:v>84.3</c:v>
                </c:pt>
                <c:pt idx="79">
                  <c:v>86.5</c:v>
                </c:pt>
                <c:pt idx="80">
                  <c:v>89.2</c:v>
                </c:pt>
                <c:pt idx="81">
                  <c:v>86.6</c:v>
                </c:pt>
                <c:pt idx="82">
                  <c:v>82.1</c:v>
                </c:pt>
                <c:pt idx="83">
                  <c:v>92.1</c:v>
                </c:pt>
                <c:pt idx="84">
                  <c:v>90.9</c:v>
                </c:pt>
                <c:pt idx="85">
                  <c:v>92.0</c:v>
                </c:pt>
                <c:pt idx="86">
                  <c:v>99.7</c:v>
                </c:pt>
                <c:pt idx="87">
                  <c:v>101.2</c:v>
                </c:pt>
                <c:pt idx="88">
                  <c:v>93.8</c:v>
                </c:pt>
                <c:pt idx="89">
                  <c:v>90.5</c:v>
                </c:pt>
                <c:pt idx="90">
                  <c:v>102.8</c:v>
                </c:pt>
                <c:pt idx="91">
                  <c:v>97.3</c:v>
                </c:pt>
                <c:pt idx="92">
                  <c:v>103.4</c:v>
                </c:pt>
                <c:pt idx="93">
                  <c:v>110.8</c:v>
                </c:pt>
                <c:pt idx="94">
                  <c:v>114.0</c:v>
                </c:pt>
                <c:pt idx="95">
                  <c:v>109.1</c:v>
                </c:pt>
                <c:pt idx="96">
                  <c:v>112.7</c:v>
                </c:pt>
                <c:pt idx="97">
                  <c:v>104.2</c:v>
                </c:pt>
                <c:pt idx="98">
                  <c:v>107.1</c:v>
                </c:pt>
                <c:pt idx="99">
                  <c:v>107.6</c:v>
                </c:pt>
                <c:pt idx="100">
                  <c:v>106.3</c:v>
                </c:pt>
                <c:pt idx="101">
                  <c:v>114.6</c:v>
                </c:pt>
                <c:pt idx="102">
                  <c:v>124.6</c:v>
                </c:pt>
                <c:pt idx="103">
                  <c:v>121.1</c:v>
                </c:pt>
                <c:pt idx="104">
                  <c:v>126.2</c:v>
                </c:pt>
                <c:pt idx="105">
                  <c:v>118.6</c:v>
                </c:pt>
                <c:pt idx="106">
                  <c:v>133.6</c:v>
                </c:pt>
                <c:pt idx="107">
                  <c:v>137.2</c:v>
                </c:pt>
                <c:pt idx="108">
                  <c:v>154.6</c:v>
                </c:pt>
                <c:pt idx="109">
                  <c:v>171.9</c:v>
                </c:pt>
                <c:pt idx="110">
                  <c:v>176.6</c:v>
                </c:pt>
                <c:pt idx="111">
                  <c:v>163.7</c:v>
                </c:pt>
                <c:pt idx="112">
                  <c:v>159.1</c:v>
                </c:pt>
                <c:pt idx="113">
                  <c:v>165.7</c:v>
                </c:pt>
                <c:pt idx="114">
                  <c:v>187.3</c:v>
                </c:pt>
                <c:pt idx="115">
                  <c:v>198.5</c:v>
                </c:pt>
                <c:pt idx="116">
                  <c:v>209.9</c:v>
                </c:pt>
                <c:pt idx="117">
                  <c:v>201.5</c:v>
                </c:pt>
                <c:pt idx="118">
                  <c:v>194.1</c:v>
                </c:pt>
                <c:pt idx="119">
                  <c:v>205.5</c:v>
                </c:pt>
                <c:pt idx="120">
                  <c:v>190.0</c:v>
                </c:pt>
                <c:pt idx="121">
                  <c:v>173.6</c:v>
                </c:pt>
                <c:pt idx="122">
                  <c:v>189.0</c:v>
                </c:pt>
                <c:pt idx="123">
                  <c:v>199.7</c:v>
                </c:pt>
                <c:pt idx="124">
                  <c:v>182.8</c:v>
                </c:pt>
                <c:pt idx="125">
                  <c:v>182.6</c:v>
                </c:pt>
                <c:pt idx="126">
                  <c:v>186.0</c:v>
                </c:pt>
                <c:pt idx="127">
                  <c:v>173.7</c:v>
                </c:pt>
                <c:pt idx="128">
                  <c:v>173.7</c:v>
                </c:pt>
                <c:pt idx="129">
                  <c:v>184.2</c:v>
                </c:pt>
                <c:pt idx="130">
                  <c:v>199.6</c:v>
                </c:pt>
                <c:pt idx="131">
                  <c:v>187.4</c:v>
                </c:pt>
                <c:pt idx="132">
                  <c:v>173.8</c:v>
                </c:pt>
                <c:pt idx="133">
                  <c:v>189.3</c:v>
                </c:pt>
                <c:pt idx="134">
                  <c:v>191.5</c:v>
                </c:pt>
                <c:pt idx="135">
                  <c:v>197.0</c:v>
                </c:pt>
                <c:pt idx="136">
                  <c:v>196.0</c:v>
                </c:pt>
                <c:pt idx="137">
                  <c:v>202.9</c:v>
                </c:pt>
                <c:pt idx="138">
                  <c:v>216.9</c:v>
                </c:pt>
                <c:pt idx="139">
                  <c:v>216.3</c:v>
                </c:pt>
                <c:pt idx="140">
                  <c:v>201.8</c:v>
                </c:pt>
              </c:numCache>
            </c:numRef>
          </c:val>
          <c:smooth val="0"/>
        </c:ser>
        <c:ser>
          <c:idx val="6"/>
          <c:order val="6"/>
          <c:tx>
            <c:strRef>
              <c:f>Sheet1!$H$1</c:f>
              <c:strCache>
                <c:ptCount val="1"/>
                <c:pt idx="0">
                  <c:v>LT</c:v>
                </c:pt>
              </c:strCache>
            </c:strRef>
          </c:tx>
          <c:spPr>
            <a:ln w="19050">
              <a:solidFill>
                <a:srgbClr val="3AEFCC"/>
              </a:solidFill>
            </a:ln>
          </c:spPr>
          <c:marker>
            <c:symbol val="none"/>
          </c:marker>
          <c:cat>
            <c:strRef>
              <c:f>Sheet1!$A$2:$A$142</c:f>
              <c:strCache>
                <c:ptCount val="141"/>
                <c:pt idx="0">
                  <c:v>Jan 15</c:v>
                </c:pt>
                <c:pt idx="1">
                  <c:v>Feb 15</c:v>
                </c:pt>
                <c:pt idx="2">
                  <c:v>Mar 15</c:v>
                </c:pt>
                <c:pt idx="3">
                  <c:v>Apr 15</c:v>
                </c:pt>
                <c:pt idx="4">
                  <c:v>May 15</c:v>
                </c:pt>
                <c:pt idx="5">
                  <c:v>Jun 15</c:v>
                </c:pt>
                <c:pt idx="6">
                  <c:v>Jul 15</c:v>
                </c:pt>
                <c:pt idx="7">
                  <c:v>Aug 15</c:v>
                </c:pt>
                <c:pt idx="8">
                  <c:v>Sep 15</c:v>
                </c:pt>
                <c:pt idx="9">
                  <c:v>Oct 15</c:v>
                </c:pt>
                <c:pt idx="10">
                  <c:v>Nov 15</c:v>
                </c:pt>
                <c:pt idx="11">
                  <c:v>Dec 15</c:v>
                </c:pt>
                <c:pt idx="12">
                  <c:v>Jan 16</c:v>
                </c:pt>
                <c:pt idx="13">
                  <c:v>Feb 16</c:v>
                </c:pt>
                <c:pt idx="14">
                  <c:v>Mar 16</c:v>
                </c:pt>
                <c:pt idx="15">
                  <c:v>Apr 16</c:v>
                </c:pt>
                <c:pt idx="16">
                  <c:v>May 16</c:v>
                </c:pt>
                <c:pt idx="17">
                  <c:v>Jun 16</c:v>
                </c:pt>
                <c:pt idx="18">
                  <c:v>Jul 16</c:v>
                </c:pt>
                <c:pt idx="19">
                  <c:v>Aug 16</c:v>
                </c:pt>
                <c:pt idx="20">
                  <c:v>Sep 16</c:v>
                </c:pt>
                <c:pt idx="21">
                  <c:v>Oct 16</c:v>
                </c:pt>
                <c:pt idx="22">
                  <c:v>Nov 16</c:v>
                </c:pt>
                <c:pt idx="23">
                  <c:v>Dec 16</c:v>
                </c:pt>
                <c:pt idx="24">
                  <c:v>Jan 17</c:v>
                </c:pt>
                <c:pt idx="25">
                  <c:v>Feb 17</c:v>
                </c:pt>
                <c:pt idx="26">
                  <c:v>Mar 17</c:v>
                </c:pt>
                <c:pt idx="27">
                  <c:v>Apr 17</c:v>
                </c:pt>
                <c:pt idx="28">
                  <c:v>May 17</c:v>
                </c:pt>
                <c:pt idx="29">
                  <c:v>Jun 17</c:v>
                </c:pt>
                <c:pt idx="30">
                  <c:v>Jul 17</c:v>
                </c:pt>
                <c:pt idx="31">
                  <c:v>Aug 17</c:v>
                </c:pt>
                <c:pt idx="32">
                  <c:v>Sep 17</c:v>
                </c:pt>
                <c:pt idx="33">
                  <c:v>Oct 17</c:v>
                </c:pt>
                <c:pt idx="34">
                  <c:v>Nov 17</c:v>
                </c:pt>
                <c:pt idx="35">
                  <c:v>Dec 17</c:v>
                </c:pt>
                <c:pt idx="36">
                  <c:v>Jan 18</c:v>
                </c:pt>
                <c:pt idx="37">
                  <c:v>Feb 18</c:v>
                </c:pt>
                <c:pt idx="38">
                  <c:v>Mar 18</c:v>
                </c:pt>
                <c:pt idx="39">
                  <c:v>Apr 18</c:v>
                </c:pt>
                <c:pt idx="40">
                  <c:v>May 18</c:v>
                </c:pt>
                <c:pt idx="41">
                  <c:v>Jun 18</c:v>
                </c:pt>
                <c:pt idx="42">
                  <c:v>Jul 18</c:v>
                </c:pt>
                <c:pt idx="43">
                  <c:v>Aug 18</c:v>
                </c:pt>
                <c:pt idx="44">
                  <c:v>Sep 18</c:v>
                </c:pt>
                <c:pt idx="45">
                  <c:v>Oct 18</c:v>
                </c:pt>
                <c:pt idx="46">
                  <c:v>Nov 18</c:v>
                </c:pt>
                <c:pt idx="47">
                  <c:v>Dec 18</c:v>
                </c:pt>
                <c:pt idx="48">
                  <c:v>Jan 19</c:v>
                </c:pt>
                <c:pt idx="49">
                  <c:v>Feb 19</c:v>
                </c:pt>
                <c:pt idx="50">
                  <c:v>Mar 19</c:v>
                </c:pt>
                <c:pt idx="51">
                  <c:v>Apr 19</c:v>
                </c:pt>
                <c:pt idx="52">
                  <c:v>May 19</c:v>
                </c:pt>
                <c:pt idx="53">
                  <c:v>Jun 19</c:v>
                </c:pt>
                <c:pt idx="54">
                  <c:v>Jul 19</c:v>
                </c:pt>
                <c:pt idx="55">
                  <c:v>Aug 19</c:v>
                </c:pt>
                <c:pt idx="56">
                  <c:v>Sep 19</c:v>
                </c:pt>
                <c:pt idx="57">
                  <c:v>Oct 19</c:v>
                </c:pt>
                <c:pt idx="58">
                  <c:v>Nov 19</c:v>
                </c:pt>
                <c:pt idx="59">
                  <c:v>Dec 19</c:v>
                </c:pt>
                <c:pt idx="60">
                  <c:v>Jan 20</c:v>
                </c:pt>
                <c:pt idx="61">
                  <c:v>Feb 20</c:v>
                </c:pt>
                <c:pt idx="62">
                  <c:v>Mar 20</c:v>
                </c:pt>
                <c:pt idx="63">
                  <c:v>Apr 20</c:v>
                </c:pt>
                <c:pt idx="64">
                  <c:v>May 20</c:v>
                </c:pt>
                <c:pt idx="65">
                  <c:v>Jun 20</c:v>
                </c:pt>
                <c:pt idx="66">
                  <c:v>Jul 20</c:v>
                </c:pt>
                <c:pt idx="67">
                  <c:v>Aug 20</c:v>
                </c:pt>
                <c:pt idx="68">
                  <c:v>Sep 20</c:v>
                </c:pt>
                <c:pt idx="69">
                  <c:v>Oct 20</c:v>
                </c:pt>
                <c:pt idx="70">
                  <c:v>Nov 20</c:v>
                </c:pt>
                <c:pt idx="71">
                  <c:v>Dec 20</c:v>
                </c:pt>
                <c:pt idx="72">
                  <c:v>Jan 21</c:v>
                </c:pt>
                <c:pt idx="73">
                  <c:v>Feb 21</c:v>
                </c:pt>
                <c:pt idx="74">
                  <c:v>Mar 21</c:v>
                </c:pt>
                <c:pt idx="75">
                  <c:v>Apr 21</c:v>
                </c:pt>
                <c:pt idx="76">
                  <c:v>May 21</c:v>
                </c:pt>
                <c:pt idx="77">
                  <c:v>Jun 21</c:v>
                </c:pt>
                <c:pt idx="78">
                  <c:v>Jul 21</c:v>
                </c:pt>
                <c:pt idx="79">
                  <c:v>Aug 21</c:v>
                </c:pt>
                <c:pt idx="80">
                  <c:v>Sep 21</c:v>
                </c:pt>
                <c:pt idx="81">
                  <c:v>Oct 21</c:v>
                </c:pt>
                <c:pt idx="82">
                  <c:v>Nov 21</c:v>
                </c:pt>
                <c:pt idx="83">
                  <c:v>Dec 21</c:v>
                </c:pt>
                <c:pt idx="84">
                  <c:v>Jan 22</c:v>
                </c:pt>
                <c:pt idx="85">
                  <c:v>Feb 22</c:v>
                </c:pt>
                <c:pt idx="86">
                  <c:v>Mar 22</c:v>
                </c:pt>
                <c:pt idx="87">
                  <c:v>Apr 22</c:v>
                </c:pt>
                <c:pt idx="88">
                  <c:v>May 22</c:v>
                </c:pt>
                <c:pt idx="89">
                  <c:v>Jun 22</c:v>
                </c:pt>
                <c:pt idx="90">
                  <c:v>Jul 22</c:v>
                </c:pt>
                <c:pt idx="91">
                  <c:v>Aug 22</c:v>
                </c:pt>
                <c:pt idx="92">
                  <c:v>Sep 22</c:v>
                </c:pt>
                <c:pt idx="93">
                  <c:v>Oct 22</c:v>
                </c:pt>
                <c:pt idx="94">
                  <c:v>Nov 22</c:v>
                </c:pt>
                <c:pt idx="95">
                  <c:v>Dec 22</c:v>
                </c:pt>
                <c:pt idx="96">
                  <c:v>Jan 23</c:v>
                </c:pt>
                <c:pt idx="97">
                  <c:v>Feb 23</c:v>
                </c:pt>
                <c:pt idx="98">
                  <c:v>Mar 23</c:v>
                </c:pt>
                <c:pt idx="99">
                  <c:v>Apr 23</c:v>
                </c:pt>
                <c:pt idx="100">
                  <c:v>May 23</c:v>
                </c:pt>
                <c:pt idx="101">
                  <c:v>Jun 23</c:v>
                </c:pt>
                <c:pt idx="102">
                  <c:v>Jul 23</c:v>
                </c:pt>
                <c:pt idx="103">
                  <c:v>Aug 23</c:v>
                </c:pt>
                <c:pt idx="104">
                  <c:v>Sep 23</c:v>
                </c:pt>
                <c:pt idx="105">
                  <c:v>Oct 23</c:v>
                </c:pt>
                <c:pt idx="106">
                  <c:v>Nov 23</c:v>
                </c:pt>
                <c:pt idx="107">
                  <c:v>Dec 23</c:v>
                </c:pt>
                <c:pt idx="108">
                  <c:v>Jan 24</c:v>
                </c:pt>
                <c:pt idx="109">
                  <c:v>Feb 24</c:v>
                </c:pt>
                <c:pt idx="110">
                  <c:v>Mar 24</c:v>
                </c:pt>
                <c:pt idx="111">
                  <c:v>Apr 24</c:v>
                </c:pt>
                <c:pt idx="112">
                  <c:v>May 24</c:v>
                </c:pt>
                <c:pt idx="113">
                  <c:v>Jun 24</c:v>
                </c:pt>
                <c:pt idx="114">
                  <c:v>Jul 24</c:v>
                </c:pt>
                <c:pt idx="115">
                  <c:v>Aug 24</c:v>
                </c:pt>
                <c:pt idx="116">
                  <c:v>Sep 24</c:v>
                </c:pt>
                <c:pt idx="117">
                  <c:v>Oct 24</c:v>
                </c:pt>
                <c:pt idx="118">
                  <c:v>Nov 24</c:v>
                </c:pt>
                <c:pt idx="119">
                  <c:v>Dec 24</c:v>
                </c:pt>
                <c:pt idx="120">
                  <c:v>Jan 25</c:v>
                </c:pt>
                <c:pt idx="121">
                  <c:v>Feb 25</c:v>
                </c:pt>
                <c:pt idx="122">
                  <c:v>Mar 25</c:v>
                </c:pt>
                <c:pt idx="123">
                  <c:v>Apr 25</c:v>
                </c:pt>
                <c:pt idx="124">
                  <c:v>May 25</c:v>
                </c:pt>
                <c:pt idx="125">
                  <c:v>Jun 25</c:v>
                </c:pt>
                <c:pt idx="126">
                  <c:v>Jul 25</c:v>
                </c:pt>
                <c:pt idx="127">
                  <c:v>Aug 25</c:v>
                </c:pt>
                <c:pt idx="128">
                  <c:v>Sep 25</c:v>
                </c:pt>
                <c:pt idx="129">
                  <c:v>Oct 25</c:v>
                </c:pt>
                <c:pt idx="130">
                  <c:v>Nov 25</c:v>
                </c:pt>
                <c:pt idx="131">
                  <c:v>Dec 25</c:v>
                </c:pt>
                <c:pt idx="132">
                  <c:v>Jan 26</c:v>
                </c:pt>
                <c:pt idx="133">
                  <c:v>Feb 26</c:v>
                </c:pt>
                <c:pt idx="134">
                  <c:v>Mar 26</c:v>
                </c:pt>
                <c:pt idx="135">
                  <c:v>Apr 26</c:v>
                </c:pt>
                <c:pt idx="136">
                  <c:v>May 26</c:v>
                </c:pt>
                <c:pt idx="137">
                  <c:v>Jun 26</c:v>
                </c:pt>
                <c:pt idx="138">
                  <c:v>Jul 26</c:v>
                </c:pt>
                <c:pt idx="139">
                  <c:v>Aug 26</c:v>
                </c:pt>
                <c:pt idx="140">
                  <c:v>Sep 26</c:v>
                </c:pt>
              </c:strCache>
            </c:strRef>
          </c:cat>
          <c:val>
            <c:numRef>
              <c:f>Sheet1!$H$2:$H$142</c:f>
              <c:numCache>
                <c:formatCode>General</c:formatCode>
                <c:ptCount val="141"/>
                <c:pt idx="0">
                  <c:v>100.0</c:v>
                </c:pt>
                <c:pt idx="1">
                  <c:v>104.0</c:v>
                </c:pt>
                <c:pt idx="2">
                  <c:v>101.1</c:v>
                </c:pt>
                <c:pt idx="3">
                  <c:v>95.9</c:v>
                </c:pt>
                <c:pt idx="4">
                  <c:v>97.3</c:v>
                </c:pt>
                <c:pt idx="5">
                  <c:v>104.8</c:v>
                </c:pt>
                <c:pt idx="6">
                  <c:v>105.3</c:v>
                </c:pt>
                <c:pt idx="7">
                  <c:v>94.3</c:v>
                </c:pt>
                <c:pt idx="8">
                  <c:v>86.2</c:v>
                </c:pt>
                <c:pt idx="9">
                  <c:v>83.0</c:v>
                </c:pt>
                <c:pt idx="10">
                  <c:v>80.8</c:v>
                </c:pt>
                <c:pt idx="11">
                  <c:v>75.0</c:v>
                </c:pt>
                <c:pt idx="12">
                  <c:v>64.8</c:v>
                </c:pt>
                <c:pt idx="13">
                  <c:v>63.3</c:v>
                </c:pt>
                <c:pt idx="14">
                  <c:v>71.5</c:v>
                </c:pt>
                <c:pt idx="15">
                  <c:v>73.8</c:v>
                </c:pt>
                <c:pt idx="16">
                  <c:v>86.6</c:v>
                </c:pt>
                <c:pt idx="17">
                  <c:v>88.0</c:v>
                </c:pt>
                <c:pt idx="18">
                  <c:v>91.7</c:v>
                </c:pt>
                <c:pt idx="19">
                  <c:v>89.0</c:v>
                </c:pt>
                <c:pt idx="20">
                  <c:v>84.3</c:v>
                </c:pt>
                <c:pt idx="21">
                  <c:v>86.8</c:v>
                </c:pt>
                <c:pt idx="22">
                  <c:v>81.3</c:v>
                </c:pt>
                <c:pt idx="23">
                  <c:v>79.3</c:v>
                </c:pt>
                <c:pt idx="24">
                  <c:v>85.0</c:v>
                </c:pt>
                <c:pt idx="25">
                  <c:v>86.4</c:v>
                </c:pt>
                <c:pt idx="26">
                  <c:v>92.6</c:v>
                </c:pt>
                <c:pt idx="27">
                  <c:v>102.9</c:v>
                </c:pt>
                <c:pt idx="28">
                  <c:v>103.5</c:v>
                </c:pt>
                <c:pt idx="29">
                  <c:v>99.2</c:v>
                </c:pt>
                <c:pt idx="30">
                  <c:v>105.3</c:v>
                </c:pt>
                <c:pt idx="31">
                  <c:v>100.2</c:v>
                </c:pt>
                <c:pt idx="32">
                  <c:v>100.7</c:v>
                </c:pt>
                <c:pt idx="33">
                  <c:v>107.8</c:v>
                </c:pt>
                <c:pt idx="34">
                  <c:v>107.3</c:v>
                </c:pt>
                <c:pt idx="35">
                  <c:v>111.0</c:v>
                </c:pt>
                <c:pt idx="36">
                  <c:v>124.9</c:v>
                </c:pt>
                <c:pt idx="37">
                  <c:v>116.3</c:v>
                </c:pt>
                <c:pt idx="38">
                  <c:v>115.6</c:v>
                </c:pt>
                <c:pt idx="39">
                  <c:v>123.6</c:v>
                </c:pt>
                <c:pt idx="40">
                  <c:v>120.9</c:v>
                </c:pt>
                <c:pt idx="41">
                  <c:v>112.5</c:v>
                </c:pt>
                <c:pt idx="42">
                  <c:v>114.9</c:v>
                </c:pt>
                <c:pt idx="43">
                  <c:v>120.8</c:v>
                </c:pt>
                <c:pt idx="44">
                  <c:v>112.2</c:v>
                </c:pt>
                <c:pt idx="45">
                  <c:v>114.4</c:v>
                </c:pt>
                <c:pt idx="46">
                  <c:v>126.4</c:v>
                </c:pt>
                <c:pt idx="47">
                  <c:v>126.8</c:v>
                </c:pt>
                <c:pt idx="48">
                  <c:v>115.9</c:v>
                </c:pt>
                <c:pt idx="49">
                  <c:v>114.0</c:v>
                </c:pt>
                <c:pt idx="50">
                  <c:v>122.2</c:v>
                </c:pt>
                <c:pt idx="51">
                  <c:v>119.0</c:v>
                </c:pt>
                <c:pt idx="52">
                  <c:v>137.4</c:v>
                </c:pt>
                <c:pt idx="53">
                  <c:v>137.0</c:v>
                </c:pt>
                <c:pt idx="54">
                  <c:v>122.4</c:v>
                </c:pt>
                <c:pt idx="55">
                  <c:v>117.2</c:v>
                </c:pt>
                <c:pt idx="56">
                  <c:v>130.0</c:v>
                </c:pt>
                <c:pt idx="57">
                  <c:v>129.9</c:v>
                </c:pt>
                <c:pt idx="58">
                  <c:v>117.4</c:v>
                </c:pt>
                <c:pt idx="59">
                  <c:v>114.5</c:v>
                </c:pt>
                <c:pt idx="60">
                  <c:v>120.8</c:v>
                </c:pt>
                <c:pt idx="61">
                  <c:v>104.7</c:v>
                </c:pt>
                <c:pt idx="62">
                  <c:v>71.3</c:v>
                </c:pt>
                <c:pt idx="63">
                  <c:v>79.2</c:v>
                </c:pt>
                <c:pt idx="64">
                  <c:v>82.2</c:v>
                </c:pt>
                <c:pt idx="65">
                  <c:v>83.2</c:v>
                </c:pt>
                <c:pt idx="66">
                  <c:v>80.6</c:v>
                </c:pt>
                <c:pt idx="67">
                  <c:v>83.4</c:v>
                </c:pt>
                <c:pt idx="68">
                  <c:v>79.5</c:v>
                </c:pt>
                <c:pt idx="69">
                  <c:v>82.0</c:v>
                </c:pt>
                <c:pt idx="70">
                  <c:v>99.0</c:v>
                </c:pt>
                <c:pt idx="71">
                  <c:v>113.6</c:v>
                </c:pt>
                <c:pt idx="72">
                  <c:v>117.7</c:v>
                </c:pt>
                <c:pt idx="73">
                  <c:v>127.2</c:v>
                </c:pt>
                <c:pt idx="74">
                  <c:v>125.2</c:v>
                </c:pt>
                <c:pt idx="75">
                  <c:v>118.2</c:v>
                </c:pt>
                <c:pt idx="76">
                  <c:v>129.5</c:v>
                </c:pt>
                <c:pt idx="77">
                  <c:v>132.4</c:v>
                </c:pt>
                <c:pt idx="78">
                  <c:v>141.3</c:v>
                </c:pt>
                <c:pt idx="79">
                  <c:v>147.5</c:v>
                </c:pt>
                <c:pt idx="80">
                  <c:v>150.2</c:v>
                </c:pt>
                <c:pt idx="81">
                  <c:v>155.8</c:v>
                </c:pt>
                <c:pt idx="82">
                  <c:v>155.7</c:v>
                </c:pt>
                <c:pt idx="83">
                  <c:v>167.2</c:v>
                </c:pt>
                <c:pt idx="84">
                  <c:v>168.4</c:v>
                </c:pt>
                <c:pt idx="85">
                  <c:v>160.2</c:v>
                </c:pt>
                <c:pt idx="86">
                  <c:v>155.9</c:v>
                </c:pt>
                <c:pt idx="87">
                  <c:v>149.5</c:v>
                </c:pt>
                <c:pt idx="88">
                  <c:v>145.9</c:v>
                </c:pt>
                <c:pt idx="89">
                  <c:v>137.4</c:v>
                </c:pt>
                <c:pt idx="90">
                  <c:v>159.5</c:v>
                </c:pt>
                <c:pt idx="91">
                  <c:v>169.6</c:v>
                </c:pt>
                <c:pt idx="92">
                  <c:v>163.0</c:v>
                </c:pt>
                <c:pt idx="93">
                  <c:v>178.5</c:v>
                </c:pt>
                <c:pt idx="94">
                  <c:v>183.0</c:v>
                </c:pt>
                <c:pt idx="95">
                  <c:v>184.0</c:v>
                </c:pt>
                <c:pt idx="96">
                  <c:v>187.4</c:v>
                </c:pt>
                <c:pt idx="97">
                  <c:v>186.0</c:v>
                </c:pt>
                <c:pt idx="98">
                  <c:v>190.9</c:v>
                </c:pt>
                <c:pt idx="99">
                  <c:v>208.6</c:v>
                </c:pt>
                <c:pt idx="100">
                  <c:v>194.6</c:v>
                </c:pt>
                <c:pt idx="101">
                  <c:v>218.4</c:v>
                </c:pt>
                <c:pt idx="102">
                  <c:v>236.5</c:v>
                </c:pt>
                <c:pt idx="103">
                  <c:v>238.4</c:v>
                </c:pt>
                <c:pt idx="104">
                  <c:v>266.7</c:v>
                </c:pt>
                <c:pt idx="105">
                  <c:v>258.4</c:v>
                </c:pt>
                <c:pt idx="106">
                  <c:v>274.3</c:v>
                </c:pt>
                <c:pt idx="107">
                  <c:v>311.0</c:v>
                </c:pt>
                <c:pt idx="108">
                  <c:v>306.9</c:v>
                </c:pt>
                <c:pt idx="109">
                  <c:v>306.7</c:v>
                </c:pt>
                <c:pt idx="110">
                  <c:v>332.0</c:v>
                </c:pt>
                <c:pt idx="111">
                  <c:v>317.0</c:v>
                </c:pt>
                <c:pt idx="112">
                  <c:v>323.7</c:v>
                </c:pt>
                <c:pt idx="113">
                  <c:v>313.0</c:v>
                </c:pt>
                <c:pt idx="114">
                  <c:v>336.5</c:v>
                </c:pt>
                <c:pt idx="115">
                  <c:v>326.8</c:v>
                </c:pt>
                <c:pt idx="116">
                  <c:v>324.2</c:v>
                </c:pt>
                <c:pt idx="117">
                  <c:v>319.5</c:v>
                </c:pt>
                <c:pt idx="118">
                  <c:v>328.6</c:v>
                </c:pt>
                <c:pt idx="119">
                  <c:v>318.2</c:v>
                </c:pt>
                <c:pt idx="120">
                  <c:v>314.7</c:v>
                </c:pt>
                <c:pt idx="121">
                  <c:v>279.1</c:v>
                </c:pt>
                <c:pt idx="122">
                  <c:v>308.0</c:v>
                </c:pt>
                <c:pt idx="123">
                  <c:v>294.7</c:v>
                </c:pt>
                <c:pt idx="124">
                  <c:v>324.2</c:v>
                </c:pt>
                <c:pt idx="125">
                  <c:v>323.7</c:v>
                </c:pt>
                <c:pt idx="126">
                  <c:v>320.8</c:v>
                </c:pt>
                <c:pt idx="127">
                  <c:v>317.6</c:v>
                </c:pt>
                <c:pt idx="128">
                  <c:v>322.7</c:v>
                </c:pt>
                <c:pt idx="129">
                  <c:v>355.6</c:v>
                </c:pt>
                <c:pt idx="130">
                  <c:v>359.0</c:v>
                </c:pt>
                <c:pt idx="131">
                  <c:v>360.2</c:v>
                </c:pt>
                <c:pt idx="132">
                  <c:v>346.9</c:v>
                </c:pt>
                <c:pt idx="133">
                  <c:v>377.4</c:v>
                </c:pt>
                <c:pt idx="134">
                  <c:v>309.1</c:v>
                </c:pt>
                <c:pt idx="135">
                  <c:v>354.1</c:v>
                </c:pt>
                <c:pt idx="136">
                  <c:v>359.6</c:v>
                </c:pt>
                <c:pt idx="137">
                  <c:v>365.5</c:v>
                </c:pt>
                <c:pt idx="138">
                  <c:v>347.4</c:v>
                </c:pt>
                <c:pt idx="139">
                  <c:v>356.8</c:v>
                </c:pt>
                <c:pt idx="140">
                  <c:v>341.9</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9BCC0"/>
            </a:solidFill>
          </a:ln>
        </c:spPr>
        <c:txPr>
          <a:bodyPr/>
          <a:lstStyle/>
          <a:p>
            <a:pPr>
              <a:defRPr sz="1100"/>
            </a:pPr>
          </a:p>
        </c:txPr>
        <c:crossAx val="2140495176"/>
        <c:crosses val="autoZero"/>
        <c:auto val="1"/>
        <c:lblAlgn val="ctr"/>
        <c:lblOffset val="100"/>
        <c:tickLblSkip val="24"/>
        <c:tickMarkSkip val="24"/>
        <c:noMultiLvlLbl val="0"/>
      </c:catAx>
      <c:valAx>
        <c:axId val="2140495176"/>
        <c:scaling/>
        <c:delete val="0"/>
        <c:axPos val="l"/>
        <c:majorGridlines>
          <c:spPr>
            <a:ln w="6350">
              <a:solidFill>
                <a:srgbClr val="E3E5E7"/>
              </a:solidFill>
            </a:ln>
          </c:spPr>
        </c:majorGridlines>
        <c:numFmt formatCode="0" sourceLinked="0"/>
        <c:majorTickMark val="out"/>
        <c:minorTickMark val="none"/>
        <c:tickLblPos val="nextTo"/>
        <c:spPr>
          <a:ln>
            <a:noFill/>
          </a:ln>
        </c:spPr>
        <c:txPr>
          <a:bodyPr/>
          <a:lstStyle/>
          <a:p>
            <a:pPr>
              <a:defRPr sz="1100"/>
            </a:pPr>
          </a:p>
        </c:txPr>
        <c:crossAx val="2118791784"/>
        <c:crosses val="autoZero"/>
      </c:valAx>
    </c:plotArea>
    <c:legend>
      <c:legendPos val="t"/>
      <c:layout/>
      <c:overlay val="0"/>
      <c:txPr>
        <a:bodyPr/>
        <a:lstStyle/>
        <a:p>
          <a:pPr>
            <a:defRPr sz="1100"/>
          </a:pPr>
        </a:p>
      </c:txPr>
    </c:legend>
    <c:plotVisOnly val="1"/>
    <c:dispBlanksAs val="gap"/>
    <c:showDLblsOverMax val="0"/>
  </c:chart>
  <c:txPr>
    <a:bodyPr/>
    <a:lstStyle/>
    <a:p>
      <a:pPr>
        <a:defRPr sz="1100">
          <a:solidFill>
            <a:srgbClr val="5F626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36393B"/>
                </a:solidFill>
              </a:rPr>
              <a:t>t-statistic of each buy signal vs an average day (|t| &gt; 1.96 = significant)</a:t>
            </a:r>
          </a:p>
        </c:rich>
      </c:tx>
      <c:layout/>
      <c:overlay val="0"/>
    </c:title>
    <c:autoTitleDeleted val="0"/>
    <c:plotArea>
      <c:barChart>
        <c:barDir val="bar"/>
        <c:grouping val="clustered"/>
        <c:ser>
          <c:idx val="0"/>
          <c:order val="0"/>
          <c:tx>
            <c:strRef>
              <c:f>Sheet1!$B$1</c:f>
              <c:strCache>
                <c:ptCount val="1"/>
                <c:pt idx="0">
                  <c:v>t-statistic</c:v>
                </c:pt>
              </c:strCache>
            </c:strRef>
          </c:tx>
          <c:spPr>
            <a:solidFill>
              <a:srgbClr val="B9BCC0"/>
            </a:solidFill>
          </c:spPr>
          <c:invertIfNegative val="0"/>
          <c:dPt>
            <c:idx val="0"/>
            <c:spPr>
              <a:solidFill>
                <a:srgbClr val="0E8C74"/>
              </a:solidFill>
            </c:spPr>
          </c:dPt>
          <c:dPt>
            <c:idx val="1"/>
            <c:spPr>
              <a:solidFill>
                <a:srgbClr val="0E8C74"/>
              </a:solidFill>
            </c:spPr>
          </c:dPt>
          <c:dPt>
            <c:idx val="2"/>
            <c:spPr>
              <a:solidFill>
                <a:srgbClr val="0E8C74"/>
              </a:solidFill>
            </c:spPr>
          </c:dPt>
          <c:dPt>
            <c:idx val="3"/>
            <c:spPr>
              <a:solidFill>
                <a:srgbClr val="0E8C74"/>
              </a:solidFill>
            </c:spPr>
          </c:dPt>
          <c:dPt>
            <c:idx val="4"/>
            <c:spPr>
              <a:solidFill>
                <a:srgbClr val="B9BCC0"/>
              </a:solidFill>
            </c:spPr>
          </c:dPt>
          <c:dPt>
            <c:idx val="5"/>
            <c:spPr>
              <a:solidFill>
                <a:srgbClr val="B9BCC0"/>
              </a:solidFill>
            </c:spPr>
          </c:dPt>
          <c:dPt>
            <c:idx val="6"/>
            <c:spPr>
              <a:solidFill>
                <a:srgbClr val="B9BCC0"/>
              </a:solidFill>
            </c:spPr>
          </c:dPt>
          <c:dPt>
            <c:idx val="7"/>
            <c:spPr>
              <a:solidFill>
                <a:srgbClr val="B9BCC0"/>
              </a:solidFill>
            </c:spPr>
          </c:dPt>
          <c:dPt>
            <c:idx val="8"/>
            <c:spPr>
              <a:solidFill>
                <a:srgbClr val="B9BCC0"/>
              </a:solidFill>
            </c:spPr>
          </c:dPt>
          <c:dPt>
            <c:idx val="9"/>
            <c:spPr>
              <a:solidFill>
                <a:srgbClr val="B9BCC0"/>
              </a:solidFill>
            </c:spPr>
          </c:dPt>
          <c:dPt>
            <c:idx val="10"/>
            <c:spPr>
              <a:solidFill>
                <a:srgbClr val="FD4C00"/>
              </a:solidFill>
            </c:spPr>
          </c:dPt>
          <c:dPt>
            <c:idx val="11"/>
            <c:spPr>
              <a:solidFill>
                <a:srgbClr val="FD4C00"/>
              </a:solidFill>
            </c:spPr>
          </c:dPt>
          <c:cat>
            <c:strRef>
              <c:f>Sheet1!$A$2:$A$13</c:f>
              <c:strCache>
                <c:ptCount val="12"/>
                <c:pt idx="0">
                  <c:v>SMA 20/50 cross</c:v>
                </c:pt>
                <c:pt idx="1">
                  <c:v>OBV cross</c:v>
                </c:pt>
                <c:pt idx="2">
                  <c:v>CCI up −100</c:v>
                </c:pt>
                <c:pt idx="3">
                  <c:v>RSI up 30</c:v>
                </c:pt>
                <c:pt idx="4">
                  <c:v>EMA 9/21 cross</c:v>
                </c:pt>
                <c:pt idx="5">
                  <c:v>Stochastic &lt; 20</c:v>
                </c:pt>
                <c:pt idx="6">
                  <c:v>ADX / DMI</c:v>
                </c:pt>
                <c:pt idx="7">
                  <c:v>MACD cross</c:v>
                </c:pt>
                <c:pt idx="8">
                  <c:v>Supertrend flip</c:v>
                </c:pt>
                <c:pt idx="9">
                  <c:v>Bollinger re-entry</c:v>
                </c:pt>
                <c:pt idx="10">
                  <c:v>MFI up 20</c:v>
                </c:pt>
                <c:pt idx="11">
                  <c:v>Donchian breakout</c:v>
                </c:pt>
              </c:strCache>
            </c:strRef>
          </c:cat>
          <c:val>
            <c:numRef>
              <c:f>Sheet1!$B$2:$B$13</c:f>
              <c:numCache>
                <c:formatCode>General</c:formatCode>
                <c:ptCount val="12"/>
                <c:pt idx="0">
                  <c:v>0.78</c:v>
                </c:pt>
                <c:pt idx="1">
                  <c:v>0.5</c:v>
                </c:pt>
                <c:pt idx="2">
                  <c:v>0.35</c:v>
                </c:pt>
                <c:pt idx="3">
                  <c:v>0.11</c:v>
                </c:pt>
                <c:pt idx="4">
                  <c:v>-0.21</c:v>
                </c:pt>
                <c:pt idx="5">
                  <c:v>-0.26</c:v>
                </c:pt>
                <c:pt idx="6">
                  <c:v>-1.07</c:v>
                </c:pt>
                <c:pt idx="7">
                  <c:v>-1.12</c:v>
                </c:pt>
                <c:pt idx="8">
                  <c:v>-1.4</c:v>
                </c:pt>
                <c:pt idx="9">
                  <c:v>-1.69</c:v>
                </c:pt>
                <c:pt idx="10">
                  <c:v>-2.19</c:v>
                </c:pt>
                <c:pt idx="11">
                  <c:v>-2.2</c:v>
                </c:pt>
              </c:numCache>
            </c:numRef>
          </c:val>
        </c:ser>
        <c:dLbls>
          <c:numFmt formatCode="0.00" sourceLinked="0"/>
          <c:txPr>
            <a:bodyPr/>
            <a:lstStyle/>
            <a:p>
              <a:pPr>
                <a:defRPr sz="1000">
                  <a:solidFill>
                    <a:srgbClr val="36393B"/>
                  </a:solidFill>
                </a:defRPr>
              </a:pPr>
            </a:p>
          </c:txPr>
          <c:dLblPos val="outEnd"/>
          <c:showLegendKey val="0"/>
          <c:showVal val="1"/>
          <c:showCatName val="0"/>
          <c:showSerName val="0"/>
          <c:showPercent val="0"/>
          <c:showBubbleSize val="0"/>
          <c:showLeaderLines val="1"/>
        </c:dLbls>
        <c:gapWidth val="30"/>
        <c:axId val="-2068027336"/>
        <c:axId val="-2113994440"/>
      </c:barChart>
      <c:catAx>
        <c:axId val="-2068027336"/>
        <c:scaling>
          <c:orientation val="maxMin"/>
        </c:scaling>
        <c:delete val="0"/>
        <c:axPos val="l"/>
        <c:majorTickMark val="none"/>
        <c:minorTickMark val="none"/>
        <c:tickLblPos val="low"/>
        <c:spPr>
          <a:ln>
            <a:solidFill>
              <a:srgbClr val="B9BCC0"/>
            </a:solidFill>
          </a:ln>
        </c:spPr>
        <c:txPr>
          <a:bodyPr/>
          <a:lstStyle/>
          <a:p>
            <a:pPr>
              <a:defRPr sz="1100"/>
            </a:pPr>
          </a:p>
        </c:txPr>
        <c:crossAx val="-2113994440"/>
        <c:crosses val="autoZero"/>
        <c:auto val="1"/>
        <c:lblAlgn val="ctr"/>
        <c:lblOffset val="100"/>
        <c:noMultiLvlLbl val="0"/>
      </c:catAx>
      <c:valAx>
        <c:axId val="-2113994440"/>
        <c:scaling>
          <c:max val="3.0"/>
          <c:min val="-3.0"/>
        </c:scaling>
        <c:delete val="0"/>
        <c:axPos val="b"/>
        <c:majorGridlines>
          <c:spPr>
            <a:ln w="6350">
              <a:solidFill>
                <a:srgbClr val="E3E5E7"/>
              </a:solidFill>
            </a:ln>
          </c:spPr>
        </c:majorGridlines>
        <c:numFmt formatCode="0.0" sourceLinked="0"/>
        <c:majorTickMark val="out"/>
        <c:minorTickMark val="none"/>
        <c:tickLblPos val="low"/>
        <c:spPr>
          <a:ln>
            <a:noFill/>
          </a:ln>
        </c:spPr>
        <c:txPr>
          <a:bodyPr/>
          <a:lstStyle/>
          <a:p>
            <a:pPr>
              <a:defRPr sz="1100"/>
            </a:pPr>
          </a:p>
        </c:txPr>
        <c:crossAx val="-2068027336"/>
        <c:crosses val="autoZero"/>
      </c:valAx>
    </c:plotArea>
    <c:dispBlanksAs val="gap"/>
  </c:chart>
  <c:txPr>
    <a:bodyPr/>
    <a:lstStyle/>
    <a:p>
      <a:pPr>
        <a:defRPr sz="1100">
          <a:solidFill>
            <a:srgbClr val="5F626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36393B"/>
                </a:solidFill>
              </a:rPr>
              <a:t>Sharpe ratio, full period, under three assumptions</a:t>
            </a:r>
          </a:p>
        </c:rich>
      </c:tx>
      <c:layout/>
      <c:overlay val="0"/>
    </c:title>
    <c:autoTitleDeleted val="0"/>
    <c:plotArea>
      <c:barChart>
        <c:barDir val="col"/>
        <c:grouping val="clustered"/>
        <c:ser>
          <c:idx val="0"/>
          <c:order val="0"/>
          <c:tx>
            <c:strRef>
              <c:f>Sheet1!$B$1</c:f>
              <c:strCache>
                <c:ptCount val="1"/>
                <c:pt idx="0">
                  <c:v>A · 7-day</c:v>
                </c:pt>
              </c:strCache>
            </c:strRef>
          </c:tx>
          <c:spPr>
            <a:solidFill>
              <a:srgbClr val="4D62EF"/>
            </a:solidFill>
          </c:spPr>
          <c:invertIfNegative val="0"/>
          <c:cat>
            <c:strRef>
              <c:f>Sheet1!$A$2:$A$4</c:f>
              <c:strCache>
                <c:ptCount val="3"/>
                <c:pt idx="0">
                  <c:v>0.05% cost, cash 0%
(brokerage headline)</c:v>
                </c:pt>
                <c:pt idx="1">
                  <c:v>0.15% cost, cash 0%</c:v>
                </c:pt>
                <c:pt idx="2">
                  <c:v>0.15% cost, cash 6%
(base case)</c:v>
                </c:pt>
              </c:strCache>
            </c:strRef>
          </c:cat>
          <c:val>
            <c:numRef>
              <c:f>Sheet1!$B$2:$B$4</c:f>
              <c:numCache>
                <c:formatCode>General</c:formatCode>
                <c:ptCount val="3"/>
                <c:pt idx="0">
                  <c:v>0.35</c:v>
                </c:pt>
                <c:pt idx="1">
                  <c:v>0.15</c:v>
                </c:pt>
                <c:pt idx="2">
                  <c:v>-0.02</c:v>
                </c:pt>
              </c:numCache>
            </c:numRef>
          </c:val>
        </c:ser>
        <c:ser>
          <c:idx val="1"/>
          <c:order val="1"/>
          <c:tx>
            <c:strRef>
              <c:f>Sheet1!$C$1</c:f>
              <c:strCache>
                <c:ptCount val="1"/>
                <c:pt idx="0">
                  <c:v>B · 15-day</c:v>
                </c:pt>
              </c:strCache>
            </c:strRef>
          </c:tx>
          <c:spPr>
            <a:solidFill>
              <a:srgbClr val="FD4C00"/>
            </a:solidFill>
          </c:spPr>
          <c:invertIfNegative val="0"/>
          <c:cat>
            <c:strRef>
              <c:f>Sheet1!$A$2:$A$4</c:f>
              <c:strCache>
                <c:ptCount val="3"/>
                <c:pt idx="0">
                  <c:v>0.05% cost, cash 0%
(brokerage headline)</c:v>
                </c:pt>
                <c:pt idx="1">
                  <c:v>0.15% cost, cash 0%</c:v>
                </c:pt>
                <c:pt idx="2">
                  <c:v>0.15% cost, cash 6%
(base case)</c:v>
                </c:pt>
              </c:strCache>
            </c:strRef>
          </c:cat>
          <c:val>
            <c:numRef>
              <c:f>Sheet1!$C$2:$C$4</c:f>
              <c:numCache>
                <c:formatCode>General</c:formatCode>
                <c:ptCount val="3"/>
                <c:pt idx="0">
                  <c:v>0.18</c:v>
                </c:pt>
                <c:pt idx="1">
                  <c:v>0.03</c:v>
                </c:pt>
                <c:pt idx="2">
                  <c:v>-0.24</c:v>
                </c:pt>
              </c:numCache>
            </c:numRef>
          </c:val>
        </c:ser>
        <c:ser>
          <c:idx val="2"/>
          <c:order val="2"/>
          <c:tx>
            <c:strRef>
              <c:f>Sheet1!$D$1</c:f>
              <c:strCache>
                <c:ptCount val="1"/>
                <c:pt idx="0">
                  <c:v>C · 60-day</c:v>
                </c:pt>
              </c:strCache>
            </c:strRef>
          </c:tx>
          <c:spPr>
            <a:solidFill>
              <a:srgbClr val="0E8C74"/>
            </a:solidFill>
          </c:spPr>
          <c:invertIfNegative val="0"/>
          <c:cat>
            <c:strRef>
              <c:f>Sheet1!$A$2:$A$4</c:f>
              <c:strCache>
                <c:ptCount val="3"/>
                <c:pt idx="0">
                  <c:v>0.05% cost, cash 0%
(brokerage headline)</c:v>
                </c:pt>
                <c:pt idx="1">
                  <c:v>0.15% cost, cash 0%</c:v>
                </c:pt>
                <c:pt idx="2">
                  <c:v>0.15% cost, cash 6%
(base case)</c:v>
                </c:pt>
              </c:strCache>
            </c:strRef>
          </c:cat>
          <c:val>
            <c:numRef>
              <c:f>Sheet1!$D$2:$D$4</c:f>
              <c:numCache>
                <c:formatCode>General</c:formatCode>
                <c:ptCount val="3"/>
                <c:pt idx="0">
                  <c:v>0.62</c:v>
                </c:pt>
                <c:pt idx="1">
                  <c:v>0.58</c:v>
                </c:pt>
                <c:pt idx="2">
                  <c:v>0.33</c:v>
                </c:pt>
              </c:numCache>
            </c:numRef>
          </c:val>
        </c:ser>
        <c:ser>
          <c:idx val="3"/>
          <c:order val="3"/>
          <c:tx>
            <c:strRef>
              <c:f>Sheet1!$E$1</c:f>
              <c:strCache>
                <c:ptCount val="1"/>
                <c:pt idx="0">
                  <c:v>Buy &amp; hold</c:v>
                </c:pt>
              </c:strCache>
            </c:strRef>
          </c:tx>
          <c:spPr>
            <a:solidFill>
              <a:srgbClr val="8A8D91"/>
            </a:solidFill>
          </c:spPr>
          <c:invertIfNegative val="0"/>
          <c:cat>
            <c:strRef>
              <c:f>Sheet1!$A$2:$A$4</c:f>
              <c:strCache>
                <c:ptCount val="3"/>
                <c:pt idx="0">
                  <c:v>0.05% cost, cash 0%
(brokerage headline)</c:v>
                </c:pt>
                <c:pt idx="1">
                  <c:v>0.15% cost, cash 0%</c:v>
                </c:pt>
                <c:pt idx="2">
                  <c:v>0.15% cost, cash 6%
(base case)</c:v>
                </c:pt>
              </c:strCache>
            </c:strRef>
          </c:cat>
          <c:val>
            <c:numRef>
              <c:f>Sheet1!$E$2:$E$4</c:f>
              <c:numCache>
                <c:formatCode>General</c:formatCode>
                <c:ptCount val="3"/>
                <c:pt idx="0">
                  <c:v>0.67</c:v>
                </c:pt>
                <c:pt idx="1">
                  <c:v>0.67</c:v>
                </c:pt>
                <c:pt idx="2">
                  <c:v>0.32</c:v>
                </c:pt>
              </c:numCache>
            </c:numRef>
          </c:val>
        </c:ser>
        <c:dLbls>
          <c:numFmt formatCode="0.00" sourceLinked="0"/>
          <c:txPr>
            <a:bodyPr/>
            <a:lstStyle/>
            <a:p>
              <a:pPr>
                <a:defRPr sz="1000">
                  <a:solidFill>
                    <a:srgbClr val="36393B"/>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none"/>
        <c:minorTickMark val="none"/>
        <c:tickLblPos val="low"/>
        <c:spPr>
          <a:ln>
            <a:solidFill>
              <a:srgbClr val="B9BCC0"/>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w="6350">
              <a:solidFill>
                <a:srgbClr val="E3E5E7"/>
              </a:solidFill>
            </a:ln>
          </c:spPr>
        </c:majorGridlines>
        <c:numFmt formatCode="0.0" sourceLinked="0"/>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100"/>
          </a:pPr>
        </a:p>
      </c:txPr>
    </c:legend>
    <c:dispBlanksAs val="gap"/>
  </c:chart>
  <c:txPr>
    <a:bodyPr/>
    <a:lstStyle/>
    <a:p>
      <a:pPr>
        <a:defRPr sz="1100">
          <a:solidFill>
            <a:srgbClr val="5F626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36393B"/>
                </a:solidFill>
              </a:rPr>
              <a:t>Correlation of daily readings with RSI</a:t>
            </a:r>
          </a:p>
        </c:rich>
      </c:tx>
      <c:layout/>
      <c:overlay val="0"/>
    </c:title>
    <c:autoTitleDeleted val="0"/>
    <c:plotArea>
      <c:barChart>
        <c:barDir val="bar"/>
        <c:grouping val="clustered"/>
        <c:ser>
          <c:idx val="0"/>
          <c:order val="0"/>
          <c:tx>
            <c:strRef>
              <c:f>Sheet1!$B$1</c:f>
              <c:strCache>
                <c:ptCount val="1"/>
                <c:pt idx="0">
                  <c:v>ρ with RSI</c:v>
                </c:pt>
              </c:strCache>
            </c:strRef>
          </c:tx>
          <c:spPr>
            <a:solidFill>
              <a:srgbClr val="0E8C74"/>
            </a:solidFill>
          </c:spPr>
          <c:invertIfNegative val="0"/>
          <c:cat>
            <c:strRef>
              <c:f>Sheet1!$A$2:$A$12</c:f>
              <c:strCache>
                <c:ptCount val="11"/>
                <c:pt idx="0">
                  <c:v>Close − SMA20</c:v>
                </c:pt>
                <c:pt idx="1">
                  <c:v>DMI spread</c:v>
                </c:pt>
                <c:pt idx="2">
                  <c:v>EMA 9 − 21</c:v>
                </c:pt>
                <c:pt idx="3">
                  <c:v>Bollinger %B</c:v>
                </c:pt>
                <c:pt idx="4">
                  <c:v>Donchian pos.</c:v>
                </c:pt>
                <c:pt idx="5">
                  <c:v>CCI</c:v>
                </c:pt>
                <c:pt idx="6">
                  <c:v>Supertrend dist.</c:v>
                </c:pt>
                <c:pt idx="7">
                  <c:v>Stochastic</c:v>
                </c:pt>
                <c:pt idx="8">
                  <c:v>OBV − EMA</c:v>
                </c:pt>
                <c:pt idx="9">
                  <c:v>MFI</c:v>
                </c:pt>
                <c:pt idx="10">
                  <c:v>MACD hist</c:v>
                </c:pt>
              </c:strCache>
            </c:strRef>
          </c:cat>
          <c:val>
            <c:numRef>
              <c:f>Sheet1!$B$2:$B$12</c:f>
              <c:numCache>
                <c:formatCode>General</c:formatCode>
                <c:ptCount val="11"/>
                <c:pt idx="0">
                  <c:v>0.95</c:v>
                </c:pt>
                <c:pt idx="1">
                  <c:v>0.94</c:v>
                </c:pt>
                <c:pt idx="2">
                  <c:v>0.92</c:v>
                </c:pt>
                <c:pt idx="3">
                  <c:v>0.89</c:v>
                </c:pt>
                <c:pt idx="4">
                  <c:v>0.89</c:v>
                </c:pt>
                <c:pt idx="5">
                  <c:v>0.87</c:v>
                </c:pt>
                <c:pt idx="6">
                  <c:v>0.84</c:v>
                </c:pt>
                <c:pt idx="7">
                  <c:v>0.83</c:v>
                </c:pt>
                <c:pt idx="8">
                  <c:v>0.82</c:v>
                </c:pt>
                <c:pt idx="9">
                  <c:v>0.77</c:v>
                </c:pt>
                <c:pt idx="10">
                  <c:v>0.64</c:v>
                </c:pt>
              </c:numCache>
            </c:numRef>
          </c:val>
        </c:ser>
        <c:dLbls>
          <c:numFmt formatCode="0.00" sourceLinked="0"/>
          <c:txPr>
            <a:bodyPr/>
            <a:lstStyle/>
            <a:p>
              <a:pPr>
                <a:defRPr sz="900">
                  <a:solidFill>
                    <a:srgbClr val="36393B"/>
                  </a:solidFill>
                </a:defRPr>
              </a:pPr>
            </a:p>
          </c:txPr>
          <c:dLblPos val="outEnd"/>
          <c:showLegendKey val="0"/>
          <c:showVal val="1"/>
          <c:showCatName val="0"/>
          <c:showSerName val="0"/>
          <c:showPercent val="0"/>
          <c:showBubbleSize val="0"/>
          <c:showLeaderLines val="1"/>
        </c:dLbls>
        <c:gapWidth val="30"/>
        <c:axId val="-2068027336"/>
        <c:axId val="-2113994440"/>
      </c:barChart>
      <c:catAx>
        <c:axId val="-2068027336"/>
        <c:scaling>
          <c:orientation val="maxMin"/>
        </c:scaling>
        <c:delete val="0"/>
        <c:axPos val="l"/>
        <c:majorTickMark val="none"/>
        <c:minorTickMark val="none"/>
        <c:tickLblPos val="nextTo"/>
        <c:spPr>
          <a:ln>
            <a:solidFill>
              <a:srgbClr val="B9BCC0"/>
            </a:solidFill>
          </a:ln>
        </c:spPr>
        <c:txPr>
          <a:bodyPr/>
          <a:lstStyle/>
          <a:p>
            <a:pPr>
              <a:defRPr sz="1000"/>
            </a:pPr>
          </a:p>
        </c:txPr>
        <c:crossAx val="-2113994440"/>
        <c:crosses val="autoZero"/>
        <c:auto val="1"/>
        <c:lblAlgn val="ctr"/>
        <c:lblOffset val="100"/>
        <c:noMultiLvlLbl val="0"/>
      </c:catAx>
      <c:valAx>
        <c:axId val="-2113994440"/>
        <c:scaling>
          <c:max val="1.0"/>
          <c:min val="0.0"/>
        </c:scaling>
        <c:delete val="0"/>
        <c:axPos val="b"/>
        <c:majorGridlines>
          <c:spPr>
            <a:ln w="6350">
              <a:solidFill>
                <a:srgbClr val="E3E5E7"/>
              </a:solidFill>
            </a:ln>
          </c:spPr>
        </c:majorGridlines>
        <c:numFmt formatCode="0.0" sourceLinked="0"/>
        <c:majorTickMark val="out"/>
        <c:minorTickMark val="none"/>
        <c:tickLblPos val="low"/>
        <c:spPr>
          <a:ln>
            <a:noFill/>
          </a:ln>
        </c:spPr>
        <c:txPr>
          <a:bodyPr/>
          <a:lstStyle/>
          <a:p>
            <a:pPr>
              <a:defRPr sz="1000"/>
            </a:pPr>
          </a:p>
        </c:txPr>
        <c:crossAx val="-2068027336"/>
        <c:crosses val="autoZero"/>
      </c:valAx>
    </c:plotArea>
    <c:dispBlanksAs val="gap"/>
  </c:chart>
  <c:txPr>
    <a:bodyPr/>
    <a:lstStyle/>
    <a:p>
      <a:pPr>
        <a:defRPr sz="1000">
          <a:solidFill>
            <a:srgbClr val="5F6266"/>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36393B"/>
                </a:solidFill>
              </a:rPr>
              <a:t>Strategy A: what the backtest promised vs what it delivered</a:t>
            </a:r>
          </a:p>
        </c:rich>
      </c:tx>
      <c:layout/>
      <c:overlay val="0"/>
    </c:title>
    <c:autoTitleDeleted val="0"/>
    <c:plotArea>
      <c:barChart>
        <c:barDir val="col"/>
        <c:grouping val="clustered"/>
        <c:ser>
          <c:idx val="0"/>
          <c:order val="0"/>
          <c:tx>
            <c:strRef>
              <c:f>Sheet1!$B$1</c:f>
              <c:strCache>
                <c:ptCount val="1"/>
                <c:pt idx="0">
                  <c:v>Average Sharpe, 7 stocks</c:v>
                </c:pt>
              </c:strCache>
            </c:strRef>
          </c:tx>
          <c:spPr>
            <a:solidFill>
              <a:srgbClr val="0E8C74"/>
            </a:solidFill>
          </c:spPr>
          <c:invertIfNegative val="0"/>
          <c:dPt>
            <c:idx val="0"/>
            <c:spPr>
              <a:solidFill>
                <a:srgbClr val="0E8C74"/>
              </a:solidFill>
            </c:spPr>
          </c:dPt>
          <c:dPt>
            <c:idx val="1"/>
            <c:spPr>
              <a:solidFill>
                <a:srgbClr val="FD4C00"/>
              </a:solidFill>
            </c:spPr>
          </c:dPt>
          <c:dPt>
            <c:idx val="2"/>
            <c:spPr>
              <a:solidFill>
                <a:srgbClr val="B9BCC0"/>
              </a:solidFill>
            </c:spPr>
          </c:dPt>
          <c:dPt>
            <c:idx val="3"/>
            <c:spPr>
              <a:solidFill>
                <a:srgbClr val="B9BCC0"/>
              </a:solidFill>
            </c:spPr>
          </c:dPt>
          <c:cat>
            <c:strRef>
              <c:f>Sheet1!$A$2:$A$5</c:f>
              <c:strCache>
                <c:ptCount val="4"/>
                <c:pt idx="0">
                  <c:v>Tuned, 2015–21
(expected)</c:v>
                </c:pt>
                <c:pt idx="1">
                  <c:v>Tuned, 2022–26
(delivered)</c:v>
                </c:pt>
                <c:pt idx="2">
                  <c:v>Untuned, 2015–21</c:v>
                </c:pt>
                <c:pt idx="3">
                  <c:v>Untuned, 2022–26</c:v>
                </c:pt>
              </c:strCache>
            </c:strRef>
          </c:cat>
          <c:val>
            <c:numRef>
              <c:f>Sheet1!$B$2:$B$5</c:f>
              <c:numCache>
                <c:formatCode>General</c:formatCode>
                <c:ptCount val="4"/>
                <c:pt idx="0">
                  <c:v>0.33</c:v>
                </c:pt>
                <c:pt idx="1">
                  <c:v>-0.02</c:v>
                </c:pt>
                <c:pt idx="2">
                  <c:v>0.12</c:v>
                </c:pt>
                <c:pt idx="3">
                  <c:v>-0.35</c:v>
                </c:pt>
              </c:numCache>
            </c:numRef>
          </c:val>
        </c:ser>
        <c:dLbls>
          <c:numFmt formatCode="0.00" sourceLinked="0"/>
          <c:txPr>
            <a:bodyPr/>
            <a:lstStyle/>
            <a:p>
              <a:pPr>
                <a:defRPr sz="900">
                  <a:solidFill>
                    <a:srgbClr val="36393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low"/>
        <c:spPr>
          <a:ln>
            <a:solidFill>
              <a:srgbClr val="B9BCC0"/>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w="6350">
              <a:solidFill>
                <a:srgbClr val="E3E5E7"/>
              </a:solidFill>
            </a:ln>
          </c:spPr>
        </c:majorGridlines>
        <c:numFmt formatCode="0.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solidFill>
            <a:srgbClr val="5F6266"/>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36393B"/>
                </a:solidFill>
              </a:rPr>
              <a:t>Strategy B losers: average return, %</a:t>
            </a:r>
          </a:p>
        </c:rich>
      </c:tx>
      <c:layout/>
      <c:overlay val="0"/>
    </c:title>
    <c:autoTitleDeleted val="0"/>
    <c:plotArea>
      <c:barChart>
        <c:barDir val="col"/>
        <c:grouping val="clustered"/>
        <c:ser>
          <c:idx val="0"/>
          <c:order val="0"/>
          <c:tx>
            <c:strRef>
              <c:f>Sheet1!$B$1</c:f>
              <c:strCache>
                <c:ptCount val="1"/>
                <c:pt idx="0">
                  <c:v>Avg, 129 losing B trades</c:v>
                </c:pt>
              </c:strCache>
            </c:strRef>
          </c:tx>
          <c:spPr>
            <a:solidFill>
              <a:srgbClr val="0E8C74"/>
            </a:solidFill>
          </c:spPr>
          <c:invertIfNegative val="0"/>
          <c:cat>
            <c:strRef>
              <c:f>Sheet1!$A$2:$A$4</c:f>
              <c:strCache>
                <c:ptCount val="3"/>
                <c:pt idx="0">
                  <c:v>Exit on day 15</c:v>
                </c:pt>
                <c:pt idx="1">
                  <c:v>Hold to breakeven:
final</c:v>
                </c:pt>
                <c:pt idx="2">
                  <c:v>Hold to breakeven:
worst point</c:v>
                </c:pt>
              </c:strCache>
            </c:strRef>
          </c:cat>
          <c:val>
            <c:numRef>
              <c:f>Sheet1!$B$2:$B$4</c:f>
              <c:numCache>
                <c:formatCode>General</c:formatCode>
                <c:ptCount val="3"/>
                <c:pt idx="0">
                  <c:v>-4.8</c:v>
                </c:pt>
                <c:pt idx="1">
                  <c:v>-2.3</c:v>
                </c:pt>
                <c:pt idx="2">
                  <c:v>-13.3</c:v>
                </c:pt>
              </c:numCache>
            </c:numRef>
          </c:val>
        </c:ser>
        <c:dLbls>
          <c:numFmt formatCode="0.0&quot;%&quot;" sourceLinked="0"/>
          <c:txPr>
            <a:bodyPr/>
            <a:lstStyle/>
            <a:p>
              <a:pPr>
                <a:defRPr sz="1000">
                  <a:solidFill>
                    <a:srgbClr val="36393B"/>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a:solidFill>
              <a:srgbClr val="B9BCC0"/>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w="6350">
              <a:solidFill>
                <a:srgbClr val="E3E5E7"/>
              </a:solidFill>
            </a:ln>
          </c:spPr>
        </c:majorGridlines>
        <c:numFmt formatCode="0&quot;%&quot;" sourceLinked="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5F6266"/>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36393B"/>
                </a:solidFill>
              </a:rPr>
              <a:t>Average forward return: pattern vs base rate, %</a:t>
            </a:r>
          </a:p>
        </c:rich>
      </c:tx>
      <c:layout/>
      <c:overlay val="0"/>
    </c:title>
    <c:autoTitleDeleted val="0"/>
    <c:plotArea>
      <c:barChart>
        <c:barDir val="col"/>
        <c:grouping val="clustered"/>
        <c:ser>
          <c:idx val="0"/>
          <c:order val="0"/>
          <c:tx>
            <c:strRef>
              <c:f>Sheet1!$B$1</c:f>
              <c:strCache>
                <c:ptCount val="1"/>
                <c:pt idx="0">
                  <c:v>After the pattern</c:v>
                </c:pt>
              </c:strCache>
            </c:strRef>
          </c:tx>
          <c:spPr>
            <a:solidFill>
              <a:srgbClr val="D69E00"/>
            </a:solidFill>
          </c:spPr>
          <c:invertIfNegative val="0"/>
          <c:cat>
            <c:strRef>
              <c:f>Sheet1!$A$2:$A$4</c:f>
              <c:strCache>
                <c:ptCount val="3"/>
                <c:pt idx="0">
                  <c:v>RSI &gt; 70
(20 days)</c:v>
                </c:pt>
                <c:pt idx="1">
                  <c:v>Golden cross
(60 days)</c:v>
                </c:pt>
                <c:pt idx="2">
                  <c:v>3 up-days
(5 days)</c:v>
                </c:pt>
              </c:strCache>
            </c:strRef>
          </c:cat>
          <c:val>
            <c:numRef>
              <c:f>Sheet1!$B$2:$B$4</c:f>
              <c:numCache>
                <c:formatCode>General</c:formatCode>
                <c:ptCount val="3"/>
                <c:pt idx="0">
                  <c:v>1.15</c:v>
                </c:pt>
                <c:pt idx="1">
                  <c:v>3.67</c:v>
                </c:pt>
                <c:pt idx="2">
                  <c:v>0.14</c:v>
                </c:pt>
              </c:numCache>
            </c:numRef>
          </c:val>
        </c:ser>
        <c:ser>
          <c:idx val="1"/>
          <c:order val="1"/>
          <c:tx>
            <c:strRef>
              <c:f>Sheet1!$C$1</c:f>
              <c:strCache>
                <c:ptCount val="1"/>
                <c:pt idx="0">
                  <c:v>Any day, same horizon</c:v>
                </c:pt>
              </c:strCache>
            </c:strRef>
          </c:tx>
          <c:spPr>
            <a:solidFill>
              <a:srgbClr val="B9BCC0"/>
            </a:solidFill>
          </c:spPr>
          <c:invertIfNegative val="0"/>
          <c:cat>
            <c:strRef>
              <c:f>Sheet1!$A$2:$A$4</c:f>
              <c:strCache>
                <c:ptCount val="3"/>
                <c:pt idx="0">
                  <c:v>RSI &gt; 70
(20 days)</c:v>
                </c:pt>
                <c:pt idx="1">
                  <c:v>Golden cross
(60 days)</c:v>
                </c:pt>
                <c:pt idx="2">
                  <c:v>3 up-days
(5 days)</c:v>
                </c:pt>
              </c:strCache>
            </c:strRef>
          </c:cat>
          <c:val>
            <c:numRef>
              <c:f>Sheet1!$C$2:$C$4</c:f>
              <c:numCache>
                <c:formatCode>General</c:formatCode>
                <c:ptCount val="3"/>
                <c:pt idx="0">
                  <c:v>0.97</c:v>
                </c:pt>
                <c:pt idx="1">
                  <c:v>2.91</c:v>
                </c:pt>
                <c:pt idx="2">
                  <c:v>0.25</c:v>
                </c:pt>
              </c:numCache>
            </c:numRef>
          </c:val>
        </c:ser>
        <c:dLbls>
          <c:numFmt formatCode="0.00" sourceLinked="0"/>
          <c:txPr>
            <a:bodyPr/>
            <a:lstStyle/>
            <a:p>
              <a:pPr>
                <a:defRPr sz="1000">
                  <a:solidFill>
                    <a:srgbClr val="36393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low"/>
        <c:spPr>
          <a:ln>
            <a:solidFill>
              <a:srgbClr val="B9BCC0"/>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w="6350">
              <a:solidFill>
                <a:srgbClr val="E3E5E7"/>
              </a:solidFill>
            </a:ln>
          </c:spPr>
        </c:majorGridlines>
        <c:numFmt formatCode="0.0&quot;%&quot;" sourceLinked="0"/>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100"/>
          </a:pPr>
        </a:p>
      </c:txPr>
    </c:legend>
    <c:dispBlanksAs val="gap"/>
  </c:chart>
  <c:txPr>
    <a:bodyPr/>
    <a:lstStyle/>
    <a:p>
      <a:pPr>
        <a:defRPr sz="1100">
          <a:solidFill>
            <a:srgbClr val="5F6266"/>
          </a:solidFil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36393B"/>
                </a:solidFill>
              </a:rPr>
              <a:t>Excess Sharpe ratio by stock</a:t>
            </a:r>
          </a:p>
        </c:rich>
      </c:tx>
      <c:layout/>
      <c:overlay val="0"/>
    </c:title>
    <c:autoTitleDeleted val="0"/>
    <c:plotArea>
      <c:barChart>
        <c:barDir val="col"/>
        <c:grouping val="clustered"/>
        <c:ser>
          <c:idx val="0"/>
          <c:order val="0"/>
          <c:tx>
            <c:strRef>
              <c:f>Sheet1!$B$1</c:f>
              <c:strCache>
                <c:ptCount val="1"/>
                <c:pt idx="0">
                  <c:v>Chase last quarter's winner</c:v>
                </c:pt>
              </c:strCache>
            </c:strRef>
          </c:tx>
          <c:spPr>
            <a:solidFill>
              <a:srgbClr val="FD4C00"/>
            </a:solidFill>
          </c:spPr>
          <c:invertIfNegative val="0"/>
          <c:cat>
            <c:strRef>
              <c:f>Sheet1!$A$2:$A$8</c:f>
              <c:strCache>
                <c:ptCount val="7"/>
                <c:pt idx="0">
                  <c:v>RELIANCE</c:v>
                </c:pt>
                <c:pt idx="1">
                  <c:v>HDFCBANK</c:v>
                </c:pt>
                <c:pt idx="2">
                  <c:v>INFY</c:v>
                </c:pt>
                <c:pt idx="3">
                  <c:v>ITC</c:v>
                </c:pt>
                <c:pt idx="4">
                  <c:v>MARUTI</c:v>
                </c:pt>
                <c:pt idx="5">
                  <c:v>SUNPHARMA</c:v>
                </c:pt>
                <c:pt idx="6">
                  <c:v>LT</c:v>
                </c:pt>
              </c:strCache>
            </c:strRef>
          </c:cat>
          <c:val>
            <c:numRef>
              <c:f>Sheet1!$B$2:$B$8</c:f>
              <c:numCache>
                <c:formatCode>General</c:formatCode>
                <c:ptCount val="7"/>
                <c:pt idx="0">
                  <c:v>0.44</c:v>
                </c:pt>
                <c:pt idx="1">
                  <c:v>0.13</c:v>
                </c:pt>
                <c:pt idx="2">
                  <c:v>-0.11</c:v>
                </c:pt>
                <c:pt idx="3">
                  <c:v>0.04</c:v>
                </c:pt>
                <c:pt idx="4">
                  <c:v>-0.05</c:v>
                </c:pt>
                <c:pt idx="5">
                  <c:v>-0.32</c:v>
                </c:pt>
                <c:pt idx="6">
                  <c:v>0.08</c:v>
                </c:pt>
              </c:numCache>
            </c:numRef>
          </c:val>
        </c:ser>
        <c:ser>
          <c:idx val="1"/>
          <c:order val="1"/>
          <c:tx>
            <c:strRef>
              <c:f>Sheet1!$C$1</c:f>
              <c:strCache>
                <c:ptCount val="1"/>
                <c:pt idx="0">
                  <c:v>Fixed ⅓ each of A, B, C</c:v>
                </c:pt>
              </c:strCache>
            </c:strRef>
          </c:tx>
          <c:spPr>
            <a:solidFill>
              <a:srgbClr val="0E8C74"/>
            </a:solidFill>
          </c:spPr>
          <c:invertIfNegative val="0"/>
          <c:cat>
            <c:strRef>
              <c:f>Sheet1!$A$2:$A$8</c:f>
              <c:strCache>
                <c:ptCount val="7"/>
                <c:pt idx="0">
                  <c:v>RELIANCE</c:v>
                </c:pt>
                <c:pt idx="1">
                  <c:v>HDFCBANK</c:v>
                </c:pt>
                <c:pt idx="2">
                  <c:v>INFY</c:v>
                </c:pt>
                <c:pt idx="3">
                  <c:v>ITC</c:v>
                </c:pt>
                <c:pt idx="4">
                  <c:v>MARUTI</c:v>
                </c:pt>
                <c:pt idx="5">
                  <c:v>SUNPHARMA</c:v>
                </c:pt>
                <c:pt idx="6">
                  <c:v>LT</c:v>
                </c:pt>
              </c:strCache>
            </c:strRef>
          </c:cat>
          <c:val>
            <c:numRef>
              <c:f>Sheet1!$C$2:$C$8</c:f>
              <c:numCache>
                <c:formatCode>General</c:formatCode>
                <c:ptCount val="7"/>
                <c:pt idx="0">
                  <c:v>0.26</c:v>
                </c:pt>
                <c:pt idx="1">
                  <c:v>0.16</c:v>
                </c:pt>
                <c:pt idx="2">
                  <c:v>-0.3</c:v>
                </c:pt>
                <c:pt idx="3">
                  <c:v>-0.46</c:v>
                </c:pt>
                <c:pt idx="4">
                  <c:v>0.05</c:v>
                </c:pt>
                <c:pt idx="5">
                  <c:v>-0.14</c:v>
                </c:pt>
                <c:pt idx="6">
                  <c:v>0.1</c:v>
                </c:pt>
              </c:numCache>
            </c:numRef>
          </c:val>
        </c:ser>
        <c:dLbls>
          <c:numFmt formatCode="0.00" sourceLinked="0"/>
          <c:txPr>
            <a:bodyPr/>
            <a:lstStyle/>
            <a:p>
              <a:pPr>
                <a:defRPr sz="800">
                  <a:solidFill>
                    <a:srgbClr val="36393B"/>
                  </a:solidFil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none"/>
        <c:minorTickMark val="none"/>
        <c:tickLblPos val="low"/>
        <c:spPr>
          <a:ln>
            <a:solidFill>
              <a:srgbClr val="B9BCC0"/>
            </a:solidFill>
          </a:ln>
        </c:spPr>
        <c:txPr>
          <a:bodyPr/>
          <a:lstStyle/>
          <a:p>
            <a:pPr>
              <a:defRPr sz="900"/>
            </a:pPr>
          </a:p>
        </c:txPr>
        <c:crossAx val="-2113994440"/>
        <c:crosses val="autoZero"/>
        <c:auto val="1"/>
        <c:lblAlgn val="ctr"/>
        <c:lblOffset val="100"/>
        <c:noMultiLvlLbl val="0"/>
      </c:catAx>
      <c:valAx>
        <c:axId val="-2113994440"/>
        <c:scaling/>
        <c:delete val="0"/>
        <c:axPos val="l"/>
        <c:majorGridlines>
          <c:spPr>
            <a:ln w="6350">
              <a:solidFill>
                <a:srgbClr val="E3E5E7"/>
              </a:solidFill>
            </a:ln>
          </c:spPr>
        </c:majorGridlines>
        <c:numFmt formatCode="0.0" sourceLinked="0"/>
        <c:majorTickMark val="out"/>
        <c:minorTickMark val="none"/>
        <c:tickLblPos val="nextTo"/>
        <c:spPr>
          <a:ln>
            <a:noFill/>
          </a:ln>
        </c:spPr>
        <c:txPr>
          <a:bodyPr/>
          <a:lstStyle/>
          <a:p>
            <a:pPr>
              <a:defRPr sz="900"/>
            </a:pPr>
          </a:p>
        </c:txPr>
        <c:crossAx val="-2068027336"/>
        <c:crosses val="autoZero"/>
      </c:valAx>
    </c:plotArea>
    <c:legend>
      <c:legendPos val="t"/>
      <c:overlay val="0"/>
      <c:txPr>
        <a:bodyPr/>
        <a:lstStyle/>
        <a:p>
          <a:pPr>
            <a:defRPr sz="900"/>
          </a:pPr>
        </a:p>
      </c:txPr>
    </c:legend>
    <c:dispBlanksAs val="gap"/>
  </c:chart>
  <c:txPr>
    <a:bodyPr/>
    <a:lstStyle/>
    <a:p>
      <a:pPr>
        <a:defRPr sz="900">
          <a:solidFill>
            <a:srgbClr val="5F6266"/>
          </a:solidFil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36393B"/>
                </a:solidFill>
              </a:rPr>
              <a:t>COVID 2020: fall from peak when each rule said 'sell'</a:t>
            </a:r>
          </a:p>
        </c:rich>
      </c:tx>
      <c:layout/>
      <c:overlay val="0"/>
    </c:title>
    <c:autoTitleDeleted val="0"/>
    <c:plotArea>
      <c:barChart>
        <c:barDir val="col"/>
        <c:grouping val="clustered"/>
        <c:ser>
          <c:idx val="0"/>
          <c:order val="0"/>
          <c:tx>
            <c:strRef>
              <c:f>Sheet1!$B$1</c:f>
              <c:strCache>
                <c:ptCount val="1"/>
                <c:pt idx="0">
                  <c:v>Fall from peak when the rule turned bearish</c:v>
                </c:pt>
              </c:strCache>
            </c:strRef>
          </c:tx>
          <c:spPr>
            <a:solidFill>
              <a:srgbClr val="0E8C74"/>
            </a:solidFill>
          </c:spPr>
          <c:invertIfNegative val="0"/>
          <c:dPt>
            <c:idx val="3"/>
            <c:spPr>
              <a:solidFill>
                <a:srgbClr val="FD4C00"/>
              </a:solidFill>
            </c:spPr>
          </c:dPt>
          <c:cat>
            <c:strRef>
              <c:f>Sheet1!$A$2:$A$5</c:f>
              <c:strCache>
                <c:ptCount val="4"/>
                <c:pt idx="0">
                  <c:v>EMA 9/21
(6 sessions)</c:v>
                </c:pt>
                <c:pt idx="1">
                  <c:v>Supertrend
(7 sessions)</c:v>
                </c:pt>
                <c:pt idx="2">
                  <c:v>Close &lt; SMA 200
(17 sessions)</c:v>
                </c:pt>
                <c:pt idx="3">
                  <c:v>Death cross
(38 sessions)</c:v>
                </c:pt>
              </c:strCache>
            </c:strRef>
          </c:cat>
          <c:val>
            <c:numRef>
              <c:f>Sheet1!$B$2:$B$5</c:f>
              <c:numCache>
                <c:formatCode>General</c:formatCode>
                <c:ptCount val="4"/>
                <c:pt idx="0">
                  <c:v>-5.5</c:v>
                </c:pt>
                <c:pt idx="1">
                  <c:v>-7.1</c:v>
                </c:pt>
                <c:pt idx="2">
                  <c:v>-10.8</c:v>
                </c:pt>
                <c:pt idx="3">
                  <c:v>-33.9</c:v>
                </c:pt>
              </c:numCache>
            </c:numRef>
          </c:val>
        </c:ser>
        <c:dLbls>
          <c:numFmt formatCode="0&quot;%&quot;" sourceLinked="0"/>
          <c:txPr>
            <a:bodyPr/>
            <a:lstStyle/>
            <a:p>
              <a:pPr>
                <a:defRPr sz="900">
                  <a:solidFill>
                    <a:srgbClr val="36393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low"/>
        <c:spPr>
          <a:ln>
            <a:solidFill>
              <a:srgbClr val="B9BCC0"/>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w="6350">
              <a:solidFill>
                <a:srgbClr val="E3E5E7"/>
              </a:solidFill>
            </a:ln>
          </c:spPr>
        </c:majorGridlines>
        <c:numFmt formatCode="0&quot;%&quot;"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solidFill>
            <a:srgbClr val="5F6266"/>
          </a:solidFil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36393B"/>
                </a:solidFill>
              </a:rPr>
              <a:t>Average return after joining a visible breakout, %</a:t>
            </a:r>
          </a:p>
        </c:rich>
      </c:tx>
      <c:layout/>
      <c:overlay val="0"/>
    </c:title>
    <c:autoTitleDeleted val="0"/>
    <c:plotArea>
      <c:barChart>
        <c:barDir val="col"/>
        <c:grouping val="clustered"/>
        <c:ser>
          <c:idx val="0"/>
          <c:order val="0"/>
          <c:tx>
            <c:strRef>
              <c:f>Sheet1!$B$1</c:f>
              <c:strCache>
                <c:ptCount val="1"/>
                <c:pt idx="0">
                  <c:v>Next 5 days</c:v>
                </c:pt>
              </c:strCache>
            </c:strRef>
          </c:tx>
          <c:spPr>
            <a:solidFill>
              <a:srgbClr val="D69E00"/>
            </a:solidFill>
          </c:spPr>
          <c:invertIfNegative val="0"/>
          <c:cat>
            <c:strRef>
              <c:f>Sheet1!$A$2:$A$4</c:f>
              <c:strCache>
                <c:ptCount val="3"/>
                <c:pt idx="0">
                  <c:v>Volume-spike
breakout</c:v>
                </c:pt>
                <c:pt idx="1">
                  <c:v>Donchian 20-day
breakout</c:v>
                </c:pt>
                <c:pt idx="2">
                  <c:v>Any day</c:v>
                </c:pt>
              </c:strCache>
            </c:strRef>
          </c:cat>
          <c:val>
            <c:numRef>
              <c:f>Sheet1!$B$2:$B$4</c:f>
              <c:numCache>
                <c:formatCode>General</c:formatCode>
                <c:ptCount val="3"/>
                <c:pt idx="0">
                  <c:v>-0.26</c:v>
                </c:pt>
                <c:pt idx="1">
                  <c:v>0.09</c:v>
                </c:pt>
                <c:pt idx="2">
                  <c:v>0.25</c:v>
                </c:pt>
              </c:numCache>
            </c:numRef>
          </c:val>
        </c:ser>
        <c:ser>
          <c:idx val="1"/>
          <c:order val="1"/>
          <c:tx>
            <c:strRef>
              <c:f>Sheet1!$C$1</c:f>
              <c:strCache>
                <c:ptCount val="1"/>
                <c:pt idx="0">
                  <c:v>Next 20 days</c:v>
                </c:pt>
              </c:strCache>
            </c:strRef>
          </c:tx>
          <c:spPr>
            <a:solidFill>
              <a:srgbClr val="0E8C74"/>
            </a:solidFill>
          </c:spPr>
          <c:invertIfNegative val="0"/>
          <c:cat>
            <c:strRef>
              <c:f>Sheet1!$A$2:$A$4</c:f>
              <c:strCache>
                <c:ptCount val="3"/>
                <c:pt idx="0">
                  <c:v>Volume-spike
breakout</c:v>
                </c:pt>
                <c:pt idx="1">
                  <c:v>Donchian 20-day
breakout</c:v>
                </c:pt>
                <c:pt idx="2">
                  <c:v>Any day</c:v>
                </c:pt>
              </c:strCache>
            </c:strRef>
          </c:cat>
          <c:val>
            <c:numRef>
              <c:f>Sheet1!$C$2:$C$4</c:f>
              <c:numCache>
                <c:formatCode>General</c:formatCode>
                <c:ptCount val="3"/>
                <c:pt idx="0">
                  <c:v>0.58</c:v>
                </c:pt>
                <c:pt idx="1">
                  <c:v>0.77</c:v>
                </c:pt>
                <c:pt idx="2">
                  <c:v>0.97</c:v>
                </c:pt>
              </c:numCache>
            </c:numRef>
          </c:val>
        </c:ser>
        <c:dLbls>
          <c:numFmt formatCode="0.00" sourceLinked="0"/>
          <c:txPr>
            <a:bodyPr/>
            <a:lstStyle/>
            <a:p>
              <a:pPr>
                <a:defRPr sz="1000">
                  <a:solidFill>
                    <a:srgbClr val="36393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low"/>
        <c:spPr>
          <a:ln>
            <a:solidFill>
              <a:srgbClr val="B9BCC0"/>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w="6350">
              <a:solidFill>
                <a:srgbClr val="E3E5E7"/>
              </a:solidFill>
            </a:ln>
          </c:spPr>
        </c:majorGridlines>
        <c:numFmt formatCode="0.0&quot;%&quot;" sourceLinked="0"/>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100"/>
          </a:pPr>
        </a:p>
      </c:txPr>
    </c:legend>
    <c:dispBlanksAs val="gap"/>
  </c:chart>
  <c:txPr>
    <a:bodyPr/>
    <a:lstStyle/>
    <a:p>
      <a:pPr>
        <a:defRPr sz="1100">
          <a:solidFill>
            <a:srgbClr val="5F6266"/>
          </a:solidFil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36393B"/>
                </a:solidFill>
              </a:rPr>
              <a:t>Strategy C: average return per trade by entry delay</a:t>
            </a:r>
          </a:p>
        </c:rich>
      </c:tx>
      <c:layout/>
      <c:overlay val="0"/>
    </c:title>
    <c:autoTitleDeleted val="0"/>
    <c:plotArea>
      <c:barChart>
        <c:barDir val="col"/>
        <c:grouping val="clustered"/>
        <c:ser>
          <c:idx val="0"/>
          <c:order val="0"/>
          <c:tx>
            <c:strRef>
              <c:f>Sheet1!$B$1</c:f>
              <c:strCache>
                <c:ptCount val="1"/>
                <c:pt idx="0">
                  <c:v>Strategy C average trade</c:v>
                </c:pt>
              </c:strCache>
            </c:strRef>
          </c:tx>
          <c:spPr>
            <a:solidFill>
              <a:srgbClr val="0E8C74"/>
            </a:solidFill>
          </c:spPr>
          <c:invertIfNegative val="0"/>
          <c:cat>
            <c:strRef>
              <c:f>Sheet1!$A$2:$A$5</c:f>
              <c:strCache>
                <c:ptCount val="4"/>
                <c:pt idx="0">
                  <c:v>On signal</c:v>
                </c:pt>
                <c:pt idx="1">
                  <c:v>2 days late</c:v>
                </c:pt>
                <c:pt idx="2">
                  <c:v>5 days late</c:v>
                </c:pt>
                <c:pt idx="3">
                  <c:v>10 days late</c:v>
                </c:pt>
              </c:strCache>
            </c:strRef>
          </c:cat>
          <c:val>
            <c:numRef>
              <c:f>Sheet1!$B$2:$B$5</c:f>
              <c:numCache>
                <c:formatCode>General</c:formatCode>
                <c:ptCount val="4"/>
                <c:pt idx="0">
                  <c:v>2.86</c:v>
                </c:pt>
                <c:pt idx="1">
                  <c:v>2.9</c:v>
                </c:pt>
                <c:pt idx="2">
                  <c:v>2.83</c:v>
                </c:pt>
                <c:pt idx="3">
                  <c:v>1.75</c:v>
                </c:pt>
              </c:numCache>
            </c:numRef>
          </c:val>
        </c:ser>
        <c:dLbls>
          <c:numFmt formatCode="0.00&quot;%&quot;" sourceLinked="0"/>
          <c:txPr>
            <a:bodyPr/>
            <a:lstStyle/>
            <a:p>
              <a:pPr>
                <a:defRPr sz="1000">
                  <a:solidFill>
                    <a:srgbClr val="36393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low"/>
        <c:spPr>
          <a:ln>
            <a:solidFill>
              <a:srgbClr val="B9BCC0"/>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w="6350">
              <a:solidFill>
                <a:srgbClr val="E3E5E7"/>
              </a:solidFill>
            </a:ln>
          </c:spPr>
        </c:majorGridlines>
        <c:numFmt formatCode="0.0&quot;%&quot;" sourceLinked="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5F6266"/>
          </a:solidFil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36393B"/>
                </a:solidFill>
              </a:rPr>
              <a:t>Out-of-sample Sharpe, 2022–26 (rules chosen on 2015–21)</a:t>
            </a:r>
          </a:p>
        </c:rich>
      </c:tx>
      <c:layout/>
      <c:overlay val="0"/>
    </c:title>
    <c:autoTitleDeleted val="0"/>
    <c:plotArea>
      <c:barChart>
        <c:barDir val="col"/>
        <c:grouping val="clustered"/>
        <c:ser>
          <c:idx val="0"/>
          <c:order val="0"/>
          <c:tx>
            <c:strRef>
              <c:f>Sheet1!$B$1</c:f>
              <c:strCache>
                <c:ptCount val="1"/>
                <c:pt idx="0">
                  <c:v>Out-of-sample Sharpe</c:v>
                </c:pt>
              </c:strCache>
            </c:strRef>
          </c:tx>
          <c:spPr>
            <a:solidFill>
              <a:srgbClr val="0E8C74"/>
            </a:solidFill>
          </c:spPr>
          <c:invertIfNegative val="0"/>
          <c:dPt>
            <c:idx val="0"/>
            <c:spPr>
              <a:solidFill>
                <a:srgbClr val="0E8C74"/>
              </a:solidFill>
            </c:spPr>
          </c:dPt>
          <c:dPt>
            <c:idx val="1"/>
            <c:spPr>
              <a:solidFill>
                <a:srgbClr val="8A8D91"/>
              </a:solidFill>
            </c:spPr>
          </c:dPt>
          <c:dPt>
            <c:idx val="2"/>
            <c:spPr>
              <a:solidFill>
                <a:srgbClr val="FD4C00"/>
              </a:solidFill>
            </c:spPr>
          </c:dPt>
          <c:dPt>
            <c:idx val="3"/>
            <c:spPr>
              <a:solidFill>
                <a:srgbClr val="FD4C00"/>
              </a:solidFill>
            </c:spPr>
          </c:dPt>
          <c:cat>
            <c:strRef>
              <c:f>Sheet1!$A$2:$A$5</c:f>
              <c:strCache>
                <c:ptCount val="4"/>
                <c:pt idx="0">
                  <c:v>60-day rule alone</c:v>
                </c:pt>
                <c:pt idx="1">
                  <c:v>Buy-and-hold</c:v>
                </c:pt>
                <c:pt idx="2">
                  <c:v>21 sleeves,
disciplined</c:v>
                </c:pt>
                <c:pt idx="3">
                  <c:v>21 sleeves,
naive</c:v>
                </c:pt>
              </c:strCache>
            </c:strRef>
          </c:cat>
          <c:val>
            <c:numRef>
              <c:f>Sheet1!$B$2:$B$5</c:f>
              <c:numCache>
                <c:formatCode>General</c:formatCode>
                <c:ptCount val="4"/>
                <c:pt idx="0">
                  <c:v>0.42</c:v>
                </c:pt>
                <c:pt idx="1">
                  <c:v>0.14</c:v>
                </c:pt>
                <c:pt idx="2">
                  <c:v>-0.16</c:v>
                </c:pt>
                <c:pt idx="3">
                  <c:v>-0.24</c:v>
                </c:pt>
              </c:numCache>
            </c:numRef>
          </c:val>
        </c:ser>
        <c:dLbls>
          <c:numFmt formatCode="0.00" sourceLinked="0"/>
          <c:txPr>
            <a:bodyPr/>
            <a:lstStyle/>
            <a:p>
              <a:pPr>
                <a:defRPr sz="1000">
                  <a:solidFill>
                    <a:srgbClr val="36393B"/>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none"/>
        <c:minorTickMark val="none"/>
        <c:tickLblPos val="low"/>
        <c:spPr>
          <a:ln>
            <a:solidFill>
              <a:srgbClr val="B9BCC0"/>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w="6350">
              <a:solidFill>
                <a:srgbClr val="E3E5E7"/>
              </a:solidFill>
            </a:ln>
          </c:spPr>
        </c:majorGridlines>
        <c:numFmt formatCode="0.0" sourceLinked="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5F6266"/>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10/7/26</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10/7/26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[ADWAAIIT · 0:40 · clock 0:40]</a:t>
            </a:r>
          </a:p>
          <a:p>
            <a:r>
              <a:t>Good morning. I'm Adwaaiit, and this is Ayushi.</a:t>
            </a:r>
          </a:p>
          <a:p>
            <a:r>
              <a:t>Here is a number to start with. SEBI found that ninety-three per cent of individual F&amp;O traders lost money between 2022 and 2024. Most of that trading runs on charts and indicators.</a:t>
            </a:r>
          </a:p>
          <a:p>
            <a:r>
              <a:t>So we asked a simple question. Is the problem the tools, or the way people use them?</a:t>
            </a:r>
          </a:p>
          <a:p>
            <a:r>
              <a:t>To answer it, we built twelve indicators, three trading strategies and eight bias experiments in TradingView Pine Script. We tested them on seven large NSE stocks over almost twelve years.</a:t>
            </a:r>
          </a:p>
          <a:p>
            <a:r>
              <a:t>[Pause after "ninety-three per cent". Click.]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[ADWAAIIT · 1:10 · clock 1:50]</a:t>
            </a:r>
          </a:p>
          <a:p>
            <a:r>
              <a:t>Four findings.</a:t>
            </a:r>
          </a:p>
          <a:p>
            <a:r>
              <a:t>One. No indicator has a real edge. None of the twelve buy signals beats an average day by more than chance. The only significant results are negative.</a:t>
            </a:r>
          </a:p>
          <a:p>
            <a:r>
              <a:t>Two. Costs and cash matter more than signals. Once we charge realistic Indian costs, and let idle money earn the Treasury-bill rate, the seven-day and fifteen-day strategies earn less than T-bills.</a:t>
            </a:r>
          </a:p>
          <a:p>
            <a:r>
              <a:t>Three. The sixty-day trend rule held up. On data it had never seen, from 2022 onwards, it beat buy-and-hold with a third of the drawdown. With under five years of data, that is encouraging, not proof.</a:t>
            </a:r>
          </a:p>
          <a:p>
            <a:r>
              <a:t>Four. The biases decide the result, and the fix is subtraction. The best de-biasing step was to drop the rules that fail the hurdle.</a:t>
            </a:r>
          </a:p>
          <a:p>
            <a:r>
              <a:t>The bar at the bottom is our recommendation for a broker or robo-advisor. We come back to it at the end.</a:t>
            </a:r>
          </a:p>
          <a:p>
            <a:r>
              <a:t>[Touch each card as you count. Click.]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[ADWAAIIT · 0:40 · clock 2:30]</a:t>
            </a:r>
          </a:p>
          <a:p>
            <a:r>
              <a:t>We picked one large stock from each of seven sectors. Reliance compounded at seventeen per cent a year. ITC barely moved. Sun Pharma once fell seventy-two per cent.</a:t>
            </a:r>
          </a:p>
          <a:p>
            <a:r>
              <a:t>Two assumptions drive everything that follows, so they are on the slide.</a:t>
            </a:r>
          </a:p>
          <a:p>
            <a:r>
              <a:t>First, costs. Zero brokerage is a headline. Securities transaction tax alone is a tenth of a per cent on each side. With stamp duty and slippage, we charge fifteen basis points a side.</a:t>
            </a:r>
          </a:p>
          <a:p>
            <a:r>
              <a:t>Second, cash. Money that is not in a trade earns about six per cent in Treasury bills. A strategy that sits in cash has to beat that.</a:t>
            </a:r>
          </a:p>
          <a:p>
            <a:r>
              <a:t>Our prices also match TradingView to the paisa, after we corrected three corporate actions.</a:t>
            </a:r>
          </a:p>
          <a:p>
            <a:r>
              <a:t>[Point to the two assumption boxes. Click.]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[ADWAAIIT · 1:00 · clock 3:30]</a:t>
            </a:r>
          </a:p>
          <a:p>
            <a:r>
              <a:t>Requirement one. Twelve indicators from five families, all at textbook settings, identical on every stock.</a:t>
            </a:r>
          </a:p>
          <a:p>
            <a:r>
              <a:t>The chart tests each buy signal. The bar is a t-statistic: how far the signal's ten-day return sits from an average day, measured in standard errors. Beyond about two is significant.</a:t>
            </a:r>
          </a:p>
          <a:p>
            <a:r>
              <a:t>Not one positive bar gets close. The best, the SMA cross, has a t of under one.</a:t>
            </a:r>
          </a:p>
          <a:p>
            <a:r>
              <a:t>If indicators had no edge at all, about half would still land above average by luck. We got four of twelve.</a:t>
            </a:r>
          </a:p>
          <a:p>
            <a:r>
              <a:t>The only significant results point the wrong way. Buying when the Money Flow Index turns up, and buying a twenty-day breakout, both did worse than a random day.</a:t>
            </a:r>
          </a:p>
          <a:p>
            <a:r>
              <a:t>So the tools alone are not the answer. That makes the way they are used the real question.</a:t>
            </a:r>
          </a:p>
          <a:p>
            <a:r>
              <a:t>[Point to the two red bars. Click.]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[ADWAAIIT · 1:00 · clock 4:30]</a:t>
            </a:r>
          </a:p>
          <a:p>
            <a:r>
              <a:t>Everything runs in Pine Script version six. Eighteen files: twelve indicators, a dashboard, three strategies, the Bias Lab and a disciplined strategy.</a:t>
            </a:r>
          </a:p>
          <a:p>
            <a:r>
              <a:t>On the left is the dashboard: all twelve indicators on all seven stocks, on one chart. Look along a row. The votes nearly always agree, because ten of the twelve read the same input, price. More indicators make a verdict look more certain. They do not make it more informed.</a:t>
            </a:r>
          </a:p>
          <a:p>
            <a:r>
              <a:t>On the right, we ran each strategy in TradingView's Strategy Tester and compared it with our Python backtest. Trade counts match within one. The sixty-day gap is a single borderline trade.</a:t>
            </a:r>
          </a:p>
          <a:p>
            <a:r>
              <a:t>One caveat. TradingView pays no interest on cash, so this check uses the old cost setting. It validates the logic. The scripts now default to fifteen basis points.</a:t>
            </a:r>
          </a:p>
          <a:p>
            <a:r>
              <a:t>[Point left, then right. Click.]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[ADWAAIIT · 1:10 · clock 5:40]</a:t>
            </a:r>
          </a:p>
          <a:p>
            <a:r>
              <a:t>Requirement two: strategies for seven, fifteen and sixty days. Mean reversion for a week, momentum for three weeks, trend following for three months.</a:t>
            </a:r>
          </a:p>
          <a:p>
            <a:r>
              <a:t>The chart puts return against worst loss. The dashed line is what Treasury bills paid.</a:t>
            </a:r>
          </a:p>
          <a:p>
            <a:r>
              <a:t>Strategy A, the seven-day rule, sits right on the T-bill line. Strategy B is below it. After costs, both would have been better off in cash.</a:t>
            </a:r>
          </a:p>
          <a:p>
            <a:r>
              <a:t>Strategy C is above the line. It returned about eight per cent a year. Its worst loss was twelve per cent.</a:t>
            </a:r>
          </a:p>
          <a:p>
            <a:r>
              <a:t>Buy-and-hold returned more, about ten per cent. But it fell forty per cent on the way.</a:t>
            </a:r>
          </a:p>
          <a:p>
            <a:r>
              <a:t>Measured per unit of risk, C and buy-and-hold are level. The difference is well inside one standard error. So C's real contribution is a third of the drawdown for the same risk-adjusted return.</a:t>
            </a:r>
          </a:p>
          <a:p>
            <a:r>
              <a:t>[Point to the dashed line, then to C. Click.]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[ADWAAIIT · 1:00 · clock 6:40]</a:t>
            </a:r>
          </a:p>
          <a:p>
            <a:r>
              <a:t>Before we talk about biases, here is how fragile our own results are. Examiners should hear this from us first.</a:t>
            </a:r>
          </a:p>
          <a:p>
            <a:r>
              <a:t>The chart re-runs everything under three sets of assumptions.</a:t>
            </a:r>
          </a:p>
          <a:p>
            <a:r>
              <a:t>On the left, the brokerage headline: almost no cost, and cash earning nothing. Strategies A and B look respectable.</a:t>
            </a:r>
          </a:p>
          <a:p>
            <a:r>
              <a:t>In the middle, realistic costs. A and B shrink towards zero.</a:t>
            </a:r>
          </a:p>
          <a:p>
            <a:r>
              <a:t>On the right, our base case, where cash earns the T-bill rate. A and B fall below zero. C hardly reacts to costs, because it trades about once a year per stock.</a:t>
            </a:r>
          </a:p>
          <a:p>
            <a:r>
              <a:t>The comparison with buy-and-hold depends on the cash rate. With cash at zero, buy-and-hold wins. At six per cent they are level.</a:t>
            </a:r>
          </a:p>
          <a:p>
            <a:r>
              <a:t>And every Sharpe ratio here has a standard error of about a third. So we claim a smaller drawdown, not proven outperformance.</a:t>
            </a:r>
          </a:p>
          <a:p>
            <a:r>
              <a:t>Ayushi will now show where the biases come in.</a:t>
            </a:r>
          </a:p>
          <a:p>
            <a:r>
              <a:t>[Sweep left to right across the three groups. Hand over.]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0:50 · clock 7:30]</a:t>
            </a:r>
          </a:p>
          <a:p>
            <a:r>
              <a:t>Thank you, Adwaaiit. Requirements three and four: eight biases.</a:t>
            </a:r>
          </a:p>
          <a:p>
            <a:r>
              <a:t>Each bias enters at one step of the trading process, shown along the top.</a:t>
            </a:r>
          </a:p>
          <a:p>
            <a:r>
              <a:t>For each one, we wrote the bias into a trading rule and measured what it costs. That tells us the cost of the bias, not how often people show it. For that, we rely on the literature and on SEBI's numbers.</a:t>
            </a:r>
          </a:p>
          <a:p>
            <a:r>
              <a:t>The last column grades our evidence. Four biases are clear. Herding and conservatism are suggestive. Recency is mixed. FOMO is not supported in our data.</a:t>
            </a:r>
          </a:p>
          <a:p>
            <a:r>
              <a:t>We report those as we found them.</a:t>
            </a:r>
          </a:p>
          <a:p>
            <a:r>
              <a:t>[Sweep the strip, then run down the Evidence column. Click.]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1:10 · clock 8:40]</a:t>
            </a:r>
          </a:p>
          <a:p>
            <a:r>
              <a:t>Confirmation bias first. A trader adds indicators until enough agree, then feels certain.</a:t>
            </a:r>
          </a:p>
          <a:p>
            <a:r>
              <a:t>The chart on the left shows why that is an illusion. Every other indicator moves with RSI. Most correlations are above point eight.</a:t>
            </a:r>
          </a:p>
          <a:p>
            <a:r>
              <a:t>So adding confirmations changes nothing. An RSI signal alone is right fifty-four per cent of the time. Add two more oscillators and it is still fifty-four per cent. You just get fewer signals.</a:t>
            </a:r>
          </a:p>
          <a:p>
            <a:r>
              <a:t>Now overconfidence. We tuned Strategy A twenty-five ways and kept the best for each stock.</a:t>
            </a:r>
          </a:p>
          <a:p>
            <a:r>
              <a:t>The first bar is what the trader expects: a Sharpe of point three three. The second is what he got on new data: about zero.</a:t>
            </a:r>
          </a:p>
          <a:p>
            <a:r>
              <a:t>Here is the honest part. The untuned rule fell just as far. So the market changed after 2021. Tuning was not the main culprit.</a:t>
            </a:r>
          </a:p>
          <a:p>
            <a:r>
              <a:t>The bias is believing the in-sample number. That is also why our indicators all run at textbook settings.</a:t>
            </a:r>
          </a:p>
          <a:p>
            <a:r>
              <a:t>[Left chart, then the four bars on the right. Click.]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0:50 · clock 9:30]</a:t>
            </a:r>
          </a:p>
          <a:p>
            <a:r>
              <a:t>Anchoring is letting your purchase price decide when you sell.</a:t>
            </a:r>
          </a:p>
          <a:p>
            <a:r>
              <a:t>We took every losing Strategy B trade and held it until it got back to cost. The average loss shrank, and that is the trap. It feels like it works.</a:t>
            </a:r>
          </a:p>
          <a:p>
            <a:r>
              <a:t>But each trade was held sixty-seven extra days. On the way, the typical position was down about thirteen per cent. One in seven never recovered within a year. And these are survivors, so the real cost is understated.</a:t>
            </a:r>
          </a:p>
          <a:p>
            <a:r>
              <a:t>Representativeness is trusting a pattern's story. 'Overbought' should mean a fall. It didn't. The golden cross should mean a rally. It matched an average day. None of these patterns differs from its base rate.</a:t>
            </a:r>
          </a:p>
          <a:p>
            <a:r>
              <a:t>[Left chart, then right. Click.]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0:50 · clock 10:20]</a:t>
            </a:r>
          </a:p>
          <a:p>
            <a:r>
              <a:t>Recency and conservatism are opposites: overreacting and underreacting.</a:t>
            </a:r>
          </a:p>
          <a:p>
            <a:r>
              <a:t>Recency first. We simulated a trader who switches each month to whatever worked last quarter. It helped on about half the stocks and hurt on the rest. That is what a coin toss looks like, so we grade it mixed.</a:t>
            </a:r>
          </a:p>
          <a:p>
            <a:r>
              <a:t>Conservatism is waiting for slow confirmation. The chart shows how far the stocks had already fallen when each rule finally said 'sell' in the COVID crash.</a:t>
            </a:r>
          </a:p>
          <a:p>
            <a:r>
              <a:t>The fast rules spoke within a week. The death cross waited about two months. By then prices were a third lower, near the bottom.</a:t>
            </a:r>
          </a:p>
          <a:p>
            <a:r>
              <a:t>It is one crash, so we call it suggestive. The lesson still holds: fix each rule's speed in advance, and pair a slow rule with a fast stop.</a:t>
            </a:r>
          </a:p>
          <a:p>
            <a:r>
              <a:t>[Left chart, then right. Click.]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0:50 · clock 11:10]</a:t>
            </a:r>
          </a:p>
          <a:p>
            <a:r>
              <a:t>Herding. Everyone's screen shows the same breakouts, so everyone buys them.</a:t>
            </a:r>
          </a:p>
          <a:p>
            <a:r>
              <a:t>The breakouts that everyone can see did worse than an average day. The Donchian twenty-day breakout is significantly worse at ten days. At five days the gap is borderline, and at twenty days it is not significant. So we call herding suggestive.</a:t>
            </a:r>
          </a:p>
          <a:p>
            <a:r>
              <a:t>FOMO is entering late because you missed the move. For the sixty-day strategy, entering ten days late cut the average trade by nearly forty per cent.</a:t>
            </a:r>
          </a:p>
          <a:p>
            <a:r>
              <a:t>But with only eighty trades, that is not statistically significant. And buying stretched prices did not hurt either.</a:t>
            </a:r>
          </a:p>
          <a:p>
            <a:r>
              <a:t>So in our data, FOMO is not supported. We say so rather than force the textbook story.</a:t>
            </a:r>
          </a:p>
          <a:p>
            <a:r>
              <a:t>[Left chart, then right. Click.]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1:10 · clock 12:20]</a:t>
            </a:r>
          </a:p>
          <a:p>
            <a:r>
              <a:t>Requirement five, mitigation. Every bias enters at a judgement call, so we turned each call into a rule in code. That is the table.</a:t>
            </a:r>
          </a:p>
          <a:p>
            <a:r>
              <a:t>But a mitigation can become a new overfitted belief. So we chose every rule using only 2015 to 2021, and judged it on 2022 onwards.</a:t>
            </a:r>
          </a:p>
          <a:p>
            <a:r>
              <a:t>We tested six candidates per strategy, including Supertrend as a trailing exit. Only one was adopted: a volatility stop for Strategy B. It helped, but B still lost to cash. Supertrend was rejected.</a:t>
            </a:r>
          </a:p>
          <a:p>
            <a:r>
              <a:t>The chart shows the out-of-sample verdict. The sixty-day rule alone did best. Adding the short-horizon strategies, even with their fixes, dragged the portfolio down.</a:t>
            </a:r>
          </a:p>
          <a:p>
            <a:r>
              <a:t>So the de-biasing step that worked was subtraction: drop the rules that fail the hurdle. That is also the hardest step, because it means admitting two of our three strategies don't work.</a:t>
            </a:r>
          </a:p>
          <a:p>
            <a:r>
              <a:t>[Table, then chart. Click.]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1:00 · clock 13:20]</a:t>
            </a:r>
          </a:p>
          <a:p>
            <a:r>
              <a:t>To close, the answer to our opening question.</a:t>
            </a:r>
          </a:p>
          <a:p>
            <a:r>
              <a:t>The tools are weak. No indicator has a real edge.</a:t>
            </a:r>
          </a:p>
          <a:p>
            <a:r>
              <a:t>The process decides. Realistic costs and the cash alternative eliminate short-horizon trading. The patient sixty-day rule survived, with a third of the drawdown.</a:t>
            </a:r>
          </a:p>
          <a:p>
            <a:r>
              <a:t>The biases are where traders lose. Confirmation, overconfidence, anchoring and representativeness all carry a clear cost.</a:t>
            </a:r>
          </a:p>
          <a:p>
            <a:r>
              <a:t>So our recommendation is for the platforms that shape retail behaviour. Default users to long horizons. Show the real cost and the T-bill hurdle before every order. Put the base rate beside every pattern. And never show a backtest without its out-of-sample record.</a:t>
            </a:r>
          </a:p>
          <a:p>
            <a:r>
              <a:t>That is how you design against the ninety-three per cent.</a:t>
            </a:r>
          </a:p>
          <a:p>
            <a:r>
              <a:t>[Count the four rows, then the card. Click.]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not presented]</a:t>
            </a:r>
          </a:p>
          <a:p>
            <a:r>
              <a:t>Use if asked which indicator worked on which stock. Point out that cells flip sign across stocks: RSI adds 2.5 points on Sun Pharma and loses 2.1 on Maruti.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not presented]</a:t>
            </a:r>
          </a:p>
          <a:p>
            <a:r>
              <a:t>Use if asked about conventions, costs, corporate actions or which file does what.</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[ADWAAIIT · 0:20 · clock 13:40]</a:t>
            </a:r>
          </a:p>
          <a:p>
            <a:r>
              <a:t>Thank you. We'd be glad to take questions. If it helps, we can open the Bias Lab on any of the seven stocks and show a bias live.</a:t>
            </a:r>
          </a:p>
          <a:p/>
          <a:p>
            <a:r>
              <a:t>PREPARED ANSWERS (about 20 seconds each)</a:t>
            </a:r>
          </a:p>
          <a:p>
            <a:r>
              <a:t>Q: Is anything statistically significant?</a:t>
            </a:r>
          </a:p>
          <a:p>
            <a:r>
              <a:t>A: Two indicator results, both negative, and anchoring's return effect, which is exactly the trap. Every Sharpe comparison is within about one standard error, so we claim a smaller drawdown, not proven outperformance.</a:t>
            </a:r>
          </a:p>
          <a:p>
            <a:r>
              <a:t>Q: How can confirmation and representativeness be 'clear' when the tests found no difference?</a:t>
            </a:r>
          </a:p>
          <a:p>
            <a:r>
              <a:t>A: Because the claim is that the extra information adds nothing. A null result with large samples is the evidence: hundreds of signals, and the hit rate does not move.</a:t>
            </a:r>
          </a:p>
          <a:p>
            <a:r>
              <a:t>Q: Why 0.15% costs when brokerage is zero?</a:t>
            </a:r>
          </a:p>
          <a:p>
            <a:r>
              <a:t>A: STT is 0.1% on each side of a delivery trade. Add stamp duty, exchange charges, GST and slippage, and 0.15% a side is conservative but realistic.</a:t>
            </a:r>
          </a:p>
          <a:p>
            <a:r>
              <a:t>Q: Why credit cash with 6%?</a:t>
            </a:r>
          </a:p>
          <a:p>
            <a:r>
              <a:t>A: That is roughly what 91-day T-bills paid. At zero, any strategy that holds cash is penalised. We show both in the robustness slide.</a:t>
            </a:r>
          </a:p>
          <a:p>
            <a:r>
              <a:t>Q: Your overconfidence test: isn't the drop just a bad market?</a:t>
            </a:r>
          </a:p>
          <a:p>
            <a:r>
              <a:t>A: Partly, yes. The untuned rule fell just as far. That is why we define the bias as believing the in-sample number, not as tuning itself.</a:t>
            </a:r>
          </a:p>
          <a:p>
            <a:r>
              <a:t>Q: Isn't the 60-day result luck?</a:t>
            </a:r>
          </a:p>
          <a:p>
            <a:r>
              <a:t>A: It might be. Out-of-sample, the standard error is about 0.5. It is consistent with the trend-persistence literature, but we don't claim proof.</a:t>
            </a:r>
          </a:p>
          <a:p>
            <a:r>
              <a:t>Q: Why 12 indicators if four aren't in the strategies?</a:t>
            </a:r>
          </a:p>
          <a:p>
            <a:r>
              <a:t>A: They are used in the indicator tests and bias experiments, and we tested Supertrend as an exit. It was rejected. Adding them to entries would be the indicator shopping we call confirmation bias.</a:t>
            </a:r>
          </a:p>
          <a:p>
            <a:r>
              <a:t>Q: Survivorship?</a:t>
            </a:r>
          </a:p>
          <a:p>
            <a:r>
              <a:t>A: Today's large caps flatter buy-and-hold and the breakeven anchor. A point-in-time universe is the fix.</a:t>
            </a:r>
          </a:p>
          <a:p>
            <a:r>
              <a:t>Q: Do your experiments show people actually have these biases?</a:t>
            </a:r>
          </a:p>
          <a:p>
            <a:r>
              <a:t>A: No. They show what a bias costs when it is in a rule. Prevalence comes from the literature and from SEBI's data.</a:t>
            </a:r>
          </a:p>
        </p:txBody>
      </p:sp>
      <p:sp>
        <p:nvSpPr>
          <p:cNvPr id="4" name="Slide Number Placeholder 3"/>
          <p:cNvSpPr>
            <a:spLocks noGrp="1"/>
          </p:cNvSpPr>
          <p:nvPr>
            <p:ph type="sldNum" sz="quarter" idx="5"/>
          </p:nvPr>
        </p:nvSpPr>
        <p:spPr/>
        <p:txBody>
          <a:bodyPr/>
          <a:lstStyle/>
          <a:p>
            <a:fld id="{8D7D3E5B-4BED-B24C-9674-6B6454D04561}" type="slidenum">
              <a:rPr lang="en-US" smtClean="0"/>
              <a:t>15</a:t>
            </a:fld>
            <a:endParaRPr lang="en-US" dirty="0"/>
          </a:p>
        </p:txBody>
      </p:sp>
    </p:spTree>
    <p:extLst>
      <p:ext uri="{BB962C8B-B14F-4D97-AF65-F5344CB8AC3E}">
        <p14:creationId xmlns:p14="http://schemas.microsoft.com/office/powerpoint/2010/main" val="231828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3.wdp"/></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microsoft.com/office/2007/relationships/hdphoto" Target="../media/hdphoto4.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microsoft.com/office/2007/relationships/hdphoto" Target="../media/hdphoto5.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1EBC0340-3AAE-A39F-0BAF-0E7430611152}"/>
              </a:ext>
            </a:extLst>
          </p:cNvPr>
          <p:cNvSpPr/>
          <p:nvPr userDrawn="1"/>
        </p:nvSpPr>
        <p:spPr>
          <a:xfrm>
            <a:off x="3127386" y="1976768"/>
            <a:ext cx="6929120" cy="4877511"/>
          </a:xfrm>
          <a:custGeom>
            <a:avLst/>
            <a:gdLst>
              <a:gd name="connsiteX0" fmla="*/ 3464560 w 6929120"/>
              <a:gd name="connsiteY0" fmla="*/ 0 h 4877511"/>
              <a:gd name="connsiteX1" fmla="*/ 6929120 w 6929120"/>
              <a:gd name="connsiteY1" fmla="*/ 3464560 h 4877511"/>
              <a:gd name="connsiteX2" fmla="*/ 6656858 w 6929120"/>
              <a:gd name="connsiteY2" fmla="*/ 4813124 h 4877511"/>
              <a:gd name="connsiteX3" fmla="*/ 6625841 w 6929120"/>
              <a:gd name="connsiteY3" fmla="*/ 4877511 h 4877511"/>
              <a:gd name="connsiteX4" fmla="*/ 303280 w 6929120"/>
              <a:gd name="connsiteY4" fmla="*/ 4877511 h 4877511"/>
              <a:gd name="connsiteX5" fmla="*/ 272263 w 6929120"/>
              <a:gd name="connsiteY5" fmla="*/ 4813124 h 4877511"/>
              <a:gd name="connsiteX6" fmla="*/ 0 w 6929120"/>
              <a:gd name="connsiteY6" fmla="*/ 3464560 h 4877511"/>
              <a:gd name="connsiteX7" fmla="*/ 3464560 w 6929120"/>
              <a:gd name="connsiteY7" fmla="*/ 0 h 487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9120" h="4877511">
                <a:moveTo>
                  <a:pt x="3464560" y="0"/>
                </a:moveTo>
                <a:cubicBezTo>
                  <a:pt x="5377984" y="0"/>
                  <a:pt x="6929120" y="1551136"/>
                  <a:pt x="6929120" y="3464560"/>
                </a:cubicBezTo>
                <a:cubicBezTo>
                  <a:pt x="6929120" y="3942916"/>
                  <a:pt x="6832174" y="4398629"/>
                  <a:pt x="6656858" y="4813124"/>
                </a:cubicBezTo>
                <a:lnTo>
                  <a:pt x="6625841" y="4877511"/>
                </a:lnTo>
                <a:lnTo>
                  <a:pt x="303280" y="4877511"/>
                </a:lnTo>
                <a:lnTo>
                  <a:pt x="272263" y="4813124"/>
                </a:lnTo>
                <a:cubicBezTo>
                  <a:pt x="96946" y="4398629"/>
                  <a:pt x="0" y="3942916"/>
                  <a:pt x="0" y="3464560"/>
                </a:cubicBezTo>
                <a:cubicBezTo>
                  <a:pt x="0" y="1551136"/>
                  <a:pt x="1551136" y="0"/>
                  <a:pt x="346456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0" name="Picture 9" descr="Gap between two buildings against the blue sky">
            <a:extLst>
              <a:ext uri="{FF2B5EF4-FFF2-40B4-BE49-F238E27FC236}">
                <a16:creationId xmlns:a16="http://schemas.microsoft.com/office/drawing/2014/main" id="{C40F96A3-9DAF-4D22-64AD-CEC023D28D9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0546"/>
                    </a14:imgEffect>
                    <a14:imgEffect>
                      <a14:saturation sat="0"/>
                    </a14:imgEffect>
                    <a14:imgEffect>
                      <a14:brightnessContrast bright="-34000" contrast="60000"/>
                    </a14:imgEffect>
                  </a14:imgLayer>
                </a14:imgProps>
              </a:ext>
              <a:ext uri="{28A0092B-C50C-407E-A947-70E740481C1C}">
                <a14:useLocalDpi xmlns:a14="http://schemas.microsoft.com/office/drawing/2010/main"/>
              </a:ext>
            </a:extLst>
          </a:blip>
          <a:srcRect t="2550" b="8386"/>
          <a:stretch/>
        </p:blipFill>
        <p:spPr>
          <a:xfrm>
            <a:off x="760411" y="0"/>
            <a:ext cx="11431589" cy="6858000"/>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816767" y="1399032"/>
            <a:ext cx="6757416" cy="3427502"/>
          </a:xfrm>
        </p:spPr>
        <p:txBody>
          <a:bodyPr lIns="0" tIns="0" rIns="0" bIns="0" anchor="t">
            <a:noAutofit/>
          </a:bodyPr>
          <a:lstStyle>
            <a:lvl1pPr algn="l">
              <a:defRPr sz="4500" cap="all" baseline="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816768" y="417444"/>
            <a:ext cx="7414940" cy="883258"/>
          </a:xfrm>
        </p:spPr>
        <p:txBody>
          <a:bodyPr lIns="0" tIns="0" rIns="0" bIns="182880" anchor="b">
            <a:noAutofit/>
          </a:bodyPr>
          <a:lstStyle>
            <a:lvl1pPr marL="0" indent="0" algn="l">
              <a:lnSpc>
                <a:spcPct val="100000"/>
              </a:lnSpc>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1" y="640080"/>
            <a:ext cx="5029200" cy="2157984"/>
          </a:xfrm>
        </p:spPr>
        <p:txBody>
          <a:bodyPr lIns="0" tIns="0" rIns="0" bIns="0" anchor="b">
            <a:noAutofit/>
          </a:bodyPr>
          <a:lstStyle>
            <a:lvl1pPr>
              <a:defRPr sz="3200" cap="all" baseline="0"/>
            </a:lvl1pPr>
          </a:lstStyle>
          <a:p>
            <a:r>
              <a:rPr lang="en-US" dirty="0"/>
              <a:t>CLICK TO EDIT MASTER TITLE STYLE</a:t>
            </a:r>
          </a:p>
        </p:txBody>
      </p:sp>
      <p:sp>
        <p:nvSpPr>
          <p:cNvPr id="5" name="Picture Placeholder 4">
            <a:extLst>
              <a:ext uri="{FF2B5EF4-FFF2-40B4-BE49-F238E27FC236}">
                <a16:creationId xmlns:a16="http://schemas.microsoft.com/office/drawing/2014/main" id="{346650F3-FE62-E3A1-C1F7-6A7E767D0045}"/>
              </a:ext>
            </a:extLst>
          </p:cNvPr>
          <p:cNvSpPr>
            <a:spLocks noGrp="1"/>
          </p:cNvSpPr>
          <p:nvPr>
            <p:ph type="pic" sz="quarter" idx="10"/>
          </p:nvPr>
        </p:nvSpPr>
        <p:spPr>
          <a:xfrm>
            <a:off x="1395412" y="653461"/>
            <a:ext cx="4597556" cy="5549900"/>
          </a:xfrm>
        </p:spPr>
        <p:txBody>
          <a:bodyPr/>
          <a:lstStyle/>
          <a:p>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1" y="3127248"/>
            <a:ext cx="4834517" cy="3108960"/>
          </a:xfrm>
        </p:spPr>
        <p:txBody>
          <a:bodyPr lIns="0" tIns="0" rIns="0" bIns="0">
            <a:noAutofit/>
          </a:bodyPr>
          <a:lstStyle>
            <a:lvl1pPr marL="0" indent="0">
              <a:lnSpc>
                <a:spcPct val="120000"/>
              </a:lnSpc>
              <a:spcBef>
                <a:spcPts val="0"/>
              </a:spcBef>
              <a:spcAft>
                <a:spcPts val="1200"/>
              </a:spcAft>
              <a:buNone/>
              <a:defRPr sz="18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4" name="Rectangle 3">
            <a:extLst>
              <a:ext uri="{FF2B5EF4-FFF2-40B4-BE49-F238E27FC236}">
                <a16:creationId xmlns:a16="http://schemas.microsoft.com/office/drawing/2014/main" id="{6D80952A-DC24-8DFB-F8E3-1AAC5A9D5F6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1">
            <a:extLst>
              <a:ext uri="{FF2B5EF4-FFF2-40B4-BE49-F238E27FC236}">
                <a16:creationId xmlns:a16="http://schemas.microsoft.com/office/drawing/2014/main" id="{21A89689-0612-8B49-DF4A-1864B8558C5C}"/>
              </a:ext>
            </a:extLst>
          </p:cNvPr>
          <p:cNvSpPr>
            <a:spLocks noGrp="1"/>
          </p:cNvSpPr>
          <p:nvPr>
            <p:ph type="ftr" sz="quarter" idx="12"/>
          </p:nvPr>
        </p:nvSpPr>
        <p:spPr>
          <a:xfrm rot="16200000">
            <a:off x="8854442" y="2953511"/>
            <a:ext cx="6291068" cy="384048"/>
          </a:xfrm>
        </p:spPr>
        <p:txBody>
          <a:bodyPr/>
          <a:lstStyle/>
          <a:p>
            <a:r>
              <a:rPr lang="en-US" dirty="0"/>
              <a:t>Presentation Title</a:t>
            </a:r>
          </a:p>
        </p:txBody>
      </p:sp>
      <p:sp>
        <p:nvSpPr>
          <p:cNvPr id="13" name="Slide Number Placeholder 4">
            <a:extLst>
              <a:ext uri="{FF2B5EF4-FFF2-40B4-BE49-F238E27FC236}">
                <a16:creationId xmlns:a16="http://schemas.microsoft.com/office/drawing/2014/main" id="{2FE54DA2-6D33-7833-E646-95347EF8B9AD}"/>
              </a:ext>
            </a:extLst>
          </p:cNvPr>
          <p:cNvSpPr>
            <a:spLocks noGrp="1"/>
          </p:cNvSpPr>
          <p:nvPr>
            <p:ph type="sldNum" sz="quarter" idx="13"/>
          </p:nvPr>
        </p:nvSpPr>
        <p:spPr>
          <a:xfrm rot="16200000">
            <a:off x="11716512" y="6382510"/>
            <a:ext cx="566928" cy="384048"/>
          </a:xfrm>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2003179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DE39F4-E652-D021-FAC3-9A057954548D}"/>
              </a:ext>
            </a:extLst>
          </p:cNvPr>
          <p:cNvSpPr/>
          <p:nvPr userDrawn="1"/>
        </p:nvSpPr>
        <p:spPr>
          <a:xfrm>
            <a:off x="0" y="0"/>
            <a:ext cx="4553712" cy="2432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6693408" y="640080"/>
            <a:ext cx="5093208" cy="2189223"/>
          </a:xfrm>
        </p:spPr>
        <p:txBody>
          <a:bodyPr lIns="0" tIns="0" rIns="0" bIns="0" anchor="b">
            <a:noAutofit/>
          </a:bodyPr>
          <a:lstStyle>
            <a:lvl1pPr>
              <a:defRPr sz="3200" baseline="0">
                <a:solidFill>
                  <a:schemeClr val="tx1"/>
                </a:solidFill>
              </a:defRPr>
            </a:lvl1pPr>
          </a:lstStyle>
          <a:p>
            <a:r>
              <a:rPr lang="en-US" dirty="0"/>
              <a:t>CLICK TO EDIT MASTER TITLE STYLE</a:t>
            </a:r>
          </a:p>
        </p:txBody>
      </p:sp>
      <p:sp>
        <p:nvSpPr>
          <p:cNvPr id="6" name="Picture Placeholder 5">
            <a:extLst>
              <a:ext uri="{FF2B5EF4-FFF2-40B4-BE49-F238E27FC236}">
                <a16:creationId xmlns:a16="http://schemas.microsoft.com/office/drawing/2014/main" id="{5FBA0098-0696-799B-78DA-DBE833190D57}"/>
              </a:ext>
            </a:extLst>
          </p:cNvPr>
          <p:cNvSpPr>
            <a:spLocks noGrp="1"/>
          </p:cNvSpPr>
          <p:nvPr>
            <p:ph type="pic" sz="quarter" idx="11"/>
          </p:nvPr>
        </p:nvSpPr>
        <p:spPr>
          <a:xfrm>
            <a:off x="832104" y="640080"/>
            <a:ext cx="4727448" cy="5559552"/>
          </a:xfrm>
          <a:custGeom>
            <a:avLst/>
            <a:gdLst>
              <a:gd name="connsiteX0" fmla="*/ 0 w 4727448"/>
              <a:gd name="connsiteY0" fmla="*/ 0 h 5559552"/>
              <a:gd name="connsiteX1" fmla="*/ 4727448 w 4727448"/>
              <a:gd name="connsiteY1" fmla="*/ 0 h 5559552"/>
              <a:gd name="connsiteX2" fmla="*/ 4727448 w 4727448"/>
              <a:gd name="connsiteY2" fmla="*/ 2500529 h 5559552"/>
              <a:gd name="connsiteX3" fmla="*/ 4596278 w 4727448"/>
              <a:gd name="connsiteY3" fmla="*/ 2513752 h 5559552"/>
              <a:gd name="connsiteX4" fmla="*/ 4071308 w 4727448"/>
              <a:gd name="connsiteY4" fmla="*/ 3157867 h 5559552"/>
              <a:gd name="connsiteX5" fmla="*/ 4596278 w 4727448"/>
              <a:gd name="connsiteY5" fmla="*/ 3801983 h 5559552"/>
              <a:gd name="connsiteX6" fmla="*/ 4727448 w 4727448"/>
              <a:gd name="connsiteY6" fmla="*/ 3815206 h 5559552"/>
              <a:gd name="connsiteX7" fmla="*/ 4727448 w 4727448"/>
              <a:gd name="connsiteY7" fmla="*/ 5559552 h 5559552"/>
              <a:gd name="connsiteX8" fmla="*/ 0 w 4727448"/>
              <a:gd name="connsiteY8" fmla="*/ 5559552 h 555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7448" h="5559552">
                <a:moveTo>
                  <a:pt x="0" y="0"/>
                </a:moveTo>
                <a:lnTo>
                  <a:pt x="4727448" y="0"/>
                </a:lnTo>
                <a:lnTo>
                  <a:pt x="4727448" y="2500529"/>
                </a:lnTo>
                <a:lnTo>
                  <a:pt x="4596278" y="2513752"/>
                </a:lnTo>
                <a:cubicBezTo>
                  <a:pt x="4296678" y="2575059"/>
                  <a:pt x="4071308" y="2840144"/>
                  <a:pt x="4071308" y="3157867"/>
                </a:cubicBezTo>
                <a:cubicBezTo>
                  <a:pt x="4071308" y="3475590"/>
                  <a:pt x="4296678" y="3740676"/>
                  <a:pt x="4596278" y="3801983"/>
                </a:cubicBezTo>
                <a:lnTo>
                  <a:pt x="4727448" y="3815206"/>
                </a:lnTo>
                <a:lnTo>
                  <a:pt x="4727448" y="5559552"/>
                </a:lnTo>
                <a:lnTo>
                  <a:pt x="0" y="5559552"/>
                </a:lnTo>
                <a:close/>
              </a:path>
            </a:pathLst>
          </a:custGeom>
          <a:solidFill>
            <a:schemeClr val="accent1">
              <a:lumMod val="20000"/>
              <a:lumOff val="80000"/>
            </a:schemeClr>
          </a:solidFill>
        </p:spPr>
        <p:txBody>
          <a:bodyPr wrap="square" anchor="ctr">
            <a:noAutofit/>
          </a:bodyPr>
          <a:lstStyle>
            <a:lvl1pPr algn="ctr">
              <a:defRPr/>
            </a:lvl1pPr>
          </a:lstStyle>
          <a:p>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93408" y="3145536"/>
            <a:ext cx="4306824" cy="2313432"/>
          </a:xfrm>
        </p:spPr>
        <p:txBody>
          <a:bodyPr lIns="0" tIns="0" rIns="0" bIns="0">
            <a:noAutofit/>
          </a:bodyPr>
          <a:lstStyle>
            <a:lvl1pPr marL="0" indent="0">
              <a:lnSpc>
                <a:spcPct val="120000"/>
              </a:lnSpc>
              <a:spcBef>
                <a:spcPts val="0"/>
              </a:spcBef>
              <a:spcAft>
                <a:spcPts val="120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Oval 6">
            <a:extLst>
              <a:ext uri="{FF2B5EF4-FFF2-40B4-BE49-F238E27FC236}">
                <a16:creationId xmlns:a16="http://schemas.microsoft.com/office/drawing/2014/main" id="{9AF214F5-1EBC-DA96-F275-05A0133562D0}"/>
              </a:ext>
            </a:extLst>
          </p:cNvPr>
          <p:cNvSpPr/>
          <p:nvPr userDrawn="1"/>
        </p:nvSpPr>
        <p:spPr>
          <a:xfrm>
            <a:off x="4903412" y="3140474"/>
            <a:ext cx="1314946" cy="1314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image">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592F592C-CC3F-8FC0-DAF8-24019474CAB1}"/>
              </a:ext>
            </a:extLst>
          </p:cNvPr>
          <p:cNvSpPr>
            <a:spLocks noGrp="1"/>
          </p:cNvSpPr>
          <p:nvPr>
            <p:ph type="title" hasCustomPrompt="1"/>
          </p:nvPr>
        </p:nvSpPr>
        <p:spPr>
          <a:xfrm>
            <a:off x="847383" y="1106424"/>
            <a:ext cx="6839712" cy="1746504"/>
          </a:xfrm>
        </p:spPr>
        <p:txBody>
          <a:bodyPr lIns="0" tIns="0" rIns="0" bIns="0" anchor="b">
            <a:noAutofit/>
          </a:bodyPr>
          <a:lstStyle>
            <a:lvl1pPr>
              <a:defRPr sz="3200" baseline="0">
                <a:latin typeface="+mj-lt"/>
              </a:defRPr>
            </a:lvl1pPr>
          </a:lstStyle>
          <a:p>
            <a:r>
              <a:rPr lang="en-US" dirty="0"/>
              <a:t>CLICK TO EDIT MASTER TITLE</a:t>
            </a:r>
          </a:p>
        </p:txBody>
      </p:sp>
      <p:sp>
        <p:nvSpPr>
          <p:cNvPr id="13" name="Text Placeholder 2">
            <a:extLst>
              <a:ext uri="{FF2B5EF4-FFF2-40B4-BE49-F238E27FC236}">
                <a16:creationId xmlns:a16="http://schemas.microsoft.com/office/drawing/2014/main" id="{ED5AF112-F5BD-9AA8-0E64-A6972333DDB1}"/>
              </a:ext>
            </a:extLst>
          </p:cNvPr>
          <p:cNvSpPr>
            <a:spLocks noGrp="1"/>
          </p:cNvSpPr>
          <p:nvPr>
            <p:ph type="body" idx="1"/>
          </p:nvPr>
        </p:nvSpPr>
        <p:spPr>
          <a:xfrm>
            <a:off x="850392" y="3236976"/>
            <a:ext cx="5248656" cy="2660904"/>
          </a:xfrm>
        </p:spPr>
        <p:txBody>
          <a:bodyPr lIns="0" tIns="0" rIns="0" bIns="0">
            <a:noAutofit/>
          </a:bodyPr>
          <a:lstStyle>
            <a:lvl1pPr marL="0" indent="0">
              <a:lnSpc>
                <a:spcPct val="120000"/>
              </a:lnSpc>
              <a:spcBef>
                <a:spcPts val="0"/>
              </a:spcBef>
              <a:spcAft>
                <a:spcPts val="1200"/>
              </a:spcAft>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Picture Placeholder 8">
            <a:extLst>
              <a:ext uri="{FF2B5EF4-FFF2-40B4-BE49-F238E27FC236}">
                <a16:creationId xmlns:a16="http://schemas.microsoft.com/office/drawing/2014/main" id="{DD9A5508-A146-4C36-FF14-5B78325C526D}"/>
              </a:ext>
            </a:extLst>
          </p:cNvPr>
          <p:cNvSpPr>
            <a:spLocks noGrp="1"/>
          </p:cNvSpPr>
          <p:nvPr>
            <p:ph type="pic" sz="quarter" idx="12"/>
          </p:nvPr>
        </p:nvSpPr>
        <p:spPr>
          <a:xfrm>
            <a:off x="7680960" y="804672"/>
            <a:ext cx="3475649" cy="5248656"/>
          </a:xfrm>
          <a:solidFill>
            <a:schemeClr val="accent1">
              <a:lumMod val="20000"/>
              <a:lumOff val="80000"/>
            </a:schemeClr>
          </a:solidFill>
        </p:spPr>
        <p:txBody>
          <a:bodyPr anchor="ctr"/>
          <a:lstStyle>
            <a:lvl1pPr algn="ctr">
              <a:defRPr/>
            </a:lvl1pPr>
          </a:lstStyle>
          <a:p>
            <a:endParaRPr lang="en-US" dirty="0"/>
          </a:p>
        </p:txBody>
      </p:sp>
      <p:sp>
        <p:nvSpPr>
          <p:cNvPr id="3" name="Footer Placeholder 2">
            <a:extLst>
              <a:ext uri="{FF2B5EF4-FFF2-40B4-BE49-F238E27FC236}">
                <a16:creationId xmlns:a16="http://schemas.microsoft.com/office/drawing/2014/main" id="{8DE7E217-DB17-AA1B-8753-DBFDF42AB32F}"/>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CD6FA3F1-16D7-20B8-B929-59317A576C99}"/>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830579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p:spTree>
      <p:nvGrpSpPr>
        <p:cNvPr id="1" name=""/>
        <p:cNvGrpSpPr/>
        <p:nvPr/>
      </p:nvGrpSpPr>
      <p:grpSpPr>
        <a:xfrm>
          <a:off x="0" y="0"/>
          <a:ext cx="0" cy="0"/>
          <a:chOff x="0" y="0"/>
          <a:chExt cx="0" cy="0"/>
        </a:xfrm>
      </p:grpSpPr>
      <p:pic>
        <p:nvPicPr>
          <p:cNvPr id="37" name="Picture 36" descr="A picture containing accessory&#10;&#10;Description automatically generated">
            <a:extLst>
              <a:ext uri="{FF2B5EF4-FFF2-40B4-BE49-F238E27FC236}">
                <a16:creationId xmlns:a16="http://schemas.microsoft.com/office/drawing/2014/main" id="{C36ADBF6-BB82-4096-70C0-7517A47A412F}"/>
              </a:ext>
            </a:extLst>
          </p:cNvPr>
          <p:cNvPicPr>
            <a:picLocks noChangeAspect="1"/>
          </p:cNvPicPr>
          <p:nvPr userDrawn="1"/>
        </p:nvPicPr>
        <p:blipFill>
          <a:blip r:embed="rId2" cstate="print">
            <a:grayscl/>
            <a:extLst>
              <a:ext uri="{BEBA8EAE-BF5A-486C-A8C5-ECC9F3942E4B}">
                <a14:imgProps xmlns:a14="http://schemas.microsoft.com/office/drawing/2010/main">
                  <a14:imgLayer r:embed="rId3">
                    <a14:imgEffect>
                      <a14:colorTemperature colorTemp="4700"/>
                    </a14:imgEffect>
                    <a14:imgEffect>
                      <a14:saturation sat="33000"/>
                    </a14:imgEffect>
                    <a14:imgEffect>
                      <a14:brightnessContrast contrast="40000"/>
                    </a14:imgEffect>
                  </a14:imgLayer>
                </a14:imgProps>
              </a:ext>
              <a:ext uri="{28A0092B-C50C-407E-A947-70E740481C1C}">
                <a14:useLocalDpi xmlns:a14="http://schemas.microsoft.com/office/drawing/2010/main"/>
              </a:ext>
            </a:extLst>
          </a:blip>
          <a:srcRect r="21975" b="1533"/>
          <a:stretch>
            <a:fillRect/>
          </a:stretch>
        </p:blipFill>
        <p:spPr>
          <a:xfrm rot="8325578">
            <a:off x="-1775001" y="-1607470"/>
            <a:ext cx="10567962" cy="8905077"/>
          </a:xfrm>
          <a:custGeom>
            <a:avLst/>
            <a:gdLst>
              <a:gd name="connsiteX0" fmla="*/ 6047036 w 10567962"/>
              <a:gd name="connsiteY0" fmla="*/ 8905077 h 8905077"/>
              <a:gd name="connsiteX1" fmla="*/ 0 w 10567962"/>
              <a:gd name="connsiteY1" fmla="*/ 3603767 h 8905077"/>
              <a:gd name="connsiteX2" fmla="*/ 0 w 10567962"/>
              <a:gd name="connsiteY2" fmla="*/ 0 h 8905077"/>
              <a:gd name="connsiteX3" fmla="*/ 6292508 w 10567962"/>
              <a:gd name="connsiteY3" fmla="*/ 0 h 8905077"/>
              <a:gd name="connsiteX4" fmla="*/ 10567962 w 10567962"/>
              <a:gd name="connsiteY4" fmla="*/ 3748201 h 890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7962" h="8905077">
                <a:moveTo>
                  <a:pt x="6047036" y="8905077"/>
                </a:moveTo>
                <a:lnTo>
                  <a:pt x="0" y="3603767"/>
                </a:lnTo>
                <a:lnTo>
                  <a:pt x="0" y="0"/>
                </a:lnTo>
                <a:lnTo>
                  <a:pt x="6292508" y="0"/>
                </a:lnTo>
                <a:lnTo>
                  <a:pt x="10567962" y="3748201"/>
                </a:lnTo>
                <a:close/>
              </a:path>
            </a:pathLst>
          </a:custGeom>
        </p:spPr>
      </p:pic>
      <p:sp>
        <p:nvSpPr>
          <p:cNvPr id="14" name="Freeform 13">
            <a:extLst>
              <a:ext uri="{FF2B5EF4-FFF2-40B4-BE49-F238E27FC236}">
                <a16:creationId xmlns:a16="http://schemas.microsoft.com/office/drawing/2014/main" id="{FA127B08-9EC5-3FDF-B7CC-DF3587255E18}"/>
              </a:ext>
            </a:extLst>
          </p:cNvPr>
          <p:cNvSpPr/>
          <p:nvPr userDrawn="1"/>
        </p:nvSpPr>
        <p:spPr>
          <a:xfrm>
            <a:off x="925160" y="4144752"/>
            <a:ext cx="4788322" cy="2713249"/>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10" name="Title 1">
            <a:extLst>
              <a:ext uri="{FF2B5EF4-FFF2-40B4-BE49-F238E27FC236}">
                <a16:creationId xmlns:a16="http://schemas.microsoft.com/office/drawing/2014/main" id="{0651D38D-DD64-4914-C669-30AA47A5AF3A}"/>
              </a:ext>
            </a:extLst>
          </p:cNvPr>
          <p:cNvSpPr>
            <a:spLocks noGrp="1"/>
          </p:cNvSpPr>
          <p:nvPr>
            <p:ph type="title" hasCustomPrompt="1"/>
          </p:nvPr>
        </p:nvSpPr>
        <p:spPr>
          <a:xfrm>
            <a:off x="6693408" y="1325880"/>
            <a:ext cx="5093208" cy="2816352"/>
          </a:xfrm>
        </p:spPr>
        <p:txBody>
          <a:bodyPr lIns="0" tIns="0" rIns="0" bIns="0" anchor="b">
            <a:noAutofit/>
          </a:bodyPr>
          <a:lstStyle>
            <a:lvl1pPr>
              <a:defRPr sz="3200" cap="all" baseline="0"/>
            </a:lvl1pPr>
          </a:lstStyle>
          <a:p>
            <a:r>
              <a:rPr lang="en-US" dirty="0"/>
              <a:t>CLICK TO EDIT MASTER TITLE STYLE</a:t>
            </a:r>
          </a:p>
        </p:txBody>
      </p:sp>
      <p:sp>
        <p:nvSpPr>
          <p:cNvPr id="12" name="Subtitle 2">
            <a:extLst>
              <a:ext uri="{FF2B5EF4-FFF2-40B4-BE49-F238E27FC236}">
                <a16:creationId xmlns:a16="http://schemas.microsoft.com/office/drawing/2014/main" id="{5A8DA7F4-A65E-7F16-9966-719CC1CE28D2}"/>
              </a:ext>
            </a:extLst>
          </p:cNvPr>
          <p:cNvSpPr>
            <a:spLocks noGrp="1"/>
          </p:cNvSpPr>
          <p:nvPr>
            <p:ph type="subTitle" idx="1"/>
          </p:nvPr>
        </p:nvSpPr>
        <p:spPr>
          <a:xfrm>
            <a:off x="6693408" y="4462272"/>
            <a:ext cx="3995928" cy="1956816"/>
          </a:xfrm>
        </p:spPr>
        <p:txBody>
          <a:bodyPr lIns="0" tIns="0" rIns="0" bIns="0">
            <a:noAutofit/>
          </a:bodyPr>
          <a:lstStyle>
            <a:lvl1pPr marL="0" indent="0" algn="l">
              <a:lnSpc>
                <a:spcPct val="120000"/>
              </a:lnSpc>
              <a:spcBef>
                <a:spcPts val="0"/>
              </a:spcBef>
              <a:spcAft>
                <a:spcPts val="1200"/>
              </a:spcAft>
              <a:buNone/>
              <a:defRPr sz="1800" cap="none" spc="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2" name="Rectangle 1">
            <a:extLst>
              <a:ext uri="{FF2B5EF4-FFF2-40B4-BE49-F238E27FC236}">
                <a16:creationId xmlns:a16="http://schemas.microsoft.com/office/drawing/2014/main" id="{7FD6A538-39F8-D45E-F4C1-38779C640BB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77806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14" name="Freeform 10">
            <a:extLst>
              <a:ext uri="{FF2B5EF4-FFF2-40B4-BE49-F238E27FC236}">
                <a16:creationId xmlns:a16="http://schemas.microsoft.com/office/drawing/2014/main" id="{AB86DE8E-78DF-CA66-5AED-C7FF0CCF03CD}"/>
              </a:ext>
              <a:ext uri="{C183D7F6-B498-43B3-948B-1728B52AA6E4}">
                <adec:decorative xmlns:adec="http://schemas.microsoft.com/office/drawing/2017/decorative" val="1"/>
              </a:ext>
            </a:extLst>
          </p:cNvPr>
          <p:cNvSpPr/>
          <p:nvPr userDrawn="1"/>
        </p:nvSpPr>
        <p:spPr>
          <a:xfrm>
            <a:off x="4410512" y="4010866"/>
            <a:ext cx="5056094" cy="2847135"/>
          </a:xfrm>
          <a:custGeom>
            <a:avLst/>
            <a:gdLst>
              <a:gd name="connsiteX0" fmla="*/ 2528047 w 5056094"/>
              <a:gd name="connsiteY0" fmla="*/ 0 h 2847135"/>
              <a:gd name="connsiteX1" fmla="*/ 5056094 w 5056094"/>
              <a:gd name="connsiteY1" fmla="*/ 2528047 h 2847135"/>
              <a:gd name="connsiteX2" fmla="*/ 5043042 w 5056094"/>
              <a:gd name="connsiteY2" fmla="*/ 2786525 h 2847135"/>
              <a:gd name="connsiteX3" fmla="*/ 5033792 w 5056094"/>
              <a:gd name="connsiteY3" fmla="*/ 2847135 h 2847135"/>
              <a:gd name="connsiteX4" fmla="*/ 22302 w 5056094"/>
              <a:gd name="connsiteY4" fmla="*/ 2847135 h 2847135"/>
              <a:gd name="connsiteX5" fmla="*/ 13052 w 5056094"/>
              <a:gd name="connsiteY5" fmla="*/ 2786525 h 2847135"/>
              <a:gd name="connsiteX6" fmla="*/ 0 w 5056094"/>
              <a:gd name="connsiteY6" fmla="*/ 2528047 h 2847135"/>
              <a:gd name="connsiteX7" fmla="*/ 2528047 w 5056094"/>
              <a:gd name="connsiteY7" fmla="*/ 0 h 284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56094" h="2847135">
                <a:moveTo>
                  <a:pt x="2528047" y="0"/>
                </a:moveTo>
                <a:cubicBezTo>
                  <a:pt x="3924249" y="0"/>
                  <a:pt x="5056094" y="1131845"/>
                  <a:pt x="5056094" y="2528047"/>
                </a:cubicBezTo>
                <a:cubicBezTo>
                  <a:pt x="5056094" y="2615310"/>
                  <a:pt x="5051673" y="2701540"/>
                  <a:pt x="5043042" y="2786525"/>
                </a:cubicBezTo>
                <a:lnTo>
                  <a:pt x="5033792" y="2847135"/>
                </a:lnTo>
                <a:lnTo>
                  <a:pt x="22302" y="2847135"/>
                </a:lnTo>
                <a:lnTo>
                  <a:pt x="13052" y="2786525"/>
                </a:lnTo>
                <a:cubicBezTo>
                  <a:pt x="4422" y="2701540"/>
                  <a:pt x="0" y="2615310"/>
                  <a:pt x="0" y="2528047"/>
                </a:cubicBezTo>
                <a:cubicBezTo>
                  <a:pt x="0" y="1131845"/>
                  <a:pt x="1131845" y="0"/>
                  <a:pt x="2528047" y="0"/>
                </a:cubicBezTo>
                <a:close/>
              </a:path>
            </a:pathLst>
          </a:custGeom>
          <a:solidFill>
            <a:schemeClr val="accent1">
              <a:alpha val="8969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5" name="Picture 14" descr="Modern house with cubic design">
            <a:extLst>
              <a:ext uri="{FF2B5EF4-FFF2-40B4-BE49-F238E27FC236}">
                <a16:creationId xmlns:a16="http://schemas.microsoft.com/office/drawing/2014/main" id="{FE966628-FEAF-3BD3-2DC4-23A466ABB935}"/>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12000" contrast="-17000"/>
                    </a14:imgEffect>
                  </a14:imgLayer>
                </a14:imgProps>
              </a:ext>
              <a:ext uri="{28A0092B-C50C-407E-A947-70E740481C1C}">
                <a14:useLocalDpi xmlns:a14="http://schemas.microsoft.com/office/drawing/2010/main"/>
              </a:ext>
            </a:extLst>
          </a:blip>
          <a:srcRect l="-406" r="17667" b="23487"/>
          <a:stretch/>
        </p:blipFill>
        <p:spPr>
          <a:xfrm>
            <a:off x="4124294" y="2125402"/>
            <a:ext cx="7678065" cy="4732598"/>
          </a:xfrm>
          <a:prstGeom prst="rect">
            <a:avLst/>
          </a:prstGeom>
        </p:spPr>
      </p:pic>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850392" y="420624"/>
            <a:ext cx="10954512" cy="1463040"/>
          </a:xfrm>
        </p:spPr>
        <p:txBody>
          <a:bodyPr lIns="0" tIns="0" rIns="0" bIns="0" anchor="b">
            <a:noAutofit/>
          </a:bodyPr>
          <a:lstStyle>
            <a:lvl1pPr>
              <a:lnSpc>
                <a:spcPct val="100000"/>
              </a:lnSpc>
              <a:defRPr sz="3200" b="0" i="0" spc="600" baseline="0">
                <a:latin typeface="+mj-lt"/>
              </a:defRPr>
            </a:lvl1pPr>
          </a:lstStyle>
          <a:p>
            <a:r>
              <a:rPr lang="en-US" dirty="0"/>
              <a:t>CLICK TO EDIT MASTER TITLE STYLE</a:t>
            </a:r>
          </a:p>
        </p:txBody>
      </p:sp>
      <p:sp>
        <p:nvSpPr>
          <p:cNvPr id="6" name="Text Placeholder 5">
            <a:extLst>
              <a:ext uri="{FF2B5EF4-FFF2-40B4-BE49-F238E27FC236}">
                <a16:creationId xmlns:a16="http://schemas.microsoft.com/office/drawing/2014/main" id="{1BD9CFE2-F1DE-34DA-A154-9AE903E5B7FC}"/>
              </a:ext>
            </a:extLst>
          </p:cNvPr>
          <p:cNvSpPr>
            <a:spLocks noGrp="1"/>
          </p:cNvSpPr>
          <p:nvPr>
            <p:ph type="body" sz="quarter" idx="12"/>
          </p:nvPr>
        </p:nvSpPr>
        <p:spPr>
          <a:xfrm>
            <a:off x="850899" y="2231136"/>
            <a:ext cx="4828032" cy="3566160"/>
          </a:xfrm>
        </p:spPr>
        <p:txBody>
          <a:bodyPr/>
          <a:lstStyle>
            <a:lvl1pPr marL="283464" indent="-283464">
              <a:lnSpc>
                <a:spcPct val="120000"/>
              </a:lnSpc>
              <a:spcBef>
                <a:spcPts val="0"/>
              </a:spcBef>
              <a:spcAft>
                <a:spcPts val="1200"/>
              </a:spcAft>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2C310569-B083-466A-F24B-8C44360B4EC2}"/>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5FB78C1-0CD8-FD34-E7BB-B8F6E296A443}"/>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1D5B031-92C7-C093-2551-D07457044EAC}"/>
              </a:ext>
            </a:extLst>
          </p:cNvPr>
          <p:cNvGrpSpPr/>
          <p:nvPr userDrawn="1"/>
        </p:nvGrpSpPr>
        <p:grpSpPr>
          <a:xfrm>
            <a:off x="-1" y="-2"/>
            <a:ext cx="12191610" cy="6858001"/>
            <a:chOff x="-1" y="-2"/>
            <a:chExt cx="12191610" cy="6858001"/>
          </a:xfrm>
        </p:grpSpPr>
        <p:pic>
          <p:nvPicPr>
            <p:cNvPr id="4" name="Picture Placeholder 14" descr="White modern architecture">
              <a:extLst>
                <a:ext uri="{FF2B5EF4-FFF2-40B4-BE49-F238E27FC236}">
                  <a16:creationId xmlns:a16="http://schemas.microsoft.com/office/drawing/2014/main" id="{21A49D77-8AEF-828A-03A8-2845B710DEEA}"/>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6155702" y="-2"/>
              <a:ext cx="6035907" cy="6858001"/>
            </a:xfrm>
            <a:prstGeom prst="rect">
              <a:avLst/>
            </a:prstGeom>
            <a:solidFill>
              <a:schemeClr val="accent1">
                <a:lumMod val="20000"/>
                <a:lumOff val="80000"/>
              </a:schemeClr>
            </a:solidFill>
          </p:spPr>
        </p:pic>
        <p:pic>
          <p:nvPicPr>
            <p:cNvPr id="5" name="Picture Placeholder 14" descr="White modern architecture">
              <a:extLst>
                <a:ext uri="{FF2B5EF4-FFF2-40B4-BE49-F238E27FC236}">
                  <a16:creationId xmlns:a16="http://schemas.microsoft.com/office/drawing/2014/main" id="{206EA98F-16E6-C607-6268-D08FD83B704F}"/>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1" y="-2"/>
              <a:ext cx="6035907" cy="6858001"/>
            </a:xfrm>
            <a:prstGeom prst="rect">
              <a:avLst/>
            </a:prstGeom>
            <a:solidFill>
              <a:schemeClr val="accent1">
                <a:lumMod val="20000"/>
                <a:lumOff val="80000"/>
              </a:schemeClr>
            </a:solidFill>
          </p:spPr>
        </p:pic>
      </p:grpSp>
      <p:sp>
        <p:nvSpPr>
          <p:cNvPr id="7" name="Title 6">
            <a:extLst>
              <a:ext uri="{FF2B5EF4-FFF2-40B4-BE49-F238E27FC236}">
                <a16:creationId xmlns:a16="http://schemas.microsoft.com/office/drawing/2014/main" id="{7E6947B8-AA10-E633-EF28-E1A80069E880}"/>
              </a:ext>
            </a:extLst>
          </p:cNvPr>
          <p:cNvSpPr>
            <a:spLocks noGrp="1"/>
          </p:cNvSpPr>
          <p:nvPr>
            <p:ph type="title" hasCustomPrompt="1"/>
          </p:nvPr>
        </p:nvSpPr>
        <p:spPr>
          <a:xfrm>
            <a:off x="2648932" y="0"/>
            <a:ext cx="6894136" cy="6894136"/>
          </a:xfrm>
          <a:custGeom>
            <a:avLst/>
            <a:gdLst>
              <a:gd name="connsiteX0" fmla="*/ 3447068 w 6894136"/>
              <a:gd name="connsiteY0" fmla="*/ 0 h 6894136"/>
              <a:gd name="connsiteX1" fmla="*/ 6894136 w 6894136"/>
              <a:gd name="connsiteY1" fmla="*/ 3447068 h 6894136"/>
              <a:gd name="connsiteX2" fmla="*/ 3447068 w 6894136"/>
              <a:gd name="connsiteY2" fmla="*/ 6894136 h 6894136"/>
              <a:gd name="connsiteX3" fmla="*/ 0 w 6894136"/>
              <a:gd name="connsiteY3" fmla="*/ 3447068 h 6894136"/>
              <a:gd name="connsiteX4" fmla="*/ 3447068 w 6894136"/>
              <a:gd name="connsiteY4" fmla="*/ 0 h 6894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4136" h="6894136">
                <a:moveTo>
                  <a:pt x="3447068" y="0"/>
                </a:moveTo>
                <a:cubicBezTo>
                  <a:pt x="5350831" y="0"/>
                  <a:pt x="6894136" y="1543305"/>
                  <a:pt x="6894136" y="3447068"/>
                </a:cubicBezTo>
                <a:cubicBezTo>
                  <a:pt x="6894136" y="5350831"/>
                  <a:pt x="5350831" y="6894136"/>
                  <a:pt x="3447068" y="6894136"/>
                </a:cubicBezTo>
                <a:cubicBezTo>
                  <a:pt x="1543305" y="6894136"/>
                  <a:pt x="0" y="5350831"/>
                  <a:pt x="0" y="3447068"/>
                </a:cubicBezTo>
                <a:cubicBezTo>
                  <a:pt x="0" y="1543305"/>
                  <a:pt x="1543305" y="0"/>
                  <a:pt x="3447068" y="0"/>
                </a:cubicBezTo>
                <a:close/>
              </a:path>
            </a:pathLst>
          </a:custGeom>
          <a:solidFill>
            <a:schemeClr val="accent1"/>
          </a:solidFill>
        </p:spPr>
        <p:txBody>
          <a:bodyPr wrap="square" lIns="0" tIns="0" rIns="0" bIns="0" anchor="ctr">
            <a:noAutofit/>
          </a:bodyPr>
          <a:lstStyle>
            <a:lvl1pPr algn="ctr">
              <a:defRPr sz="4500" cap="all" baseline="0"/>
            </a:lvl1pPr>
          </a:lstStyle>
          <a:p>
            <a:r>
              <a:rPr lang="en-US" dirty="0"/>
              <a:t>CLICK TO EDIT MASTER TITLE STYLE</a:t>
            </a:r>
          </a:p>
        </p:txBody>
      </p:sp>
    </p:spTree>
    <p:extLst>
      <p:ext uri="{BB962C8B-B14F-4D97-AF65-F5344CB8AC3E}">
        <p14:creationId xmlns:p14="http://schemas.microsoft.com/office/powerpoint/2010/main" val="1547736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hasCustomPrompt="1"/>
          </p:nvPr>
        </p:nvSpPr>
        <p:spPr>
          <a:xfrm>
            <a:off x="846879" y="868680"/>
            <a:ext cx="5248656" cy="2157984"/>
          </a:xfrm>
        </p:spPr>
        <p:txBody>
          <a:bodyPr lIns="0" tIns="0" rIns="0" bIns="0">
            <a:noAutofit/>
          </a:bodyPr>
          <a:lstStyle>
            <a:lvl1pPr>
              <a:defRPr sz="32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B075B629-22B4-B399-5D07-4652BF682138}"/>
              </a:ext>
            </a:extLst>
          </p:cNvPr>
          <p:cNvSpPr>
            <a:spLocks noGrp="1"/>
          </p:cNvSpPr>
          <p:nvPr>
            <p:ph type="pic" sz="quarter" idx="13"/>
          </p:nvPr>
        </p:nvSpPr>
        <p:spPr>
          <a:xfrm>
            <a:off x="0" y="3159126"/>
            <a:ext cx="4577463" cy="3698875"/>
          </a:xfrm>
          <a:custGeom>
            <a:avLst/>
            <a:gdLst>
              <a:gd name="connsiteX0" fmla="*/ 1934275 w 4577463"/>
              <a:gd name="connsiteY0" fmla="*/ 0 h 3698875"/>
              <a:gd name="connsiteX1" fmla="*/ 4577463 w 4577463"/>
              <a:gd name="connsiteY1" fmla="*/ 2643188 h 3698875"/>
              <a:gd name="connsiteX2" fmla="*/ 4369748 w 4577463"/>
              <a:gd name="connsiteY2" fmla="*/ 3672036 h 3698875"/>
              <a:gd name="connsiteX3" fmla="*/ 4356819 w 4577463"/>
              <a:gd name="connsiteY3" fmla="*/ 3698875 h 3698875"/>
              <a:gd name="connsiteX4" fmla="*/ 0 w 4577463"/>
              <a:gd name="connsiteY4" fmla="*/ 3698875 h 3698875"/>
              <a:gd name="connsiteX5" fmla="*/ 0 w 4577463"/>
              <a:gd name="connsiteY5" fmla="*/ 845097 h 3698875"/>
              <a:gd name="connsiteX6" fmla="*/ 87814 w 4577463"/>
              <a:gd name="connsiteY6" fmla="*/ 751885 h 3698875"/>
              <a:gd name="connsiteX7" fmla="*/ 1934275 w 4577463"/>
              <a:gd name="connsiteY7" fmla="*/ 0 h 369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7463" h="3698875">
                <a:moveTo>
                  <a:pt x="1934275" y="0"/>
                </a:moveTo>
                <a:cubicBezTo>
                  <a:pt x="3394067" y="0"/>
                  <a:pt x="4577463" y="1183396"/>
                  <a:pt x="4577463" y="2643188"/>
                </a:cubicBezTo>
                <a:cubicBezTo>
                  <a:pt x="4577463" y="3008136"/>
                  <a:pt x="4503501" y="3355810"/>
                  <a:pt x="4369748" y="3672036"/>
                </a:cubicBezTo>
                <a:lnTo>
                  <a:pt x="4356819" y="3698875"/>
                </a:lnTo>
                <a:lnTo>
                  <a:pt x="0" y="3698875"/>
                </a:lnTo>
                <a:lnTo>
                  <a:pt x="0" y="845097"/>
                </a:lnTo>
                <a:lnTo>
                  <a:pt x="87814" y="751885"/>
                </a:lnTo>
                <a:cubicBezTo>
                  <a:pt x="564249" y="286676"/>
                  <a:pt x="1215784" y="0"/>
                  <a:pt x="1934275" y="0"/>
                </a:cubicBezTo>
                <a:close/>
              </a:path>
            </a:pathLst>
          </a:custGeom>
        </p:spPr>
        <p:txBody>
          <a:bodyPr wrap="square">
            <a:noAutofit/>
          </a:bodyPr>
          <a:lstStyle>
            <a:lvl1pPr algn="ctr">
              <a:defRPr/>
            </a:lvl1pPr>
          </a:lstStyle>
          <a:p>
            <a:endParaRPr lang="en-US" dirty="0"/>
          </a:p>
        </p:txBody>
      </p:sp>
      <p:sp>
        <p:nvSpPr>
          <p:cNvPr id="5" name="Content Placeholder 3">
            <a:extLst>
              <a:ext uri="{FF2B5EF4-FFF2-40B4-BE49-F238E27FC236}">
                <a16:creationId xmlns:a16="http://schemas.microsoft.com/office/drawing/2014/main" id="{C1B16EE8-89D3-7E4F-90BE-68EAAD85CBB7}"/>
              </a:ext>
            </a:extLst>
          </p:cNvPr>
          <p:cNvSpPr>
            <a:spLocks noGrp="1"/>
          </p:cNvSpPr>
          <p:nvPr>
            <p:ph sz="half" idx="12"/>
          </p:nvPr>
        </p:nvSpPr>
        <p:spPr>
          <a:xfrm>
            <a:off x="6729984" y="786384"/>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0">
              <a:lnSpc>
                <a:spcPct val="120000"/>
              </a:lnSpc>
              <a:spcBef>
                <a:spcPts val="0"/>
              </a:spcBef>
              <a:spcAft>
                <a:spcPts val="1200"/>
              </a:spcAft>
              <a:defRPr>
                <a:latin typeface="+mn-lt"/>
              </a:defRPr>
            </a:lvl2pPr>
            <a:lvl3pPr marL="283464" indent="-342900">
              <a:lnSpc>
                <a:spcPct val="120000"/>
              </a:lnSpc>
              <a:buFont typeface="Arial" panose="020B0604020202020204" pitchFamily="34" charset="0"/>
              <a:buChar char="•"/>
              <a:defRPr>
                <a:latin typeface="+mn-lt"/>
              </a:defRPr>
            </a:lvl3pPr>
            <a:lvl4pPr marL="548640" indent="-285750">
              <a:lnSpc>
                <a:spcPct val="120000"/>
              </a:lnSpc>
              <a:buFont typeface="Arial" panose="020B0604020202020204" pitchFamily="34" charset="0"/>
              <a:buChar char="•"/>
              <a:defRPr>
                <a:latin typeface="+mn-lt"/>
              </a:defRPr>
            </a:lvl4pPr>
            <a:lvl5pPr marL="822960" indent="-285750">
              <a:lnSpc>
                <a:spcPct val="120000"/>
              </a:lnSpc>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729984" y="3858768"/>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283464" indent="-283464">
              <a:lnSpc>
                <a:spcPct val="120000"/>
              </a:lnSpc>
              <a:spcBef>
                <a:spcPts val="0"/>
              </a:spcBef>
              <a:spcAft>
                <a:spcPts val="1200"/>
              </a:spcAft>
              <a:buFont typeface="Arial" panose="020B0604020202020204" pitchFamily="34" charset="0"/>
              <a:buChar cha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40231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10085832" cy="1426464"/>
          </a:xfrm>
        </p:spPr>
        <p:txBody>
          <a:bodyPr lIns="0" tIns="45720" rIns="91440" bIns="4572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850392" y="3950208"/>
            <a:ext cx="10085832" cy="2331720"/>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189482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3941064" cy="4270248"/>
          </a:xfrm>
        </p:spPr>
        <p:txBody>
          <a:bodyPr lIns="91440" tIns="45720" rIns="91440" bIns="45720">
            <a:noAutofit/>
          </a:bodyPr>
          <a:lstStyle>
            <a:lvl1pPr>
              <a:lnSpc>
                <a:spcPct val="120000"/>
              </a:lnSpc>
              <a:spcBef>
                <a:spcPts val="0"/>
              </a:spcBef>
              <a:spcAft>
                <a:spcPts val="600"/>
              </a:spcAft>
              <a:defRPr sz="1800" b="1" cap="all"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5614416" y="1837944"/>
            <a:ext cx="5358384" cy="4270248"/>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263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987AE2-5803-BA29-C76B-C9FA864D3F00}"/>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168" y="1828800"/>
            <a:ext cx="10126362" cy="435133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B8540B3-3734-5A53-D7E0-D89871A3711C}"/>
              </a:ext>
            </a:extLst>
          </p:cNvPr>
          <p:cNvSpPr>
            <a:spLocks noGrp="1"/>
          </p:cNvSpPr>
          <p:nvPr>
            <p:ph type="title" hasCustomPrompt="1"/>
          </p:nvPr>
        </p:nvSpPr>
        <p:spPr>
          <a:xfrm>
            <a:off x="850392" y="182880"/>
            <a:ext cx="10085832" cy="1307592"/>
          </a:xfrm>
        </p:spPr>
        <p:txBody>
          <a:bodyPr anchor="b">
            <a:noAutofit/>
          </a:bodyPr>
          <a:lstStyle>
            <a:lvl1pPr algn="l">
              <a:defRPr sz="3200" baseline="0"/>
            </a:lvl1pPr>
          </a:lstStyle>
          <a:p>
            <a:r>
              <a:rPr lang="en-US" dirty="0"/>
              <a:t>CLICK TO EDIT MASTER TITLE</a:t>
            </a:r>
          </a:p>
        </p:txBody>
      </p:sp>
      <p:sp>
        <p:nvSpPr>
          <p:cNvPr id="5" name="Content Placeholder 3">
            <a:extLst>
              <a:ext uri="{FF2B5EF4-FFF2-40B4-BE49-F238E27FC236}">
                <a16:creationId xmlns:a16="http://schemas.microsoft.com/office/drawing/2014/main" id="{7E6B22B6-D5E7-7C52-B588-374568C8DD6C}"/>
              </a:ext>
            </a:extLst>
          </p:cNvPr>
          <p:cNvSpPr>
            <a:spLocks noGrp="1"/>
          </p:cNvSpPr>
          <p:nvPr>
            <p:ph sz="half" idx="2"/>
          </p:nvPr>
        </p:nvSpPr>
        <p:spPr>
          <a:xfrm>
            <a:off x="850392" y="1911096"/>
            <a:ext cx="4837176" cy="2898648"/>
          </a:xfrm>
        </p:spPr>
        <p:txBody>
          <a:bodyPr lIns="0" tIns="0" rIns="0" bIns="0">
            <a:noAutofit/>
          </a:bodyPr>
          <a:lstStyle>
            <a:lvl1pPr>
              <a:lnSpc>
                <a:spcPct val="120000"/>
              </a:lnSpc>
              <a:spcBef>
                <a:spcPts val="0"/>
              </a:spcBef>
              <a:spcAft>
                <a:spcPts val="1200"/>
              </a:spcAft>
              <a:defRPr sz="1800" cap="none"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BCDBC7A5-FE31-E809-7729-4AFA9CFD0DEB}"/>
              </a:ext>
            </a:extLst>
          </p:cNvPr>
          <p:cNvSpPr>
            <a:spLocks noGrp="1"/>
          </p:cNvSpPr>
          <p:nvPr>
            <p:ph sz="half" idx="36"/>
          </p:nvPr>
        </p:nvSpPr>
        <p:spPr>
          <a:xfrm>
            <a:off x="6812280" y="1911096"/>
            <a:ext cx="4453128" cy="1911096"/>
          </a:xfrm>
        </p:spPr>
        <p:txBody>
          <a:bodyPr lIns="0" tIns="0" rIns="0" bIns="0">
            <a:noAutofit/>
          </a:bodyPr>
          <a:lstStyle>
            <a:lvl1pPr marL="285750" indent="-285750">
              <a:lnSpc>
                <a:spcPct val="120000"/>
              </a:lnSpc>
              <a:spcBef>
                <a:spcPts val="0"/>
              </a:spcBef>
              <a:spcAft>
                <a:spcPts val="1200"/>
              </a:spcAft>
              <a:buFont typeface="Arial" panose="020B0604020202020204" pitchFamily="34" charset="0"/>
              <a:buChar char="•"/>
              <a:defRPr sz="1800" cap="none" baseline="0">
                <a:latin typeface="+mn-lt"/>
              </a:defRPr>
            </a:lvl1pPr>
            <a:lvl2pPr marL="548640" indent="-285750">
              <a:lnSpc>
                <a:spcPct val="120000"/>
              </a:lnSpc>
              <a:spcBef>
                <a:spcPts val="0"/>
              </a:spcBef>
              <a:spcAft>
                <a:spcPts val="600"/>
              </a:spcAft>
              <a:buFont typeface="Arial" panose="020B0604020202020204" pitchFamily="34" charset="0"/>
              <a:buChar char="•"/>
              <a:defRPr sz="1800">
                <a:latin typeface="+mn-lt"/>
              </a:defRPr>
            </a:lvl2pPr>
            <a:lvl3pPr marL="82296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18" name="Picture Placeholder 17">
            <a:extLst>
              <a:ext uri="{FF2B5EF4-FFF2-40B4-BE49-F238E27FC236}">
                <a16:creationId xmlns:a16="http://schemas.microsoft.com/office/drawing/2014/main" id="{C39E8D03-897F-C49F-D816-03B8BD63013D}"/>
              </a:ext>
            </a:extLst>
          </p:cNvPr>
          <p:cNvSpPr>
            <a:spLocks noGrp="1"/>
          </p:cNvSpPr>
          <p:nvPr>
            <p:ph type="pic" sz="quarter" idx="10"/>
          </p:nvPr>
        </p:nvSpPr>
        <p:spPr>
          <a:xfrm>
            <a:off x="6812280" y="4242816"/>
            <a:ext cx="4123944" cy="2615184"/>
          </a:xfrm>
          <a:solidFill>
            <a:schemeClr val="accent1">
              <a:lumMod val="20000"/>
              <a:lumOff val="80000"/>
            </a:schemeClr>
          </a:solidFill>
        </p:spPr>
        <p:txBody>
          <a:bodyPr anchor="ctr">
            <a:noAutofit/>
          </a:bodyPr>
          <a:lstStyle>
            <a:lvl1pPr algn="ctr">
              <a:defRPr/>
            </a:lvl1pPr>
          </a:lstStyle>
          <a:p>
            <a:endParaRPr lang="en-US" dirty="0"/>
          </a:p>
        </p:txBody>
      </p:sp>
      <p:sp>
        <p:nvSpPr>
          <p:cNvPr id="2" name="Footer Placeholder 1">
            <a:extLst>
              <a:ext uri="{FF2B5EF4-FFF2-40B4-BE49-F238E27FC236}">
                <a16:creationId xmlns:a16="http://schemas.microsoft.com/office/drawing/2014/main" id="{5A615220-DA65-3A8D-609D-95B6D86B192A}"/>
              </a:ext>
            </a:extLst>
          </p:cNvPr>
          <p:cNvSpPr>
            <a:spLocks noGrp="1"/>
          </p:cNvSpPr>
          <p:nvPr>
            <p:ph type="ftr" sz="quarter" idx="34"/>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6AC2A57F-F2BF-F3B3-9D45-5DCD2608D80C}"/>
              </a:ext>
            </a:extLst>
          </p:cNvPr>
          <p:cNvSpPr>
            <a:spLocks noGrp="1"/>
          </p:cNvSpPr>
          <p:nvPr>
            <p:ph type="sldNum" sz="quarter" idx="35"/>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descr="Large walking intersection with one lone person">
            <a:extLst>
              <a:ext uri="{FF2B5EF4-FFF2-40B4-BE49-F238E27FC236}">
                <a16:creationId xmlns:a16="http://schemas.microsoft.com/office/drawing/2014/main" id="{09010683-ED2B-BF6C-90F9-AF09D38DB677}"/>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27000" contrast="5000"/>
                    </a14:imgEffect>
                  </a14:imgLayer>
                </a14:imgProps>
              </a:ext>
              <a:ext uri="{28A0092B-C50C-407E-A947-70E740481C1C}">
                <a14:useLocalDpi xmlns:a14="http://schemas.microsoft.com/office/drawing/2010/main"/>
              </a:ext>
            </a:extLst>
          </a:blip>
          <a:srcRect/>
          <a:stretch/>
        </p:blipFill>
        <p:spPr>
          <a:xfrm>
            <a:off x="0" y="1"/>
            <a:ext cx="11811000" cy="6858000"/>
          </a:xfrm>
          <a:prstGeom prst="rect">
            <a:avLst/>
          </a:prstGeom>
        </p:spPr>
      </p:pic>
      <p:sp>
        <p:nvSpPr>
          <p:cNvPr id="6" name="Freeform 12">
            <a:extLst>
              <a:ext uri="{FF2B5EF4-FFF2-40B4-BE49-F238E27FC236}">
                <a16:creationId xmlns:a16="http://schemas.microsoft.com/office/drawing/2014/main" id="{82C1C4E7-A67E-5E90-3669-D2982C30E4FC}"/>
              </a:ext>
            </a:extLst>
          </p:cNvPr>
          <p:cNvSpPr/>
          <p:nvPr userDrawn="1"/>
        </p:nvSpPr>
        <p:spPr>
          <a:xfrm>
            <a:off x="777819"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2" name="Title 1">
            <a:extLst>
              <a:ext uri="{FF2B5EF4-FFF2-40B4-BE49-F238E27FC236}">
                <a16:creationId xmlns:a16="http://schemas.microsoft.com/office/drawing/2014/main" id="{71A36714-0A6D-7D0D-3336-B8081C409BA0}"/>
              </a:ext>
            </a:extLst>
          </p:cNvPr>
          <p:cNvSpPr>
            <a:spLocks noGrp="1"/>
          </p:cNvSpPr>
          <p:nvPr>
            <p:ph type="title" hasCustomPrompt="1"/>
          </p:nvPr>
        </p:nvSpPr>
        <p:spPr>
          <a:xfrm>
            <a:off x="1907196" y="2188196"/>
            <a:ext cx="5985159" cy="1594507"/>
          </a:xfrm>
        </p:spPr>
        <p:txBody>
          <a:bodyPr lIns="0" tIns="0" rIns="0" bIns="0" anchor="b">
            <a:noAutofit/>
          </a:bodyPr>
          <a:lstStyle>
            <a:lvl1pPr>
              <a:defRPr sz="3200" b="1" i="0" baseline="0">
                <a:solidFill>
                  <a:schemeClr val="tx1"/>
                </a:solidFill>
                <a:latin typeface="+mj-lt"/>
                <a:cs typeface="Arial Black" panose="020B0604020202020204" pitchFamily="34" charset="0"/>
              </a:defRPr>
            </a:lvl1pPr>
          </a:lstStyle>
          <a:p>
            <a:r>
              <a:rPr lang="en-US" dirty="0"/>
              <a:t>CLICK TO EDIT MASTER TITLE STYLE</a:t>
            </a:r>
          </a:p>
        </p:txBody>
      </p:sp>
      <p:sp>
        <p:nvSpPr>
          <p:cNvPr id="11" name="Text Placeholder 2">
            <a:extLst>
              <a:ext uri="{FF2B5EF4-FFF2-40B4-BE49-F238E27FC236}">
                <a16:creationId xmlns:a16="http://schemas.microsoft.com/office/drawing/2014/main" id="{CFA9DBC5-E4A8-5230-9CE1-902849869495}"/>
              </a:ext>
            </a:extLst>
          </p:cNvPr>
          <p:cNvSpPr>
            <a:spLocks noGrp="1"/>
          </p:cNvSpPr>
          <p:nvPr>
            <p:ph type="body" idx="1"/>
          </p:nvPr>
        </p:nvSpPr>
        <p:spPr>
          <a:xfrm>
            <a:off x="1907196" y="4078224"/>
            <a:ext cx="5444517" cy="1731890"/>
          </a:xfrm>
        </p:spPr>
        <p:txBody>
          <a:bodyPr lIns="0" tIns="0" rIns="0" bIns="0" anchor="t">
            <a:noAutofit/>
          </a:bodyPr>
          <a:lstStyle>
            <a:lvl1pPr marL="0" indent="0">
              <a:buNone/>
              <a:defRPr sz="18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Rectangle 9">
            <a:extLst>
              <a:ext uri="{FF2B5EF4-FFF2-40B4-BE49-F238E27FC236}">
                <a16:creationId xmlns:a16="http://schemas.microsoft.com/office/drawing/2014/main" id="{829F29DD-6F0C-B005-FD16-89C061AE31C9}"/>
              </a:ext>
            </a:extLst>
          </p:cNvPr>
          <p:cNvSpPr/>
          <p:nvPr userDrawn="1"/>
        </p:nvSpPr>
        <p:spPr>
          <a:xfrm>
            <a:off x="10408059" y="1151133"/>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2" name="Rectangle 11">
            <a:extLst>
              <a:ext uri="{FF2B5EF4-FFF2-40B4-BE49-F238E27FC236}">
                <a16:creationId xmlns:a16="http://schemas.microsoft.com/office/drawing/2014/main" id="{67980795-C54D-B27A-60D2-8758CAF840E2}"/>
              </a:ext>
            </a:extLst>
          </p:cNvPr>
          <p:cNvSpPr/>
          <p:nvPr userDrawn="1"/>
        </p:nvSpPr>
        <p:spPr>
          <a:xfrm>
            <a:off x="10987993" y="114070"/>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5272034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userDrawn="1"/>
        </p:nvSpPr>
        <p:spPr>
          <a:xfrm rot="5400000" flipH="1" flipV="1">
            <a:off x="8570975" y="3236976"/>
            <a:ext cx="6858000"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46438" y="409576"/>
            <a:ext cx="10972800" cy="1325563"/>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745644" y="1825625"/>
            <a:ext cx="11098307"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716512" y="6382510"/>
            <a:ext cx="566928" cy="384048"/>
          </a:xfrm>
          <a:prstGeom prst="rect">
            <a:avLst/>
          </a:prstGeom>
        </p:spPr>
        <p:txBody>
          <a:bodyPr vert="horz" lIns="91440" tIns="45720" rIns="91440" bIns="45720" rtlCol="0" anchor="ctr"/>
          <a:lstStyle>
            <a:lvl1pPr algn="ctr">
              <a:defRPr sz="1400">
                <a:solidFill>
                  <a:schemeClr val="bg1"/>
                </a:solidFill>
              </a:defRPr>
            </a:lvl1pPr>
          </a:lstStyle>
          <a:p>
            <a:fld id="{09A01C0A-2BB6-49E7-91A3-DCB9F9F59583}" type="slidenum">
              <a:rPr lang="en-US" smtClean="0"/>
              <a:pPr/>
              <a:t>‹#›</a:t>
            </a:fld>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8854442" y="2953511"/>
            <a:ext cx="6291068" cy="384048"/>
          </a:xfrm>
          <a:prstGeom prst="rect">
            <a:avLst/>
          </a:prstGeom>
          <a:noFill/>
        </p:spPr>
        <p:txBody>
          <a:bodyPr vert="horz" lIns="210312" tIns="45720" rIns="91440" bIns="45720" rtlCol="0" anchor="ctr"/>
          <a:lstStyle>
            <a:lvl1pPr algn="l">
              <a:defRPr sz="1200" b="1" cap="all" spc="300" baseline="0">
                <a:solidFill>
                  <a:schemeClr val="bg1"/>
                </a:solidFill>
                <a:latin typeface="+mj-lt"/>
              </a:defRPr>
            </a:lvl1pPr>
          </a:lstStyle>
          <a:p>
            <a:r>
              <a:rPr lang="en-US" dirty="0"/>
              <a:t>Presentation Title</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51" r:id="rId3"/>
    <p:sldLayoutId id="2147483664" r:id="rId4"/>
    <p:sldLayoutId id="2147483659" r:id="rId5"/>
    <p:sldLayoutId id="2147483654" r:id="rId6"/>
    <p:sldLayoutId id="2147483667" r:id="rId7"/>
    <p:sldLayoutId id="2147483665" r:id="rId8"/>
    <p:sldLayoutId id="2147483669" r:id="rId9"/>
    <p:sldLayoutId id="2147483670" r:id="rId10"/>
    <p:sldLayoutId id="2147483652" r:id="rId11"/>
    <p:sldLayoutId id="2147483656" r:id="rId12"/>
    <p:sldLayoutId id="2147483663" r:id="rId13"/>
  </p:sldLayoutIdLst>
  <p:hf hdr="0" ftr="0"/>
  <p:txStyles>
    <p:titleStyle>
      <a:lvl1pPr algn="l" defTabSz="914400" rtl="0" eaLnBrk="1" latinLnBrk="0" hangingPunct="1">
        <a:lnSpc>
          <a:spcPct val="90000"/>
        </a:lnSpc>
        <a:spcBef>
          <a:spcPct val="0"/>
        </a:spcBef>
        <a:buNone/>
        <a:defRPr sz="4000" b="1" i="0" kern="1200" cap="all" spc="600" baseline="0">
          <a:solidFill>
            <a:schemeClr val="tx1"/>
          </a:solidFill>
          <a:latin typeface="+mj-lt"/>
          <a:ea typeface="+mj-ea"/>
          <a:cs typeface="Arial Black"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4" orient="horz" pos="1152" userDrawn="1">
          <p15:clr>
            <a:srgbClr val="547EBF"/>
          </p15:clr>
        </p15:guide>
        <p15:guide id="5" pos="7440" userDrawn="1">
          <p15:clr>
            <a:srgbClr val="547EBF"/>
          </p15:clr>
        </p15:guide>
        <p15:guide id="6" orient="horz" pos="4080" userDrawn="1">
          <p15:clr>
            <a:srgbClr val="547EBF"/>
          </p15:clr>
        </p15:guide>
        <p15:guide id="19" userDrawn="1">
          <p15:clr>
            <a:srgbClr val="547EBF"/>
          </p15:clr>
        </p15:guide>
        <p15:guide id="20" pos="7680" userDrawn="1">
          <p15:clr>
            <a:srgbClr val="547EBF"/>
          </p15:clr>
        </p15:guide>
        <p15:guide id="21" pos="528" userDrawn="1">
          <p15:clr>
            <a:srgbClr val="547EBF"/>
          </p15:clr>
        </p15:guide>
        <p15:guide id="22" pos="6912" userDrawn="1">
          <p15:clr>
            <a:srgbClr val="547EBF"/>
          </p15:clr>
        </p15:guide>
        <p15:guide id="23" orient="horz" pos="240" userDrawn="1">
          <p15:clr>
            <a:srgbClr val="547EBF"/>
          </p15:clr>
        </p15:guide>
        <p15:guide id="2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chart" Target="../charts/chart4.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chart" Target="../charts/chart6.xml"/><Relationship Id="rId4" Type="http://schemas.openxmlformats.org/officeDocument/2006/relationships/chart" Target="../charts/char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chart" Target="../charts/chart8.xml"/><Relationship Id="rId4" Type="http://schemas.openxmlformats.org/officeDocument/2006/relationships/chart" Target="../charts/char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chart" Target="../charts/chart10.xml"/><Relationship Id="rId4" Type="http://schemas.openxmlformats.org/officeDocument/2006/relationships/chart" Target="../charts/char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chart" Target="../charts/char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9.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5300-AC43-F396-6E83-73A31578C20E}"/>
              </a:ext>
            </a:extLst>
          </p:cNvPr>
          <p:cNvSpPr>
            <a:spLocks noGrp="1"/>
          </p:cNvSpPr>
          <p:nvPr>
            <p:ph type="ctrTitle"/>
          </p:nvPr>
        </p:nvSpPr>
        <p:spPr>
          <a:xfrm>
            <a:off x="816767" y="1399032"/>
            <a:ext cx="6757416" cy="3427502"/>
          </a:xfrm>
        </p:spPr>
        <p:txBody>
          <a:bodyPr/>
          <a:lstStyle/>
          <a:p>
            <a:r>
              <a:rPr lang="en-US" sz="4000" dirty="0"/>
              <a:t>Technical</a:t>
            </a:r>
            <a:br>
              <a:rPr lang="en-US" sz="4000" dirty="0"/>
            </a:br>
            <a:r>
              <a:rPr lang="en-US" sz="4000" dirty="0"/>
              <a:t>analysis &amp;</a:t>
            </a:r>
            <a:br>
              <a:rPr lang="en-US" sz="4000" dirty="0"/>
            </a:br>
            <a:r>
              <a:rPr lang="en-US" sz="4000" dirty="0"/>
              <a:t>biases</a:t>
            </a:r>
          </a:p>
        </p:txBody>
      </p:sp>
      <p:sp>
        <p:nvSpPr>
          <p:cNvPr id="3" name="Subtitle 2">
            <a:extLst>
              <a:ext uri="{FF2B5EF4-FFF2-40B4-BE49-F238E27FC236}">
                <a16:creationId xmlns:a16="http://schemas.microsoft.com/office/drawing/2014/main" id="{6A3BE460-3185-CD59-0215-356A228DF2B6}"/>
              </a:ext>
            </a:extLst>
          </p:cNvPr>
          <p:cNvSpPr>
            <a:spLocks noGrp="1"/>
          </p:cNvSpPr>
          <p:nvPr>
            <p:ph type="subTitle" idx="1"/>
          </p:nvPr>
        </p:nvSpPr>
        <p:spPr>
          <a:xfrm>
            <a:off x="816768" y="417444"/>
            <a:ext cx="7414940" cy="883258"/>
          </a:xfrm>
        </p:spPr>
        <p:txBody>
          <a:bodyPr/>
          <a:lstStyle/>
          <a:p>
            <a:r>
              <a:rPr lang="en-US" dirty="0"/>
              <a:t>Adwaaiit Pande &amp; Ayushi Mishra</a:t>
            </a:r>
          </a:p>
        </p:txBody>
      </p:sp>
      <p:sp>
        <p:nvSpPr>
          <p:cNvPr id="4" name="TextBox 3"/>
          <p:cNvSpPr txBox="1"/>
          <p:nvPr/>
        </p:nvSpPr>
        <p:spPr>
          <a:xfrm>
            <a:off x="850392" y="3886200"/>
            <a:ext cx="5120640" cy="822960"/>
          </a:xfrm>
          <a:prstGeom prst="rect">
            <a:avLst/>
          </a:prstGeom>
          <a:noFill/>
        </p:spPr>
        <p:txBody>
          <a:bodyPr wrap="square" lIns="36576" tIns="18288" rIns="36576" bIns="18288" anchor="t">
            <a:spAutoFit/>
          </a:bodyPr>
          <a:lstStyle/>
          <a:p>
            <a:pPr algn="l">
              <a:spcAft>
                <a:spcPts val="400"/>
              </a:spcAft>
            </a:pPr>
            <a:r>
              <a:rPr sz="1600" b="0">
                <a:solidFill>
                  <a:srgbClr val="36393B"/>
                </a:solidFill>
              </a:rPr>
              <a:t>MBA680 Behavioral Finance · Technical analysis project</a:t>
            </a:r>
          </a:p>
          <a:p>
            <a:pPr algn="l">
              <a:spcAft>
                <a:spcPts val="400"/>
              </a:spcAft>
            </a:pPr>
            <a:r>
              <a:rPr sz="1600" b="0">
                <a:solidFill>
                  <a:srgbClr val="36393B"/>
                </a:solidFill>
              </a:rPr>
              <a:t>Do the tools fail, or the way we use them? 12 indicators, 3 strategies, 8 biases, 7 NSE stocks</a:t>
            </a:r>
          </a:p>
        </p:txBody>
      </p:sp>
    </p:spTree>
    <p:extLst>
      <p:ext uri="{BB962C8B-B14F-4D97-AF65-F5344CB8AC3E}">
        <p14:creationId xmlns:p14="http://schemas.microsoft.com/office/powerpoint/2010/main" val="3867488726"/>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The answer first: the tools are weak, and process decides the result</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Adwaaiit</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SEBI (2024): 93% of individual F&amp;O traders lost money, FY22–FY24. All results net of 0.15% per side, idle cash at 6%</a:t>
            </a:r>
          </a:p>
        </p:txBody>
      </p:sp>
      <p:sp>
        <p:nvSpPr>
          <p:cNvPr id="39" name="Finding 1"/>
          <p:cNvSpPr/>
          <p:nvPr/>
        </p:nvSpPr>
        <p:spPr>
          <a:xfrm>
            <a:off x="850392" y="1417320"/>
            <a:ext cx="2468880" cy="35661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1536192"/>
            <a:ext cx="914400" cy="685800"/>
          </a:xfrm>
          <a:prstGeom prst="rect">
            <a:avLst/>
          </a:prstGeom>
          <a:noFill/>
        </p:spPr>
        <p:txBody>
          <a:bodyPr wrap="square" anchor="t" lIns="36576" rIns="36576" tIns="18288" bIns="18288">
            <a:spAutoFit/>
          </a:bodyPr>
          <a:lstStyle/>
          <a:p>
            <a:pPr algn="l">
              <a:spcAft>
                <a:spcPts val="300"/>
              </a:spcAft>
            </a:pPr>
            <a:r>
              <a:rPr sz="3600" b="0">
                <a:solidFill>
                  <a:srgbClr val="0E8C74"/>
                </a:solidFill>
              </a:rPr>
              <a:t>1</a:t>
            </a:r>
          </a:p>
        </p:txBody>
      </p:sp>
      <p:sp>
        <p:nvSpPr>
          <p:cNvPr id="41" name="TextBox 40"/>
          <p:cNvSpPr txBox="1"/>
          <p:nvPr/>
        </p:nvSpPr>
        <p:spPr>
          <a:xfrm>
            <a:off x="1033272" y="2240280"/>
            <a:ext cx="2148840" cy="822960"/>
          </a:xfrm>
          <a:prstGeom prst="rect">
            <a:avLst/>
          </a:prstGeom>
          <a:noFill/>
        </p:spPr>
        <p:txBody>
          <a:bodyPr wrap="square" anchor="t" lIns="36576" rIns="36576" tIns="18288" bIns="18288">
            <a:spAutoFit/>
          </a:bodyPr>
          <a:lstStyle/>
          <a:p>
            <a:pPr algn="l">
              <a:spcAft>
                <a:spcPts val="300"/>
              </a:spcAft>
            </a:pPr>
            <a:r>
              <a:rPr sz="1600" b="1">
                <a:solidFill>
                  <a:srgbClr val="36393B"/>
                </a:solidFill>
              </a:rPr>
              <a:t>No indicator has a real edge</a:t>
            </a:r>
          </a:p>
        </p:txBody>
      </p:sp>
      <p:sp>
        <p:nvSpPr>
          <p:cNvPr id="42" name="TextBox 41"/>
          <p:cNvSpPr txBox="1"/>
          <p:nvPr/>
        </p:nvSpPr>
        <p:spPr>
          <a:xfrm>
            <a:off x="1033272" y="3154680"/>
            <a:ext cx="2148840" cy="1783080"/>
          </a:xfrm>
          <a:prstGeom prst="rect">
            <a:avLst/>
          </a:prstGeom>
          <a:noFill/>
        </p:spPr>
        <p:txBody>
          <a:bodyPr wrap="square" anchor="t" lIns="36576" rIns="36576" tIns="18288" bIns="18288">
            <a:spAutoFit/>
          </a:bodyPr>
          <a:lstStyle/>
          <a:p>
            <a:pPr algn="l">
              <a:spcAft>
                <a:spcPts val="300"/>
              </a:spcAft>
            </a:pPr>
            <a:r>
              <a:rPr sz="1300" b="0">
                <a:solidFill>
                  <a:srgbClr val="5F6266"/>
                </a:solidFill>
              </a:rPr>
              <a:t>None of 12 buy signals beats an average day beyond chance (best: SMA cross, t = 0.78). Only MFI and Donchian are significant, and both are worse.</a:t>
            </a:r>
          </a:p>
        </p:txBody>
      </p:sp>
      <p:sp>
        <p:nvSpPr>
          <p:cNvPr id="43" name="Finding 2"/>
          <p:cNvSpPr/>
          <p:nvPr/>
        </p:nvSpPr>
        <p:spPr>
          <a:xfrm>
            <a:off x="3483864" y="1417320"/>
            <a:ext cx="2468880" cy="35661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66744" y="1536192"/>
            <a:ext cx="914400" cy="685800"/>
          </a:xfrm>
          <a:prstGeom prst="rect">
            <a:avLst/>
          </a:prstGeom>
          <a:noFill/>
        </p:spPr>
        <p:txBody>
          <a:bodyPr wrap="square" anchor="t" lIns="36576" rIns="36576" tIns="18288" bIns="18288">
            <a:spAutoFit/>
          </a:bodyPr>
          <a:lstStyle/>
          <a:p>
            <a:pPr algn="l">
              <a:spcAft>
                <a:spcPts val="300"/>
              </a:spcAft>
            </a:pPr>
            <a:r>
              <a:rPr sz="3600" b="0">
                <a:solidFill>
                  <a:srgbClr val="0E8C74"/>
                </a:solidFill>
              </a:rPr>
              <a:t>2</a:t>
            </a:r>
          </a:p>
        </p:txBody>
      </p:sp>
      <p:sp>
        <p:nvSpPr>
          <p:cNvPr id="45" name="TextBox 44"/>
          <p:cNvSpPr txBox="1"/>
          <p:nvPr/>
        </p:nvSpPr>
        <p:spPr>
          <a:xfrm>
            <a:off x="3666744" y="2240280"/>
            <a:ext cx="2148840" cy="822960"/>
          </a:xfrm>
          <a:prstGeom prst="rect">
            <a:avLst/>
          </a:prstGeom>
          <a:noFill/>
        </p:spPr>
        <p:txBody>
          <a:bodyPr wrap="square" anchor="t" lIns="36576" rIns="36576" tIns="18288" bIns="18288">
            <a:spAutoFit/>
          </a:bodyPr>
          <a:lstStyle/>
          <a:p>
            <a:pPr algn="l">
              <a:spcAft>
                <a:spcPts val="300"/>
              </a:spcAft>
            </a:pPr>
            <a:r>
              <a:rPr sz="1600" b="1">
                <a:solidFill>
                  <a:srgbClr val="36393B"/>
                </a:solidFill>
              </a:rPr>
              <a:t>Costs and cash kill short horizons</a:t>
            </a:r>
          </a:p>
        </p:txBody>
      </p:sp>
      <p:sp>
        <p:nvSpPr>
          <p:cNvPr id="46" name="TextBox 45"/>
          <p:cNvSpPr txBox="1"/>
          <p:nvPr/>
        </p:nvSpPr>
        <p:spPr>
          <a:xfrm>
            <a:off x="3666744" y="3154680"/>
            <a:ext cx="2148840" cy="1783080"/>
          </a:xfrm>
          <a:prstGeom prst="rect">
            <a:avLst/>
          </a:prstGeom>
          <a:noFill/>
        </p:spPr>
        <p:txBody>
          <a:bodyPr wrap="square" anchor="t" lIns="36576" rIns="36576" tIns="18288" bIns="18288">
            <a:spAutoFit/>
          </a:bodyPr>
          <a:lstStyle/>
          <a:p>
            <a:pPr algn="l">
              <a:spcAft>
                <a:spcPts val="300"/>
              </a:spcAft>
            </a:pPr>
            <a:r>
              <a:rPr sz="1300" b="0">
                <a:solidFill>
                  <a:srgbClr val="5F6266"/>
                </a:solidFill>
              </a:rPr>
              <a:t>At 0.15% a side, with idle cash earning 6%, the 7- and 15-day strategies earn less than Treasury bills (excess Sharpe -0.02 and -0.24).</a:t>
            </a:r>
          </a:p>
        </p:txBody>
      </p:sp>
      <p:sp>
        <p:nvSpPr>
          <p:cNvPr id="47" name="Finding 3"/>
          <p:cNvSpPr/>
          <p:nvPr/>
        </p:nvSpPr>
        <p:spPr>
          <a:xfrm>
            <a:off x="6117336" y="1417320"/>
            <a:ext cx="2468880" cy="35661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00216" y="1536192"/>
            <a:ext cx="914400" cy="685800"/>
          </a:xfrm>
          <a:prstGeom prst="rect">
            <a:avLst/>
          </a:prstGeom>
          <a:noFill/>
        </p:spPr>
        <p:txBody>
          <a:bodyPr wrap="square" anchor="t" lIns="36576" rIns="36576" tIns="18288" bIns="18288">
            <a:spAutoFit/>
          </a:bodyPr>
          <a:lstStyle/>
          <a:p>
            <a:pPr algn="l">
              <a:spcAft>
                <a:spcPts val="300"/>
              </a:spcAft>
            </a:pPr>
            <a:r>
              <a:rPr sz="3600" b="0">
                <a:solidFill>
                  <a:srgbClr val="0E8C74"/>
                </a:solidFill>
              </a:rPr>
              <a:t>3</a:t>
            </a:r>
          </a:p>
        </p:txBody>
      </p:sp>
      <p:sp>
        <p:nvSpPr>
          <p:cNvPr id="49" name="TextBox 48"/>
          <p:cNvSpPr txBox="1"/>
          <p:nvPr/>
        </p:nvSpPr>
        <p:spPr>
          <a:xfrm>
            <a:off x="6300216" y="2240280"/>
            <a:ext cx="2148840" cy="822960"/>
          </a:xfrm>
          <a:prstGeom prst="rect">
            <a:avLst/>
          </a:prstGeom>
          <a:noFill/>
        </p:spPr>
        <p:txBody>
          <a:bodyPr wrap="square" anchor="t" lIns="36576" rIns="36576" tIns="18288" bIns="18288">
            <a:spAutoFit/>
          </a:bodyPr>
          <a:lstStyle/>
          <a:p>
            <a:pPr algn="l">
              <a:spcAft>
                <a:spcPts val="300"/>
              </a:spcAft>
            </a:pPr>
            <a:r>
              <a:rPr sz="1600" b="1">
                <a:solidFill>
                  <a:srgbClr val="36393B"/>
                </a:solidFill>
              </a:rPr>
              <a:t>The 60-day rule held up out-of-sample</a:t>
            </a:r>
          </a:p>
        </p:txBody>
      </p:sp>
      <p:sp>
        <p:nvSpPr>
          <p:cNvPr id="50" name="TextBox 49"/>
          <p:cNvSpPr txBox="1"/>
          <p:nvPr/>
        </p:nvSpPr>
        <p:spPr>
          <a:xfrm>
            <a:off x="6300216" y="3154680"/>
            <a:ext cx="2148840" cy="1783080"/>
          </a:xfrm>
          <a:prstGeom prst="rect">
            <a:avLst/>
          </a:prstGeom>
          <a:noFill/>
        </p:spPr>
        <p:txBody>
          <a:bodyPr wrap="square" anchor="t" lIns="36576" rIns="36576" tIns="18288" bIns="18288">
            <a:spAutoFit/>
          </a:bodyPr>
          <a:lstStyle/>
          <a:p>
            <a:pPr algn="l">
              <a:spcAft>
                <a:spcPts val="300"/>
              </a:spcAft>
            </a:pPr>
            <a:r>
              <a:rPr sz="1300" b="0">
                <a:solidFill>
                  <a:srgbClr val="5F6266"/>
                </a:solidFill>
              </a:rPr>
              <a:t>2022–26: Sharpe 0.42 vs 0.14 for buy-and-hold; drawdown 7% vs 19%. Within sampling error (±0.5).</a:t>
            </a:r>
          </a:p>
        </p:txBody>
      </p:sp>
      <p:sp>
        <p:nvSpPr>
          <p:cNvPr id="51" name="Finding 4"/>
          <p:cNvSpPr/>
          <p:nvPr/>
        </p:nvSpPr>
        <p:spPr>
          <a:xfrm>
            <a:off x="8750808" y="1417320"/>
            <a:ext cx="2468880" cy="35661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33688" y="1536192"/>
            <a:ext cx="914400" cy="685800"/>
          </a:xfrm>
          <a:prstGeom prst="rect">
            <a:avLst/>
          </a:prstGeom>
          <a:noFill/>
        </p:spPr>
        <p:txBody>
          <a:bodyPr wrap="square" anchor="t" lIns="36576" rIns="36576" tIns="18288" bIns="18288">
            <a:spAutoFit/>
          </a:bodyPr>
          <a:lstStyle/>
          <a:p>
            <a:pPr algn="l">
              <a:spcAft>
                <a:spcPts val="300"/>
              </a:spcAft>
            </a:pPr>
            <a:r>
              <a:rPr sz="3600" b="0">
                <a:solidFill>
                  <a:srgbClr val="0E8C74"/>
                </a:solidFill>
              </a:rPr>
              <a:t>4</a:t>
            </a:r>
          </a:p>
        </p:txBody>
      </p:sp>
      <p:sp>
        <p:nvSpPr>
          <p:cNvPr id="53" name="TextBox 52"/>
          <p:cNvSpPr txBox="1"/>
          <p:nvPr/>
        </p:nvSpPr>
        <p:spPr>
          <a:xfrm>
            <a:off x="8933688" y="2240280"/>
            <a:ext cx="2148840" cy="822960"/>
          </a:xfrm>
          <a:prstGeom prst="rect">
            <a:avLst/>
          </a:prstGeom>
          <a:noFill/>
        </p:spPr>
        <p:txBody>
          <a:bodyPr wrap="square" anchor="t" lIns="36576" rIns="36576" tIns="18288" bIns="18288">
            <a:spAutoFit/>
          </a:bodyPr>
          <a:lstStyle/>
          <a:p>
            <a:pPr algn="l">
              <a:spcAft>
                <a:spcPts val="300"/>
              </a:spcAft>
            </a:pPr>
            <a:r>
              <a:rPr sz="1600" b="1">
                <a:solidFill>
                  <a:srgbClr val="36393B"/>
                </a:solidFill>
              </a:rPr>
              <a:t>Biases decide; subtraction fixes</a:t>
            </a:r>
          </a:p>
        </p:txBody>
      </p:sp>
      <p:sp>
        <p:nvSpPr>
          <p:cNvPr id="54" name="TextBox 53"/>
          <p:cNvSpPr txBox="1"/>
          <p:nvPr/>
        </p:nvSpPr>
        <p:spPr>
          <a:xfrm>
            <a:off x="8933688" y="3154680"/>
            <a:ext cx="2148840" cy="1783080"/>
          </a:xfrm>
          <a:prstGeom prst="rect">
            <a:avLst/>
          </a:prstGeom>
          <a:noFill/>
        </p:spPr>
        <p:txBody>
          <a:bodyPr wrap="square" anchor="t" lIns="36576" rIns="36576" tIns="18288" bIns="18288">
            <a:spAutoFit/>
          </a:bodyPr>
          <a:lstStyle/>
          <a:p>
            <a:pPr algn="l">
              <a:spcAft>
                <a:spcPts val="300"/>
              </a:spcAft>
            </a:pPr>
            <a:r>
              <a:rPr sz="1300" b="0">
                <a:solidFill>
                  <a:srgbClr val="5F6266"/>
                </a:solidFill>
              </a:rPr>
              <a:t>4 of 8 biases carry a clear cost. The de-biasing step that worked was dropping the rules that fail the cost-and-cash hurdle.</a:t>
            </a:r>
          </a:p>
        </p:txBody>
      </p:sp>
      <p:sp>
        <p:nvSpPr>
          <p:cNvPr id="55" name="Recommendation"/>
          <p:cNvSpPr/>
          <p:nvPr/>
        </p:nvSpPr>
        <p:spPr>
          <a:xfrm>
            <a:off x="850392" y="5166360"/>
            <a:ext cx="10424160" cy="109728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05840" y="5230368"/>
            <a:ext cx="10149840" cy="1005840"/>
          </a:xfrm>
          <a:prstGeom prst="rect">
            <a:avLst/>
          </a:prstGeom>
          <a:noFill/>
        </p:spPr>
        <p:txBody>
          <a:bodyPr wrap="square" anchor="ctr" lIns="36576" rIns="36576" tIns="18288" bIns="18288">
            <a:spAutoFit/>
          </a:bodyPr>
          <a:lstStyle/>
          <a:p>
            <a:pPr algn="l">
              <a:spcAft>
                <a:spcPts val="300"/>
              </a:spcAft>
            </a:pPr>
            <a:r>
              <a:rPr sz="1400" b="1">
                <a:solidFill>
                  <a:srgbClr val="36393B"/>
                </a:solidFill>
              </a:rPr>
              <a:t>Recommendation for a broker or robo-advisor: </a:t>
            </a:r>
            <a:r>
              <a:rPr sz="1400" b="0">
                <a:solidFill>
                  <a:srgbClr val="36393B"/>
                </a:solidFill>
              </a:rPr>
              <a:t>default rule-based users to long horizons; show the all-in cost and the T-bill hurdle before every order; print the base rate beside every chart pattern; never show an optimised backtest without its out-of-sample record.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Seven stocks, seven sectors, and two assumptions that matter</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Adwaaiit</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NSE EOD (eod2), 2,904 sessions per stock; Zerodha charge schedule (2026); RBI 91-day T-bill</a:t>
            </a:r>
          </a:p>
        </p:txBody>
      </p:sp>
      <p:graphicFrame>
        <p:nvGraphicFramePr>
          <p:cNvPr id="39" name="Universe chart"/>
          <p:cNvGraphicFramePr>
            <a:graphicFrameLocks noGrp="1"/>
          </p:cNvGraphicFramePr>
          <p:nvPr/>
        </p:nvGraphicFramePr>
        <p:xfrm>
          <a:off x="777240" y="1325880"/>
          <a:ext cx="6035040" cy="4937760"/>
        </p:xfrm>
        <a:graphic>
          <a:graphicData uri="http://schemas.openxmlformats.org/drawingml/2006/chart">
            <c:chart xmlns:c="http://schemas.openxmlformats.org/drawingml/2006/chart" r:id="rId3"/>
          </a:graphicData>
        </a:graphic>
      </p:graphicFrame>
      <p:sp>
        <p:nvSpPr>
          <p:cNvPr id="40" name="TextBox 39"/>
          <p:cNvSpPr txBox="1"/>
          <p:nvPr/>
        </p:nvSpPr>
        <p:spPr>
          <a:xfrm>
            <a:off x="7086600" y="1325880"/>
            <a:ext cx="4206240" cy="274320"/>
          </a:xfrm>
          <a:prstGeom prst="rect">
            <a:avLst/>
          </a:prstGeom>
          <a:noFill/>
        </p:spPr>
        <p:txBody>
          <a:bodyPr wrap="square" anchor="t" lIns="36576" rIns="36576" tIns="18288" bIns="18288">
            <a:spAutoFit/>
          </a:bodyPr>
          <a:lstStyle/>
          <a:p>
            <a:pPr algn="l">
              <a:spcAft>
                <a:spcPts val="300"/>
              </a:spcAft>
            </a:pPr>
            <a:r>
              <a:rPr sz="1100" b="0">
                <a:solidFill>
                  <a:srgbClr val="0E8C74"/>
                </a:solidFill>
                <a:latin typeface="+mj-lt"/>
              </a:rPr>
              <a:t>BUY-AND-HOLD, 2015–26</a:t>
            </a:r>
          </a:p>
        </p:txBody>
      </p:sp>
      <p:graphicFrame>
        <p:nvGraphicFramePr>
          <p:cNvPr id="41" name="Table 40"/>
          <p:cNvGraphicFramePr>
            <a:graphicFrameLocks noGrp="1"/>
          </p:cNvGraphicFramePr>
          <p:nvPr/>
        </p:nvGraphicFramePr>
        <p:xfrm>
          <a:off x="7086600" y="1627632"/>
          <a:ext cx="4206240" cy="2414016"/>
        </p:xfrm>
        <a:graphic>
          <a:graphicData uri="http://schemas.openxmlformats.org/drawingml/2006/table">
            <a:tbl>
              <a:tblPr firstRow="1" bandRow="0">
                <a:tableStyleId>{5C22544A-7EE6-4342-B048-85BDC9FD1C3A}</a:tableStyleId>
              </a:tblPr>
              <a:tblGrid>
                <a:gridCol w="1371600"/>
                <a:gridCol w="1371600"/>
                <a:gridCol w="731520"/>
                <a:gridCol w="731520"/>
              </a:tblGrid>
              <a:tr h="301752">
                <a:tc>
                  <a:txBody>
                    <a:bodyPr wrap="square"/>
                    <a:lstStyle/>
                    <a:p>
                      <a:pPr algn="l"/>
                      <a:r>
                        <a:rPr sz="1000">
                          <a:solidFill>
                            <a:srgbClr val="36393B"/>
                          </a:solidFill>
                          <a:latin typeface="+mj-lt"/>
                        </a:rPr>
                        <a:t>STOCK</a:t>
                      </a:r>
                    </a:p>
                  </a:txBody>
                  <a:tcPr marL="45720" marR="45720" marT="18288" marB="18288" anchor="ctr">
                    <a:solidFill>
                      <a:srgbClr val="2BB399"/>
                    </a:solidFill>
                  </a:tcPr>
                </a:tc>
                <a:tc>
                  <a:txBody>
                    <a:bodyPr wrap="square"/>
                    <a:lstStyle/>
                    <a:p>
                      <a:pPr algn="ctr"/>
                      <a:r>
                        <a:rPr sz="1000">
                          <a:solidFill>
                            <a:srgbClr val="36393B"/>
                          </a:solidFill>
                          <a:latin typeface="+mj-lt"/>
                        </a:rPr>
                        <a:t>SECTOR</a:t>
                      </a:r>
                    </a:p>
                  </a:txBody>
                  <a:tcPr marL="45720" marR="45720" marT="18288" marB="18288" anchor="ctr">
                    <a:solidFill>
                      <a:srgbClr val="2BB399"/>
                    </a:solidFill>
                  </a:tcPr>
                </a:tc>
                <a:tc>
                  <a:txBody>
                    <a:bodyPr wrap="square"/>
                    <a:lstStyle/>
                    <a:p>
                      <a:pPr algn="ctr"/>
                      <a:r>
                        <a:rPr sz="1000">
                          <a:solidFill>
                            <a:srgbClr val="36393B"/>
                          </a:solidFill>
                          <a:latin typeface="+mj-lt"/>
                        </a:rPr>
                        <a:t>CAGR</a:t>
                      </a:r>
                    </a:p>
                  </a:txBody>
                  <a:tcPr marL="45720" marR="45720" marT="18288" marB="18288" anchor="ctr">
                    <a:solidFill>
                      <a:srgbClr val="2BB399"/>
                    </a:solidFill>
                  </a:tcPr>
                </a:tc>
                <a:tc>
                  <a:txBody>
                    <a:bodyPr wrap="square"/>
                    <a:lstStyle/>
                    <a:p>
                      <a:pPr algn="ctr"/>
                      <a:r>
                        <a:rPr sz="1000">
                          <a:solidFill>
                            <a:srgbClr val="36393B"/>
                          </a:solidFill>
                          <a:latin typeface="+mj-lt"/>
                        </a:rPr>
                        <a:t>MAX DD</a:t>
                      </a:r>
                    </a:p>
                  </a:txBody>
                  <a:tcPr marL="45720" marR="45720" marT="18288" marB="18288" anchor="ctr">
                    <a:solidFill>
                      <a:srgbClr val="2BB399"/>
                    </a:solidFill>
                  </a:tcPr>
                </a:tc>
              </a:tr>
              <a:tr h="301752">
                <a:tc>
                  <a:txBody>
                    <a:bodyPr wrap="square"/>
                    <a:lstStyle/>
                    <a:p>
                      <a:pPr algn="l"/>
                      <a:r>
                        <a:rPr sz="1200" b="1">
                          <a:solidFill>
                            <a:srgbClr val="36393B"/>
                          </a:solidFill>
                        </a:rPr>
                        <a:t>RELIANCE</a:t>
                      </a:r>
                    </a:p>
                  </a:txBody>
                  <a:tcPr marL="45720" marR="45720" marT="18288" marB="18288" anchor="ctr">
                    <a:solidFill>
                      <a:srgbClr val="FFFFFF"/>
                    </a:solidFill>
                  </a:tcPr>
                </a:tc>
                <a:tc>
                  <a:txBody>
                    <a:bodyPr wrap="square"/>
                    <a:lstStyle/>
                    <a:p>
                      <a:pPr algn="ctr"/>
                      <a:r>
                        <a:rPr sz="1200" b="0">
                          <a:solidFill>
                            <a:srgbClr val="36393B"/>
                          </a:solidFill>
                        </a:rPr>
                        <a:t>Conglomerate</a:t>
                      </a:r>
                    </a:p>
                  </a:txBody>
                  <a:tcPr marL="45720" marR="45720" marT="18288" marB="18288" anchor="ctr">
                    <a:solidFill>
                      <a:srgbClr val="FFFFFF"/>
                    </a:solidFill>
                  </a:tcPr>
                </a:tc>
                <a:tc>
                  <a:txBody>
                    <a:bodyPr wrap="square"/>
                    <a:lstStyle/>
                    <a:p>
                      <a:pPr algn="ctr"/>
                      <a:r>
                        <a:rPr sz="1200" b="0">
                          <a:solidFill>
                            <a:srgbClr val="36393B"/>
                          </a:solidFill>
                        </a:rPr>
                        <a:t>16.7%</a:t>
                      </a:r>
                    </a:p>
                  </a:txBody>
                  <a:tcPr marL="45720" marR="45720" marT="18288" marB="18288" anchor="ctr">
                    <a:solidFill>
                      <a:srgbClr val="FFFFFF"/>
                    </a:solidFill>
                  </a:tcPr>
                </a:tc>
                <a:tc>
                  <a:txBody>
                    <a:bodyPr wrap="square"/>
                    <a:lstStyle/>
                    <a:p>
                      <a:pPr algn="ctr"/>
                      <a:r>
                        <a:rPr sz="1200" b="0">
                          <a:solidFill>
                            <a:srgbClr val="36393B"/>
                          </a:solidFill>
                        </a:rPr>
                        <a:t>-45%</a:t>
                      </a:r>
                    </a:p>
                  </a:txBody>
                  <a:tcPr marL="45720" marR="45720" marT="18288" marB="18288" anchor="ctr">
                    <a:solidFill>
                      <a:srgbClr val="FFFFFF"/>
                    </a:solidFill>
                  </a:tcPr>
                </a:tc>
              </a:tr>
              <a:tr h="301752">
                <a:tc>
                  <a:txBody>
                    <a:bodyPr wrap="square"/>
                    <a:lstStyle/>
                    <a:p>
                      <a:pPr algn="l"/>
                      <a:r>
                        <a:rPr sz="1200" b="1">
                          <a:solidFill>
                            <a:srgbClr val="36393B"/>
                          </a:solidFill>
                        </a:rPr>
                        <a:t>LT</a:t>
                      </a:r>
                    </a:p>
                  </a:txBody>
                  <a:tcPr marL="45720" marR="45720" marT="18288" marB="18288" anchor="ctr">
                    <a:solidFill>
                      <a:srgbClr val="F4FEFB"/>
                    </a:solidFill>
                  </a:tcPr>
                </a:tc>
                <a:tc>
                  <a:txBody>
                    <a:bodyPr wrap="square"/>
                    <a:lstStyle/>
                    <a:p>
                      <a:pPr algn="ctr"/>
                      <a:r>
                        <a:rPr sz="1200" b="0">
                          <a:solidFill>
                            <a:srgbClr val="36393B"/>
                          </a:solidFill>
                        </a:rPr>
                        <a:t>Capital goods</a:t>
                      </a:r>
                    </a:p>
                  </a:txBody>
                  <a:tcPr marL="45720" marR="45720" marT="18288" marB="18288" anchor="ctr">
                    <a:solidFill>
                      <a:srgbClr val="F4FEFB"/>
                    </a:solidFill>
                  </a:tcPr>
                </a:tc>
                <a:tc>
                  <a:txBody>
                    <a:bodyPr wrap="square"/>
                    <a:lstStyle/>
                    <a:p>
                      <a:pPr algn="ctr"/>
                      <a:r>
                        <a:rPr sz="1200" b="0">
                          <a:solidFill>
                            <a:srgbClr val="36393B"/>
                          </a:solidFill>
                        </a:rPr>
                        <a:t>12.2%</a:t>
                      </a:r>
                    </a:p>
                  </a:txBody>
                  <a:tcPr marL="45720" marR="45720" marT="18288" marB="18288" anchor="ctr">
                    <a:solidFill>
                      <a:srgbClr val="F4FEFB"/>
                    </a:solidFill>
                  </a:tcPr>
                </a:tc>
                <a:tc>
                  <a:txBody>
                    <a:bodyPr wrap="square"/>
                    <a:lstStyle/>
                    <a:p>
                      <a:pPr algn="ctr"/>
                      <a:r>
                        <a:rPr sz="1200" b="0">
                          <a:solidFill>
                            <a:srgbClr val="36393B"/>
                          </a:solidFill>
                        </a:rPr>
                        <a:t>-56%</a:t>
                      </a:r>
                    </a:p>
                  </a:txBody>
                  <a:tcPr marL="45720" marR="45720" marT="18288" marB="18288" anchor="ctr">
                    <a:solidFill>
                      <a:srgbClr val="F4FEFB"/>
                    </a:solidFill>
                  </a:tcPr>
                </a:tc>
              </a:tr>
              <a:tr h="301752">
                <a:tc>
                  <a:txBody>
                    <a:bodyPr wrap="square"/>
                    <a:lstStyle/>
                    <a:p>
                      <a:pPr algn="l"/>
                      <a:r>
                        <a:rPr sz="1200" b="1">
                          <a:solidFill>
                            <a:srgbClr val="36393B"/>
                          </a:solidFill>
                        </a:rPr>
                        <a:t>MARUTI</a:t>
                      </a:r>
                    </a:p>
                  </a:txBody>
                  <a:tcPr marL="45720" marR="45720" marT="18288" marB="18288" anchor="ctr">
                    <a:solidFill>
                      <a:srgbClr val="FFFFFF"/>
                    </a:solidFill>
                  </a:tcPr>
                </a:tc>
                <a:tc>
                  <a:txBody>
                    <a:bodyPr wrap="square"/>
                    <a:lstStyle/>
                    <a:p>
                      <a:pPr algn="ctr"/>
                      <a:r>
                        <a:rPr sz="1200" b="0">
                          <a:solidFill>
                            <a:srgbClr val="36393B"/>
                          </a:solidFill>
                        </a:rPr>
                        <a:t>Automobiles</a:t>
                      </a:r>
                    </a:p>
                  </a:txBody>
                  <a:tcPr marL="45720" marR="45720" marT="18288" marB="18288" anchor="ctr">
                    <a:solidFill>
                      <a:srgbClr val="FFFFFF"/>
                    </a:solidFill>
                  </a:tcPr>
                </a:tc>
                <a:tc>
                  <a:txBody>
                    <a:bodyPr wrap="square"/>
                    <a:lstStyle/>
                    <a:p>
                      <a:pPr algn="ctr"/>
                      <a:r>
                        <a:rPr sz="1200" b="0">
                          <a:solidFill>
                            <a:srgbClr val="36393B"/>
                          </a:solidFill>
                        </a:rPr>
                        <a:t>11.6%</a:t>
                      </a:r>
                    </a:p>
                  </a:txBody>
                  <a:tcPr marL="45720" marR="45720" marT="18288" marB="18288" anchor="ctr">
                    <a:solidFill>
                      <a:srgbClr val="FFFFFF"/>
                    </a:solidFill>
                  </a:tcPr>
                </a:tc>
                <a:tc>
                  <a:txBody>
                    <a:bodyPr wrap="square"/>
                    <a:lstStyle/>
                    <a:p>
                      <a:pPr algn="ctr"/>
                      <a:r>
                        <a:rPr sz="1200" b="0">
                          <a:solidFill>
                            <a:srgbClr val="36393B"/>
                          </a:solidFill>
                        </a:rPr>
                        <a:t>-59%</a:t>
                      </a:r>
                    </a:p>
                  </a:txBody>
                  <a:tcPr marL="45720" marR="45720" marT="18288" marB="18288" anchor="ctr">
                    <a:solidFill>
                      <a:srgbClr val="FFFFFF"/>
                    </a:solidFill>
                  </a:tcPr>
                </a:tc>
              </a:tr>
              <a:tr h="301752">
                <a:tc>
                  <a:txBody>
                    <a:bodyPr wrap="square"/>
                    <a:lstStyle/>
                    <a:p>
                      <a:pPr algn="l"/>
                      <a:r>
                        <a:rPr sz="1200" b="1">
                          <a:solidFill>
                            <a:srgbClr val="36393B"/>
                          </a:solidFill>
                        </a:rPr>
                        <a:t>HDFCBANK</a:t>
                      </a:r>
                    </a:p>
                  </a:txBody>
                  <a:tcPr marL="45720" marR="45720" marT="18288" marB="18288" anchor="ctr">
                    <a:solidFill>
                      <a:srgbClr val="F4FEFB"/>
                    </a:solidFill>
                  </a:tcPr>
                </a:tc>
                <a:tc>
                  <a:txBody>
                    <a:bodyPr wrap="square"/>
                    <a:lstStyle/>
                    <a:p>
                      <a:pPr algn="ctr"/>
                      <a:r>
                        <a:rPr sz="1200" b="0">
                          <a:solidFill>
                            <a:srgbClr val="36393B"/>
                          </a:solidFill>
                        </a:rPr>
                        <a:t>Private bank</a:t>
                      </a:r>
                    </a:p>
                  </a:txBody>
                  <a:tcPr marL="45720" marR="45720" marT="18288" marB="18288" anchor="ctr">
                    <a:solidFill>
                      <a:srgbClr val="F4FEFB"/>
                    </a:solidFill>
                  </a:tcPr>
                </a:tc>
                <a:tc>
                  <a:txBody>
                    <a:bodyPr wrap="square"/>
                    <a:lstStyle/>
                    <a:p>
                      <a:pPr algn="ctr"/>
                      <a:r>
                        <a:rPr sz="1200" b="0">
                          <a:solidFill>
                            <a:srgbClr val="36393B"/>
                          </a:solidFill>
                        </a:rPr>
                        <a:t>10.1%</a:t>
                      </a:r>
                    </a:p>
                  </a:txBody>
                  <a:tcPr marL="45720" marR="45720" marT="18288" marB="18288" anchor="ctr">
                    <a:solidFill>
                      <a:srgbClr val="F4FEFB"/>
                    </a:solidFill>
                  </a:tcPr>
                </a:tc>
                <a:tc>
                  <a:txBody>
                    <a:bodyPr wrap="square"/>
                    <a:lstStyle/>
                    <a:p>
                      <a:pPr algn="ctr"/>
                      <a:r>
                        <a:rPr sz="1200" b="0">
                          <a:solidFill>
                            <a:srgbClr val="36393B"/>
                          </a:solidFill>
                        </a:rPr>
                        <a:t>-41%</a:t>
                      </a:r>
                    </a:p>
                  </a:txBody>
                  <a:tcPr marL="45720" marR="45720" marT="18288" marB="18288" anchor="ctr">
                    <a:solidFill>
                      <a:srgbClr val="F4FEFB"/>
                    </a:solidFill>
                  </a:tcPr>
                </a:tc>
              </a:tr>
              <a:tr h="301752">
                <a:tc>
                  <a:txBody>
                    <a:bodyPr wrap="square"/>
                    <a:lstStyle/>
                    <a:p>
                      <a:pPr algn="l"/>
                      <a:r>
                        <a:rPr sz="1200" b="1">
                          <a:solidFill>
                            <a:srgbClr val="36393B"/>
                          </a:solidFill>
                        </a:rPr>
                        <a:t>SUNPHARMA</a:t>
                      </a:r>
                    </a:p>
                  </a:txBody>
                  <a:tcPr marL="45720" marR="45720" marT="18288" marB="18288" anchor="ctr">
                    <a:solidFill>
                      <a:srgbClr val="FFFFFF"/>
                    </a:solidFill>
                  </a:tcPr>
                </a:tc>
                <a:tc>
                  <a:txBody>
                    <a:bodyPr wrap="square"/>
                    <a:lstStyle/>
                    <a:p>
                      <a:pPr algn="ctr"/>
                      <a:r>
                        <a:rPr sz="1200" b="0">
                          <a:solidFill>
                            <a:srgbClr val="36393B"/>
                          </a:solidFill>
                        </a:rPr>
                        <a:t>Pharma</a:t>
                      </a:r>
                    </a:p>
                  </a:txBody>
                  <a:tcPr marL="45720" marR="45720" marT="18288" marB="18288" anchor="ctr">
                    <a:solidFill>
                      <a:srgbClr val="FFFFFF"/>
                    </a:solidFill>
                  </a:tcPr>
                </a:tc>
                <a:tc>
                  <a:txBody>
                    <a:bodyPr wrap="square"/>
                    <a:lstStyle/>
                    <a:p>
                      <a:pPr algn="ctr"/>
                      <a:r>
                        <a:rPr sz="1200" b="0">
                          <a:solidFill>
                            <a:srgbClr val="36393B"/>
                          </a:solidFill>
                        </a:rPr>
                        <a:t>7.2%</a:t>
                      </a:r>
                    </a:p>
                  </a:txBody>
                  <a:tcPr marL="45720" marR="45720" marT="18288" marB="18288" anchor="ctr">
                    <a:solidFill>
                      <a:srgbClr val="FFFFFF"/>
                    </a:solidFill>
                  </a:tcPr>
                </a:tc>
                <a:tc>
                  <a:txBody>
                    <a:bodyPr wrap="square"/>
                    <a:lstStyle/>
                    <a:p>
                      <a:pPr algn="ctr"/>
                      <a:r>
                        <a:rPr sz="1200" b="0">
                          <a:solidFill>
                            <a:srgbClr val="36393B"/>
                          </a:solidFill>
                        </a:rPr>
                        <a:t>-72%</a:t>
                      </a:r>
                    </a:p>
                  </a:txBody>
                  <a:tcPr marL="45720" marR="45720" marT="18288" marB="18288" anchor="ctr">
                    <a:solidFill>
                      <a:srgbClr val="FFFFFF"/>
                    </a:solidFill>
                  </a:tcPr>
                </a:tc>
              </a:tr>
              <a:tr h="301752">
                <a:tc>
                  <a:txBody>
                    <a:bodyPr wrap="square"/>
                    <a:lstStyle/>
                    <a:p>
                      <a:pPr algn="l"/>
                      <a:r>
                        <a:rPr sz="1200" b="1">
                          <a:solidFill>
                            <a:srgbClr val="36393B"/>
                          </a:solidFill>
                        </a:rPr>
                        <a:t>INFY</a:t>
                      </a:r>
                    </a:p>
                  </a:txBody>
                  <a:tcPr marL="45720" marR="45720" marT="18288" marB="18288" anchor="ctr">
                    <a:solidFill>
                      <a:srgbClr val="F4FEFB"/>
                    </a:solidFill>
                  </a:tcPr>
                </a:tc>
                <a:tc>
                  <a:txBody>
                    <a:bodyPr wrap="square"/>
                    <a:lstStyle/>
                    <a:p>
                      <a:pPr algn="ctr"/>
                      <a:r>
                        <a:rPr sz="1200" b="0">
                          <a:solidFill>
                            <a:srgbClr val="36393B"/>
                          </a:solidFill>
                        </a:rPr>
                        <a:t>IT services</a:t>
                      </a:r>
                    </a:p>
                  </a:txBody>
                  <a:tcPr marL="45720" marR="45720" marT="18288" marB="18288" anchor="ctr">
                    <a:solidFill>
                      <a:srgbClr val="F4FEFB"/>
                    </a:solidFill>
                  </a:tcPr>
                </a:tc>
                <a:tc>
                  <a:txBody>
                    <a:bodyPr wrap="square"/>
                    <a:lstStyle/>
                    <a:p>
                      <a:pPr algn="ctr"/>
                      <a:r>
                        <a:rPr sz="1200" b="0">
                          <a:solidFill>
                            <a:srgbClr val="36393B"/>
                          </a:solidFill>
                        </a:rPr>
                        <a:t>6.2%</a:t>
                      </a:r>
                    </a:p>
                  </a:txBody>
                  <a:tcPr marL="45720" marR="45720" marT="18288" marB="18288" anchor="ctr">
                    <a:solidFill>
                      <a:srgbClr val="F4FEFB"/>
                    </a:solidFill>
                  </a:tcPr>
                </a:tc>
                <a:tc>
                  <a:txBody>
                    <a:bodyPr wrap="square"/>
                    <a:lstStyle/>
                    <a:p>
                      <a:pPr algn="ctr"/>
                      <a:r>
                        <a:rPr sz="1200" b="0">
                          <a:solidFill>
                            <a:srgbClr val="36393B"/>
                          </a:solidFill>
                        </a:rPr>
                        <a:t>-51%</a:t>
                      </a:r>
                    </a:p>
                  </a:txBody>
                  <a:tcPr marL="45720" marR="45720" marT="18288" marB="18288" anchor="ctr">
                    <a:solidFill>
                      <a:srgbClr val="F4FEFB"/>
                    </a:solidFill>
                  </a:tcPr>
                </a:tc>
              </a:tr>
              <a:tr h="301752">
                <a:tc>
                  <a:txBody>
                    <a:bodyPr wrap="square"/>
                    <a:lstStyle/>
                    <a:p>
                      <a:pPr algn="l"/>
                      <a:r>
                        <a:rPr sz="1200" b="1">
                          <a:solidFill>
                            <a:srgbClr val="36393B"/>
                          </a:solidFill>
                        </a:rPr>
                        <a:t>ITC</a:t>
                      </a:r>
                    </a:p>
                  </a:txBody>
                  <a:tcPr marL="45720" marR="45720" marT="18288" marB="18288" anchor="ctr">
                    <a:solidFill>
                      <a:srgbClr val="FFFFFF"/>
                    </a:solidFill>
                  </a:tcPr>
                </a:tc>
                <a:tc>
                  <a:txBody>
                    <a:bodyPr wrap="square"/>
                    <a:lstStyle/>
                    <a:p>
                      <a:pPr algn="ctr"/>
                      <a:r>
                        <a:rPr sz="1200" b="0">
                          <a:solidFill>
                            <a:srgbClr val="36393B"/>
                          </a:solidFill>
                        </a:rPr>
                        <a:t>FMCG</a:t>
                      </a:r>
                    </a:p>
                  </a:txBody>
                  <a:tcPr marL="45720" marR="45720" marT="18288" marB="18288" anchor="ctr">
                    <a:solidFill>
                      <a:srgbClr val="FFFFFF"/>
                    </a:solidFill>
                  </a:tcPr>
                </a:tc>
                <a:tc>
                  <a:txBody>
                    <a:bodyPr wrap="square"/>
                    <a:lstStyle/>
                    <a:p>
                      <a:pPr algn="ctr"/>
                      <a:r>
                        <a:rPr sz="1200" b="0">
                          <a:solidFill>
                            <a:srgbClr val="36393B"/>
                          </a:solidFill>
                        </a:rPr>
                        <a:t>1.3%</a:t>
                      </a:r>
                    </a:p>
                  </a:txBody>
                  <a:tcPr marL="45720" marR="45720" marT="18288" marB="18288" anchor="ctr">
                    <a:solidFill>
                      <a:srgbClr val="FFFFFF"/>
                    </a:solidFill>
                  </a:tcPr>
                </a:tc>
                <a:tc>
                  <a:txBody>
                    <a:bodyPr wrap="square"/>
                    <a:lstStyle/>
                    <a:p>
                      <a:pPr algn="ctr"/>
                      <a:r>
                        <a:rPr sz="1200" b="0">
                          <a:solidFill>
                            <a:srgbClr val="36393B"/>
                          </a:solidFill>
                        </a:rPr>
                        <a:t>-57%</a:t>
                      </a:r>
                    </a:p>
                  </a:txBody>
                  <a:tcPr marL="45720" marR="45720" marT="18288" marB="18288" anchor="ctr">
                    <a:solidFill>
                      <a:srgbClr val="FFFFFF"/>
                    </a:solidFill>
                  </a:tcPr>
                </a:tc>
              </a:tr>
            </a:tbl>
          </a:graphicData>
        </a:graphic>
      </p:graphicFrame>
      <p:sp>
        <p:nvSpPr>
          <p:cNvPr id="42" name="Rectangle 41"/>
          <p:cNvSpPr/>
          <p:nvPr/>
        </p:nvSpPr>
        <p:spPr>
          <a:xfrm>
            <a:off x="7086600" y="4160520"/>
            <a:ext cx="4206240" cy="96012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42048" y="4215383"/>
            <a:ext cx="3931920" cy="868680"/>
          </a:xfrm>
          <a:prstGeom prst="rect">
            <a:avLst/>
          </a:prstGeom>
          <a:noFill/>
        </p:spPr>
        <p:txBody>
          <a:bodyPr wrap="square" anchor="t" lIns="36576" rIns="36576" tIns="18288" bIns="18288">
            <a:spAutoFit/>
          </a:bodyPr>
          <a:lstStyle/>
          <a:p>
            <a:pPr algn="l">
              <a:spcAft>
                <a:spcPts val="200"/>
              </a:spcAft>
            </a:pPr>
            <a:r>
              <a:rPr sz="1300" b="1">
                <a:solidFill>
                  <a:srgbClr val="36393B"/>
                </a:solidFill>
              </a:rPr>
              <a:t>Costs: 0.15% per side</a:t>
            </a:r>
          </a:p>
          <a:p>
            <a:pPr algn="l">
              <a:spcAft>
                <a:spcPts val="200"/>
              </a:spcAft>
            </a:pPr>
            <a:r>
              <a:rPr sz="1150" b="0">
                <a:solidFill>
                  <a:srgbClr val="5F6266"/>
                </a:solidFill>
              </a:rPr>
              <a:t>STT 0.1% each side + stamp, exchange, GST ≈ 0.11%, plus slippage. 'Zero brokerage' is not zero cost.</a:t>
            </a:r>
          </a:p>
        </p:txBody>
      </p:sp>
      <p:sp>
        <p:nvSpPr>
          <p:cNvPr id="44" name="Rectangle 43"/>
          <p:cNvSpPr/>
          <p:nvPr/>
        </p:nvSpPr>
        <p:spPr>
          <a:xfrm>
            <a:off x="7086600" y="5212079"/>
            <a:ext cx="4206240" cy="96012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42048" y="5266943"/>
            <a:ext cx="3931920" cy="868680"/>
          </a:xfrm>
          <a:prstGeom prst="rect">
            <a:avLst/>
          </a:prstGeom>
          <a:noFill/>
        </p:spPr>
        <p:txBody>
          <a:bodyPr wrap="square" anchor="t" lIns="36576" rIns="36576" tIns="18288" bIns="18288">
            <a:spAutoFit/>
          </a:bodyPr>
          <a:lstStyle/>
          <a:p>
            <a:pPr algn="l">
              <a:spcAft>
                <a:spcPts val="200"/>
              </a:spcAft>
            </a:pPr>
            <a:r>
              <a:rPr sz="1300" b="1">
                <a:solidFill>
                  <a:srgbClr val="36393B"/>
                </a:solidFill>
              </a:rPr>
              <a:t>Idle cash earns 6%</a:t>
            </a:r>
          </a:p>
          <a:p>
            <a:pPr algn="l">
              <a:spcAft>
                <a:spcPts val="200"/>
              </a:spcAft>
            </a:pPr>
            <a:r>
              <a:rPr sz="1150" b="0">
                <a:solidFill>
                  <a:srgbClr val="5F6266"/>
                </a:solidFill>
              </a:rPr>
              <a:t>Approx. 91-day T-bill average. Sharpe is measured on returns above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No indicator beats chance; two are significantly worse</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Adwaaiit</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10-day return from next open minus the same stock's average day; 7 stocks pooled, 2015–26. |t| &gt; 1.96 = significant at 5%. Pine files 01–12</a:t>
            </a:r>
          </a:p>
        </p:txBody>
      </p:sp>
      <p:graphicFrame>
        <p:nvGraphicFramePr>
          <p:cNvPr id="39" name="Chart 38"/>
          <p:cNvGraphicFramePr>
            <a:graphicFrameLocks noGrp="1"/>
          </p:cNvGraphicFramePr>
          <p:nvPr/>
        </p:nvGraphicFramePr>
        <p:xfrm>
          <a:off x="777240" y="1325880"/>
          <a:ext cx="6400800" cy="4983480"/>
        </p:xfrm>
        <a:graphic>
          <a:graphicData uri="http://schemas.openxmlformats.org/drawingml/2006/chart">
            <c:chart xmlns:c="http://schemas.openxmlformats.org/drawingml/2006/chart" r:id="rId3"/>
          </a:graphicData>
        </a:graphic>
      </p:graphicFrame>
      <p:sp>
        <p:nvSpPr>
          <p:cNvPr id="40" name="TextBox 39"/>
          <p:cNvSpPr txBox="1"/>
          <p:nvPr/>
        </p:nvSpPr>
        <p:spPr>
          <a:xfrm>
            <a:off x="7498079" y="1417320"/>
            <a:ext cx="3794760" cy="457200"/>
          </a:xfrm>
          <a:prstGeom prst="rect">
            <a:avLst/>
          </a:prstGeom>
          <a:noFill/>
        </p:spPr>
        <p:txBody>
          <a:bodyPr wrap="square" anchor="t" lIns="36576" rIns="36576" tIns="18288" bIns="18288">
            <a:spAutoFit/>
          </a:bodyPr>
          <a:lstStyle/>
          <a:p>
            <a:pPr algn="l">
              <a:spcAft>
                <a:spcPts val="300"/>
              </a:spcAft>
            </a:pPr>
            <a:r>
              <a:rPr sz="2200" b="1">
                <a:solidFill>
                  <a:srgbClr val="0E8C74"/>
                </a:solidFill>
              </a:rPr>
              <a:t>+0.25 pp</a:t>
            </a:r>
          </a:p>
        </p:txBody>
      </p:sp>
      <p:sp>
        <p:nvSpPr>
          <p:cNvPr id="41" name="TextBox 40"/>
          <p:cNvSpPr txBox="1"/>
          <p:nvPr/>
        </p:nvSpPr>
        <p:spPr>
          <a:xfrm>
            <a:off x="7498079" y="1874519"/>
            <a:ext cx="3794760" cy="685800"/>
          </a:xfrm>
          <a:prstGeom prst="rect">
            <a:avLst/>
          </a:prstGeom>
          <a:noFill/>
        </p:spPr>
        <p:txBody>
          <a:bodyPr wrap="square" anchor="t" lIns="36576" rIns="36576" tIns="18288" bIns="18288">
            <a:spAutoFit/>
          </a:bodyPr>
          <a:lstStyle/>
          <a:p>
            <a:pPr algn="l">
              <a:spcAft>
                <a:spcPts val="300"/>
              </a:spcAft>
            </a:pPr>
            <a:r>
              <a:rPr sz="1200" b="0">
                <a:solidFill>
                  <a:srgbClr val="5F6266"/>
                </a:solidFill>
              </a:rPr>
              <a:t>Best signal (SMA cross): 95% interval -0.37 to +0.87 pp. Indistinguishable from zero.</a:t>
            </a:r>
          </a:p>
        </p:txBody>
      </p:sp>
      <p:sp>
        <p:nvSpPr>
          <p:cNvPr id="42" name="TextBox 41"/>
          <p:cNvSpPr txBox="1"/>
          <p:nvPr/>
        </p:nvSpPr>
        <p:spPr>
          <a:xfrm>
            <a:off x="7498079" y="2633472"/>
            <a:ext cx="3794760" cy="457200"/>
          </a:xfrm>
          <a:prstGeom prst="rect">
            <a:avLst/>
          </a:prstGeom>
          <a:noFill/>
        </p:spPr>
        <p:txBody>
          <a:bodyPr wrap="square" anchor="t" lIns="36576" rIns="36576" tIns="18288" bIns="18288">
            <a:spAutoFit/>
          </a:bodyPr>
          <a:lstStyle/>
          <a:p>
            <a:pPr algn="l">
              <a:spcAft>
                <a:spcPts val="300"/>
              </a:spcAft>
            </a:pPr>
            <a:r>
              <a:rPr sz="2200" b="1">
                <a:solidFill>
                  <a:srgbClr val="0E8C74"/>
                </a:solidFill>
              </a:rPr>
              <a:t>4 of 12</a:t>
            </a:r>
          </a:p>
        </p:txBody>
      </p:sp>
      <p:sp>
        <p:nvSpPr>
          <p:cNvPr id="43" name="TextBox 42"/>
          <p:cNvSpPr txBox="1"/>
          <p:nvPr/>
        </p:nvSpPr>
        <p:spPr>
          <a:xfrm>
            <a:off x="7498079" y="3090672"/>
            <a:ext cx="3794760" cy="685800"/>
          </a:xfrm>
          <a:prstGeom prst="rect">
            <a:avLst/>
          </a:prstGeom>
          <a:noFill/>
        </p:spPr>
        <p:txBody>
          <a:bodyPr wrap="square" anchor="t" lIns="36576" rIns="36576" tIns="18288" bIns="18288">
            <a:spAutoFit/>
          </a:bodyPr>
          <a:lstStyle/>
          <a:p>
            <a:pPr algn="l">
              <a:spcAft>
                <a:spcPts val="300"/>
              </a:spcAft>
            </a:pPr>
            <a:r>
              <a:rPr sz="1200" b="0">
                <a:solidFill>
                  <a:srgbClr val="5F6266"/>
                </a:solidFill>
              </a:rPr>
              <a:t>signals above an average day. Pure chance would give about 6.</a:t>
            </a:r>
          </a:p>
        </p:txBody>
      </p:sp>
      <p:sp>
        <p:nvSpPr>
          <p:cNvPr id="44" name="TextBox 43"/>
          <p:cNvSpPr txBox="1"/>
          <p:nvPr/>
        </p:nvSpPr>
        <p:spPr>
          <a:xfrm>
            <a:off x="7498079" y="3849624"/>
            <a:ext cx="3794760" cy="457200"/>
          </a:xfrm>
          <a:prstGeom prst="rect">
            <a:avLst/>
          </a:prstGeom>
          <a:noFill/>
        </p:spPr>
        <p:txBody>
          <a:bodyPr wrap="square" anchor="t" lIns="36576" rIns="36576" tIns="18288" bIns="18288">
            <a:spAutoFit/>
          </a:bodyPr>
          <a:lstStyle/>
          <a:p>
            <a:pPr algn="l">
              <a:spcAft>
                <a:spcPts val="300"/>
              </a:spcAft>
            </a:pPr>
            <a:r>
              <a:rPr sz="2200" b="1">
                <a:solidFill>
                  <a:srgbClr val="FD4C00"/>
                </a:solidFill>
              </a:rPr>
              <a:t>t = -2.19 / -2.20</a:t>
            </a:r>
          </a:p>
        </p:txBody>
      </p:sp>
      <p:sp>
        <p:nvSpPr>
          <p:cNvPr id="45" name="TextBox 44"/>
          <p:cNvSpPr txBox="1"/>
          <p:nvPr/>
        </p:nvSpPr>
        <p:spPr>
          <a:xfrm>
            <a:off x="7498079" y="4306824"/>
            <a:ext cx="3794760" cy="685800"/>
          </a:xfrm>
          <a:prstGeom prst="rect">
            <a:avLst/>
          </a:prstGeom>
          <a:noFill/>
        </p:spPr>
        <p:txBody>
          <a:bodyPr wrap="square" anchor="t" lIns="36576" rIns="36576" tIns="18288" bIns="18288">
            <a:spAutoFit/>
          </a:bodyPr>
          <a:lstStyle/>
          <a:p>
            <a:pPr algn="l">
              <a:spcAft>
                <a:spcPts val="300"/>
              </a:spcAft>
            </a:pPr>
            <a:r>
              <a:rPr sz="1200" b="0">
                <a:solidFill>
                  <a:srgbClr val="5F6266"/>
                </a:solidFill>
              </a:rPr>
              <a:t>MFI turning up (-1.00 pp) and the Donchian breakout (-0.32 pp): significantly worse.</a:t>
            </a:r>
          </a:p>
        </p:txBody>
      </p:sp>
      <p:sp>
        <p:nvSpPr>
          <p:cNvPr id="46" name="Rectangle 45"/>
          <p:cNvSpPr/>
          <p:nvPr/>
        </p:nvSpPr>
        <p:spPr>
          <a:xfrm>
            <a:off x="7498079" y="5120640"/>
            <a:ext cx="3794760" cy="114300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07808" y="5166360"/>
            <a:ext cx="3611880" cy="1051560"/>
          </a:xfrm>
          <a:prstGeom prst="rect">
            <a:avLst/>
          </a:prstGeom>
          <a:noFill/>
        </p:spPr>
        <p:txBody>
          <a:bodyPr wrap="square" anchor="t" lIns="36576" rIns="36576" tIns="18288" bIns="18288">
            <a:spAutoFit/>
          </a:bodyPr>
          <a:lstStyle/>
          <a:p>
            <a:pPr algn="l">
              <a:spcAft>
                <a:spcPts val="300"/>
              </a:spcAft>
            </a:pPr>
            <a:r>
              <a:rPr sz="1100" b="1">
                <a:solidFill>
                  <a:srgbClr val="36393B"/>
                </a:solidFill>
              </a:rPr>
              <a:t>Families: </a:t>
            </a:r>
            <a:r>
              <a:rPr sz="1100" b="0">
                <a:solidFill>
                  <a:srgbClr val="36393B"/>
                </a:solidFill>
              </a:rPr>
              <a:t>trend (SMA, EMA, MACD, Supertrend), momentum (RSI, Stochastic, CCI), channels (Bollinger, Donchian), strength (ADX), volume (OBV, MFI). Per-stock grid: backup B1.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18 Pine scripts run 12 indicators on 7 stocks and match TradingView</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Adwaaiit</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TradingView Strategy Tester, NSE:RELIANCE 1D, run 4 Oct 2026 at 0.05% and no interest; dashboard at close of 25 Sep 2026</a:t>
            </a:r>
          </a:p>
        </p:txBody>
      </p:sp>
      <p:sp>
        <p:nvSpPr>
          <p:cNvPr id="39" name="Pentagon 38"/>
          <p:cNvSpPr/>
          <p:nvPr/>
        </p:nvSpPr>
        <p:spPr>
          <a:xfrm>
            <a:off x="850392" y="1325880"/>
            <a:ext cx="2194560" cy="685800"/>
          </a:xfrm>
          <a:prstGeom prst="homePlate">
            <a:avLst/>
          </a:prstGeom>
          <a:solidFill>
            <a:srgbClr val="3AE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1344168"/>
            <a:ext cx="1600200" cy="649224"/>
          </a:xfrm>
          <a:prstGeom prst="rect">
            <a:avLst/>
          </a:prstGeom>
          <a:noFill/>
        </p:spPr>
        <p:txBody>
          <a:bodyPr wrap="square" anchor="ctr" lIns="36576" rIns="36576" tIns="18288" bIns="18288">
            <a:spAutoFit/>
          </a:bodyPr>
          <a:lstStyle/>
          <a:p>
            <a:pPr algn="ctr">
              <a:spcAft>
                <a:spcPts val="0"/>
              </a:spcAft>
            </a:pPr>
            <a:r>
              <a:rPr sz="1200" b="1">
                <a:solidFill>
                  <a:srgbClr val="36393B"/>
                </a:solidFill>
              </a:rPr>
              <a:t>01–12 · Indicators</a:t>
            </a:r>
          </a:p>
          <a:p>
            <a:pPr algn="ctr">
              <a:spcAft>
                <a:spcPts val="0"/>
              </a:spcAft>
            </a:pPr>
            <a:r>
              <a:rPr sz="1050" b="0">
                <a:solidFill>
                  <a:srgbClr val="36393B"/>
                </a:solidFill>
              </a:rPr>
              <a:t>plots, signals, alerts</a:t>
            </a:r>
          </a:p>
        </p:txBody>
      </p:sp>
      <p:sp>
        <p:nvSpPr>
          <p:cNvPr id="41" name="Chevron 40"/>
          <p:cNvSpPr/>
          <p:nvPr/>
        </p:nvSpPr>
        <p:spPr>
          <a:xfrm>
            <a:off x="2953512" y="1325880"/>
            <a:ext cx="2194560" cy="685800"/>
          </a:xfrm>
          <a:prstGeom prst="chevron">
            <a:avLst/>
          </a:prstGeom>
          <a:solidFill>
            <a:srgbClr val="A6F7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37560" y="1344168"/>
            <a:ext cx="1600200" cy="649224"/>
          </a:xfrm>
          <a:prstGeom prst="rect">
            <a:avLst/>
          </a:prstGeom>
          <a:noFill/>
        </p:spPr>
        <p:txBody>
          <a:bodyPr wrap="square" anchor="ctr" lIns="36576" rIns="36576" tIns="18288" bIns="18288">
            <a:spAutoFit/>
          </a:bodyPr>
          <a:lstStyle/>
          <a:p>
            <a:pPr algn="ctr">
              <a:spcAft>
                <a:spcPts val="0"/>
              </a:spcAft>
            </a:pPr>
            <a:r>
              <a:rPr sz="1200" b="1">
                <a:solidFill>
                  <a:srgbClr val="36393B"/>
                </a:solidFill>
              </a:rPr>
              <a:t>13 · Dashboard</a:t>
            </a:r>
          </a:p>
          <a:p>
            <a:pPr algn="ctr">
              <a:spcAft>
                <a:spcPts val="0"/>
              </a:spcAft>
            </a:pPr>
            <a:r>
              <a:rPr sz="1050" b="0">
                <a:solidFill>
                  <a:srgbClr val="36393B"/>
                </a:solidFill>
              </a:rPr>
              <a:t>12 × 7 on one chart</a:t>
            </a:r>
          </a:p>
        </p:txBody>
      </p:sp>
      <p:sp>
        <p:nvSpPr>
          <p:cNvPr id="43" name="Chevron 42"/>
          <p:cNvSpPr/>
          <p:nvPr/>
        </p:nvSpPr>
        <p:spPr>
          <a:xfrm>
            <a:off x="5056631" y="1325880"/>
            <a:ext cx="2194560" cy="685800"/>
          </a:xfrm>
          <a:prstGeom prst="chevron">
            <a:avLst/>
          </a:prstGeom>
          <a:solidFill>
            <a:srgbClr val="3AE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40679" y="1344168"/>
            <a:ext cx="1600200" cy="649224"/>
          </a:xfrm>
          <a:prstGeom prst="rect">
            <a:avLst/>
          </a:prstGeom>
          <a:noFill/>
        </p:spPr>
        <p:txBody>
          <a:bodyPr wrap="square" anchor="ctr" lIns="36576" rIns="36576" tIns="18288" bIns="18288">
            <a:spAutoFit/>
          </a:bodyPr>
          <a:lstStyle/>
          <a:p>
            <a:pPr algn="ctr">
              <a:spcAft>
                <a:spcPts val="0"/>
              </a:spcAft>
            </a:pPr>
            <a:r>
              <a:rPr sz="1200" b="1">
                <a:solidFill>
                  <a:srgbClr val="36393B"/>
                </a:solidFill>
              </a:rPr>
              <a:t>14–16 · Strategies</a:t>
            </a:r>
          </a:p>
          <a:p>
            <a:pPr algn="ctr">
              <a:spcAft>
                <a:spcPts val="0"/>
              </a:spcAft>
            </a:pPr>
            <a:r>
              <a:rPr sz="1050" b="0">
                <a:solidFill>
                  <a:srgbClr val="36393B"/>
                </a:solidFill>
              </a:rPr>
              <a:t>7 / 15 / 60 days</a:t>
            </a:r>
          </a:p>
        </p:txBody>
      </p:sp>
      <p:sp>
        <p:nvSpPr>
          <p:cNvPr id="45" name="Chevron 44"/>
          <p:cNvSpPr/>
          <p:nvPr/>
        </p:nvSpPr>
        <p:spPr>
          <a:xfrm>
            <a:off x="7159751" y="1325880"/>
            <a:ext cx="2194560" cy="685800"/>
          </a:xfrm>
          <a:prstGeom prst="chevron">
            <a:avLst/>
          </a:prstGeom>
          <a:solidFill>
            <a:srgbClr val="A6F7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43800" y="1344168"/>
            <a:ext cx="1600200" cy="649224"/>
          </a:xfrm>
          <a:prstGeom prst="rect">
            <a:avLst/>
          </a:prstGeom>
          <a:noFill/>
        </p:spPr>
        <p:txBody>
          <a:bodyPr wrap="square" anchor="ctr" lIns="36576" rIns="36576" tIns="18288" bIns="18288">
            <a:spAutoFit/>
          </a:bodyPr>
          <a:lstStyle/>
          <a:p>
            <a:pPr algn="ctr">
              <a:spcAft>
                <a:spcPts val="0"/>
              </a:spcAft>
            </a:pPr>
            <a:r>
              <a:rPr sz="1200" b="1">
                <a:solidFill>
                  <a:srgbClr val="36393B"/>
                </a:solidFill>
              </a:rPr>
              <a:t>17 · Bias Lab</a:t>
            </a:r>
          </a:p>
          <a:p>
            <a:pPr algn="ctr">
              <a:spcAft>
                <a:spcPts val="0"/>
              </a:spcAft>
            </a:pPr>
            <a:r>
              <a:rPr sz="1050" b="0">
                <a:solidFill>
                  <a:srgbClr val="36393B"/>
                </a:solidFill>
              </a:rPr>
              <a:t>8 bias modes</a:t>
            </a:r>
          </a:p>
        </p:txBody>
      </p:sp>
      <p:sp>
        <p:nvSpPr>
          <p:cNvPr id="47" name="Chevron 46"/>
          <p:cNvSpPr/>
          <p:nvPr/>
        </p:nvSpPr>
        <p:spPr>
          <a:xfrm>
            <a:off x="9262872" y="1325880"/>
            <a:ext cx="2194560" cy="685800"/>
          </a:xfrm>
          <a:prstGeom prst="chevron">
            <a:avLst/>
          </a:prstGeom>
          <a:solidFill>
            <a:srgbClr val="3AE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46919" y="1344168"/>
            <a:ext cx="1600200" cy="649224"/>
          </a:xfrm>
          <a:prstGeom prst="rect">
            <a:avLst/>
          </a:prstGeom>
          <a:noFill/>
        </p:spPr>
        <p:txBody>
          <a:bodyPr wrap="square" anchor="ctr" lIns="36576" rIns="36576" tIns="18288" bIns="18288">
            <a:spAutoFit/>
          </a:bodyPr>
          <a:lstStyle/>
          <a:p>
            <a:pPr algn="ctr">
              <a:spcAft>
                <a:spcPts val="0"/>
              </a:spcAft>
            </a:pPr>
            <a:r>
              <a:rPr sz="1200" b="1">
                <a:solidFill>
                  <a:srgbClr val="36393B"/>
                </a:solidFill>
              </a:rPr>
              <a:t>18 · Disciplined</a:t>
            </a:r>
          </a:p>
          <a:p>
            <a:pPr algn="ctr">
              <a:spcAft>
                <a:spcPts val="0"/>
              </a:spcAft>
            </a:pPr>
            <a:r>
              <a:rPr sz="1050" b="0">
                <a:solidFill>
                  <a:srgbClr val="36393B"/>
                </a:solidFill>
              </a:rPr>
              <a:t>IS / OOS scorecard</a:t>
            </a:r>
          </a:p>
        </p:txBody>
      </p:sp>
      <p:sp>
        <p:nvSpPr>
          <p:cNvPr id="49" name="TextBox 48"/>
          <p:cNvSpPr txBox="1"/>
          <p:nvPr/>
        </p:nvSpPr>
        <p:spPr>
          <a:xfrm>
            <a:off x="850392" y="2176272"/>
            <a:ext cx="5943600" cy="274320"/>
          </a:xfrm>
          <a:prstGeom prst="rect">
            <a:avLst/>
          </a:prstGeom>
          <a:noFill/>
        </p:spPr>
        <p:txBody>
          <a:bodyPr wrap="square" anchor="t" lIns="36576" rIns="36576" tIns="18288" bIns="18288">
            <a:spAutoFit/>
          </a:bodyPr>
          <a:lstStyle/>
          <a:p>
            <a:pPr algn="l">
              <a:spcAft>
                <a:spcPts val="300"/>
              </a:spcAft>
            </a:pPr>
            <a:r>
              <a:rPr sz="1100" b="0">
                <a:solidFill>
                  <a:srgbClr val="0E8C74"/>
                </a:solidFill>
                <a:latin typeface="+mj-lt"/>
              </a:rPr>
              <a:t>DASHBOARD (FILE 13): ▲ BULLISH / ▼ BEARISH, 25 SEP 2026</a:t>
            </a:r>
          </a:p>
        </p:txBody>
      </p:sp>
      <p:graphicFrame>
        <p:nvGraphicFramePr>
          <p:cNvPr id="50" name="Table 49"/>
          <p:cNvGraphicFramePr>
            <a:graphicFrameLocks noGrp="1"/>
          </p:cNvGraphicFramePr>
          <p:nvPr/>
        </p:nvGraphicFramePr>
        <p:xfrm>
          <a:off x="850392" y="2468880"/>
          <a:ext cx="6035034" cy="3072384"/>
        </p:xfrm>
        <a:graphic>
          <a:graphicData uri="http://schemas.openxmlformats.org/drawingml/2006/table">
            <a:tbl>
              <a:tblPr firstRow="1" bandRow="0">
                <a:tableStyleId>{5C22544A-7EE6-4342-B048-85BDC9FD1C3A}</a:tableStyleId>
              </a:tblPr>
              <a:tblGrid>
                <a:gridCol w="1127234"/>
                <a:gridCol w="364183"/>
                <a:gridCol w="364183"/>
                <a:gridCol w="364183"/>
                <a:gridCol w="364183"/>
                <a:gridCol w="364183"/>
                <a:gridCol w="364183"/>
                <a:gridCol w="364183"/>
                <a:gridCol w="364183"/>
                <a:gridCol w="364183"/>
                <a:gridCol w="364183"/>
                <a:gridCol w="364183"/>
                <a:gridCol w="364183"/>
                <a:gridCol w="537604"/>
              </a:tblGrid>
              <a:tr h="384048">
                <a:tc>
                  <a:txBody>
                    <a:bodyPr wrap="square"/>
                    <a:lstStyle/>
                    <a:p>
                      <a:pPr algn="l"/>
                      <a:r>
                        <a:rPr sz="750">
                          <a:solidFill>
                            <a:srgbClr val="36393B"/>
                          </a:solidFill>
                          <a:latin typeface="+mj-lt"/>
                        </a:rPr>
                        <a:t>STOCK</a:t>
                      </a:r>
                    </a:p>
                  </a:txBody>
                  <a:tcPr marL="45720" marR="45720" marT="18288" marB="18288" anchor="ctr">
                    <a:solidFill>
                      <a:srgbClr val="2BB399"/>
                    </a:solidFill>
                  </a:tcPr>
                </a:tc>
                <a:tc>
                  <a:txBody>
                    <a:bodyPr wrap="square"/>
                    <a:lstStyle/>
                    <a:p>
                      <a:pPr algn="ctr"/>
                      <a:r>
                        <a:rPr sz="750">
                          <a:solidFill>
                            <a:srgbClr val="36393B"/>
                          </a:solidFill>
                          <a:latin typeface="+mj-lt"/>
                        </a:rPr>
                        <a:t>SMA</a:t>
                      </a:r>
                    </a:p>
                  </a:txBody>
                  <a:tcPr marL="45720" marR="45720" marT="18288" marB="18288" anchor="ctr">
                    <a:solidFill>
                      <a:srgbClr val="2BB399"/>
                    </a:solidFill>
                  </a:tcPr>
                </a:tc>
                <a:tc>
                  <a:txBody>
                    <a:bodyPr wrap="square"/>
                    <a:lstStyle/>
                    <a:p>
                      <a:pPr algn="ctr"/>
                      <a:r>
                        <a:rPr sz="750">
                          <a:solidFill>
                            <a:srgbClr val="36393B"/>
                          </a:solidFill>
                          <a:latin typeface="+mj-lt"/>
                        </a:rPr>
                        <a:t>EMA</a:t>
                      </a:r>
                    </a:p>
                  </a:txBody>
                  <a:tcPr marL="45720" marR="45720" marT="18288" marB="18288" anchor="ctr">
                    <a:solidFill>
                      <a:srgbClr val="2BB399"/>
                    </a:solidFill>
                  </a:tcPr>
                </a:tc>
                <a:tc>
                  <a:txBody>
                    <a:bodyPr wrap="square"/>
                    <a:lstStyle/>
                    <a:p>
                      <a:pPr algn="ctr"/>
                      <a:r>
                        <a:rPr sz="750">
                          <a:solidFill>
                            <a:srgbClr val="36393B"/>
                          </a:solidFill>
                          <a:latin typeface="+mj-lt"/>
                        </a:rPr>
                        <a:t>RSI</a:t>
                      </a:r>
                    </a:p>
                  </a:txBody>
                  <a:tcPr marL="45720" marR="45720" marT="18288" marB="18288" anchor="ctr">
                    <a:solidFill>
                      <a:srgbClr val="2BB399"/>
                    </a:solidFill>
                  </a:tcPr>
                </a:tc>
                <a:tc>
                  <a:txBody>
                    <a:bodyPr wrap="square"/>
                    <a:lstStyle/>
                    <a:p>
                      <a:pPr algn="ctr"/>
                      <a:r>
                        <a:rPr sz="750">
                          <a:solidFill>
                            <a:srgbClr val="36393B"/>
                          </a:solidFill>
                          <a:latin typeface="+mj-lt"/>
                        </a:rPr>
                        <a:t>MACD</a:t>
                      </a:r>
                    </a:p>
                  </a:txBody>
                  <a:tcPr marL="45720" marR="45720" marT="18288" marB="18288" anchor="ctr">
                    <a:solidFill>
                      <a:srgbClr val="2BB399"/>
                    </a:solidFill>
                  </a:tcPr>
                </a:tc>
                <a:tc>
                  <a:txBody>
                    <a:bodyPr wrap="square"/>
                    <a:lstStyle/>
                    <a:p>
                      <a:pPr algn="ctr"/>
                      <a:r>
                        <a:rPr sz="750">
                          <a:solidFill>
                            <a:srgbClr val="36393B"/>
                          </a:solidFill>
                          <a:latin typeface="+mj-lt"/>
                        </a:rPr>
                        <a:t>BB</a:t>
                      </a:r>
                    </a:p>
                  </a:txBody>
                  <a:tcPr marL="45720" marR="45720" marT="18288" marB="18288" anchor="ctr">
                    <a:solidFill>
                      <a:srgbClr val="2BB399"/>
                    </a:solidFill>
                  </a:tcPr>
                </a:tc>
                <a:tc>
                  <a:txBody>
                    <a:bodyPr wrap="square"/>
                    <a:lstStyle/>
                    <a:p>
                      <a:pPr algn="ctr"/>
                      <a:r>
                        <a:rPr sz="750">
                          <a:solidFill>
                            <a:srgbClr val="36393B"/>
                          </a:solidFill>
                          <a:latin typeface="+mj-lt"/>
                        </a:rPr>
                        <a:t>STO</a:t>
                      </a:r>
                    </a:p>
                  </a:txBody>
                  <a:tcPr marL="45720" marR="45720" marT="18288" marB="18288" anchor="ctr">
                    <a:solidFill>
                      <a:srgbClr val="2BB399"/>
                    </a:solidFill>
                  </a:tcPr>
                </a:tc>
                <a:tc>
                  <a:txBody>
                    <a:bodyPr wrap="square"/>
                    <a:lstStyle/>
                    <a:p>
                      <a:pPr algn="ctr"/>
                      <a:r>
                        <a:rPr sz="750">
                          <a:solidFill>
                            <a:srgbClr val="36393B"/>
                          </a:solidFill>
                          <a:latin typeface="+mj-lt"/>
                        </a:rPr>
                        <a:t>ADX</a:t>
                      </a:r>
                    </a:p>
                  </a:txBody>
                  <a:tcPr marL="45720" marR="45720" marT="18288" marB="18288" anchor="ctr">
                    <a:solidFill>
                      <a:srgbClr val="2BB399"/>
                    </a:solidFill>
                  </a:tcPr>
                </a:tc>
                <a:tc>
                  <a:txBody>
                    <a:bodyPr wrap="square"/>
                    <a:lstStyle/>
                    <a:p>
                      <a:pPr algn="ctr"/>
                      <a:r>
                        <a:rPr sz="750">
                          <a:solidFill>
                            <a:srgbClr val="36393B"/>
                          </a:solidFill>
                          <a:latin typeface="+mj-lt"/>
                        </a:rPr>
                        <a:t>OBV</a:t>
                      </a:r>
                    </a:p>
                  </a:txBody>
                  <a:tcPr marL="45720" marR="45720" marT="18288" marB="18288" anchor="ctr">
                    <a:solidFill>
                      <a:srgbClr val="2BB399"/>
                    </a:solidFill>
                  </a:tcPr>
                </a:tc>
                <a:tc>
                  <a:txBody>
                    <a:bodyPr wrap="square"/>
                    <a:lstStyle/>
                    <a:p>
                      <a:pPr algn="ctr"/>
                      <a:r>
                        <a:rPr sz="750">
                          <a:solidFill>
                            <a:srgbClr val="36393B"/>
                          </a:solidFill>
                          <a:latin typeface="+mj-lt"/>
                        </a:rPr>
                        <a:t>SUPT</a:t>
                      </a:r>
                    </a:p>
                  </a:txBody>
                  <a:tcPr marL="45720" marR="45720" marT="18288" marB="18288" anchor="ctr">
                    <a:solidFill>
                      <a:srgbClr val="2BB399"/>
                    </a:solidFill>
                  </a:tcPr>
                </a:tc>
                <a:tc>
                  <a:txBody>
                    <a:bodyPr wrap="square"/>
                    <a:lstStyle/>
                    <a:p>
                      <a:pPr algn="ctr"/>
                      <a:r>
                        <a:rPr sz="750">
                          <a:solidFill>
                            <a:srgbClr val="36393B"/>
                          </a:solidFill>
                          <a:latin typeface="+mj-lt"/>
                        </a:rPr>
                        <a:t>CCI</a:t>
                      </a:r>
                    </a:p>
                  </a:txBody>
                  <a:tcPr marL="45720" marR="45720" marT="18288" marB="18288" anchor="ctr">
                    <a:solidFill>
                      <a:srgbClr val="2BB399"/>
                    </a:solidFill>
                  </a:tcPr>
                </a:tc>
                <a:tc>
                  <a:txBody>
                    <a:bodyPr wrap="square"/>
                    <a:lstStyle/>
                    <a:p>
                      <a:pPr algn="ctr"/>
                      <a:r>
                        <a:rPr sz="750">
                          <a:solidFill>
                            <a:srgbClr val="36393B"/>
                          </a:solidFill>
                          <a:latin typeface="+mj-lt"/>
                        </a:rPr>
                        <a:t>MFI</a:t>
                      </a:r>
                    </a:p>
                  </a:txBody>
                  <a:tcPr marL="45720" marR="45720" marT="18288" marB="18288" anchor="ctr">
                    <a:solidFill>
                      <a:srgbClr val="2BB399"/>
                    </a:solidFill>
                  </a:tcPr>
                </a:tc>
                <a:tc>
                  <a:txBody>
                    <a:bodyPr wrap="square"/>
                    <a:lstStyle/>
                    <a:p>
                      <a:pPr algn="ctr"/>
                      <a:r>
                        <a:rPr sz="750">
                          <a:solidFill>
                            <a:srgbClr val="36393B"/>
                          </a:solidFill>
                          <a:latin typeface="+mj-lt"/>
                        </a:rPr>
                        <a:t>DON</a:t>
                      </a:r>
                    </a:p>
                  </a:txBody>
                  <a:tcPr marL="45720" marR="45720" marT="18288" marB="18288" anchor="ctr">
                    <a:solidFill>
                      <a:srgbClr val="2BB399"/>
                    </a:solidFill>
                  </a:tcPr>
                </a:tc>
                <a:tc>
                  <a:txBody>
                    <a:bodyPr wrap="square"/>
                    <a:lstStyle/>
                    <a:p>
                      <a:pPr algn="ctr"/>
                      <a:r>
                        <a:rPr sz="750">
                          <a:solidFill>
                            <a:srgbClr val="36393B"/>
                          </a:solidFill>
                          <a:latin typeface="+mj-lt"/>
                        </a:rPr>
                        <a:t>SCORE</a:t>
                      </a:r>
                    </a:p>
                  </a:txBody>
                  <a:tcPr marL="45720" marR="45720" marT="18288" marB="18288" anchor="ctr">
                    <a:solidFill>
                      <a:srgbClr val="2BB399"/>
                    </a:solidFill>
                  </a:tcPr>
                </a:tc>
              </a:tr>
              <a:tr h="384048">
                <a:tc>
                  <a:txBody>
                    <a:bodyPr wrap="square"/>
                    <a:lstStyle/>
                    <a:p>
                      <a:pPr algn="l"/>
                      <a:r>
                        <a:rPr sz="1200" b="1">
                          <a:solidFill>
                            <a:srgbClr val="36393B"/>
                          </a:solidFill>
                        </a:rPr>
                        <a:t>RELIANCE</a:t>
                      </a:r>
                    </a:p>
                  </a:txBody>
                  <a:tcPr marL="45720" marR="45720" marT="18288" marB="18288" anchor="ctr">
                    <a:solidFill>
                      <a:srgbClr val="FFFFFF"/>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36393B"/>
                          </a:solidFill>
                        </a:rPr>
                        <a:t>0/12</a:t>
                      </a:r>
                    </a:p>
                  </a:txBody>
                  <a:tcPr marL="45720" marR="45720" marT="18288" marB="18288" anchor="ctr">
                    <a:solidFill>
                      <a:srgbClr val="FFFFFF"/>
                    </a:solidFill>
                  </a:tcPr>
                </a:tc>
              </a:tr>
              <a:tr h="384048">
                <a:tc>
                  <a:txBody>
                    <a:bodyPr wrap="square"/>
                    <a:lstStyle/>
                    <a:p>
                      <a:pPr algn="l"/>
                      <a:r>
                        <a:rPr sz="1200" b="1">
                          <a:solidFill>
                            <a:srgbClr val="36393B"/>
                          </a:solidFill>
                        </a:rPr>
                        <a:t>HDFCBANK</a:t>
                      </a:r>
                    </a:p>
                  </a:txBody>
                  <a:tcPr marL="45720" marR="45720" marT="18288" marB="18288" anchor="ctr">
                    <a:solidFill>
                      <a:srgbClr val="F4FEFB"/>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36393B"/>
                          </a:solidFill>
                        </a:rPr>
                        <a:t>10/12</a:t>
                      </a:r>
                    </a:p>
                  </a:txBody>
                  <a:tcPr marL="45720" marR="45720" marT="18288" marB="18288" anchor="ctr">
                    <a:solidFill>
                      <a:srgbClr val="F4FEFB"/>
                    </a:solidFill>
                  </a:tcPr>
                </a:tc>
              </a:tr>
              <a:tr h="384048">
                <a:tc>
                  <a:txBody>
                    <a:bodyPr wrap="square"/>
                    <a:lstStyle/>
                    <a:p>
                      <a:pPr algn="l"/>
                      <a:r>
                        <a:rPr sz="1200" b="1">
                          <a:solidFill>
                            <a:srgbClr val="36393B"/>
                          </a:solidFill>
                        </a:rPr>
                        <a:t>INFY</a:t>
                      </a:r>
                    </a:p>
                  </a:txBody>
                  <a:tcPr marL="45720" marR="45720" marT="18288" marB="18288" anchor="ctr">
                    <a:solidFill>
                      <a:srgbClr val="FFFFFF"/>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36393B"/>
                          </a:solidFill>
                        </a:rPr>
                        <a:t>0/12</a:t>
                      </a:r>
                    </a:p>
                  </a:txBody>
                  <a:tcPr marL="45720" marR="45720" marT="18288" marB="18288" anchor="ctr">
                    <a:solidFill>
                      <a:srgbClr val="FFFFFF"/>
                    </a:solidFill>
                  </a:tcPr>
                </a:tc>
              </a:tr>
              <a:tr h="384048">
                <a:tc>
                  <a:txBody>
                    <a:bodyPr wrap="square"/>
                    <a:lstStyle/>
                    <a:p>
                      <a:pPr algn="l"/>
                      <a:r>
                        <a:rPr sz="1200" b="1">
                          <a:solidFill>
                            <a:srgbClr val="36393B"/>
                          </a:solidFill>
                        </a:rPr>
                        <a:t>ITC</a:t>
                      </a:r>
                    </a:p>
                  </a:txBody>
                  <a:tcPr marL="45720" marR="45720" marT="18288" marB="18288" anchor="ctr">
                    <a:solidFill>
                      <a:srgbClr val="F4FEFB"/>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36393B"/>
                          </a:solidFill>
                        </a:rPr>
                        <a:t>7/12</a:t>
                      </a:r>
                    </a:p>
                  </a:txBody>
                  <a:tcPr marL="45720" marR="45720" marT="18288" marB="18288" anchor="ctr">
                    <a:solidFill>
                      <a:srgbClr val="F4FEFB"/>
                    </a:solidFill>
                  </a:tcPr>
                </a:tc>
              </a:tr>
              <a:tr h="384048">
                <a:tc>
                  <a:txBody>
                    <a:bodyPr wrap="square"/>
                    <a:lstStyle/>
                    <a:p>
                      <a:pPr algn="l"/>
                      <a:r>
                        <a:rPr sz="1200" b="1">
                          <a:solidFill>
                            <a:srgbClr val="36393B"/>
                          </a:solidFill>
                        </a:rPr>
                        <a:t>MARUTI</a:t>
                      </a:r>
                    </a:p>
                  </a:txBody>
                  <a:tcPr marL="45720" marR="45720" marT="18288" marB="18288" anchor="ctr">
                    <a:solidFill>
                      <a:srgbClr val="FFFFFF"/>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36393B"/>
                          </a:solidFill>
                        </a:rPr>
                        <a:t>0/12</a:t>
                      </a:r>
                    </a:p>
                  </a:txBody>
                  <a:tcPr marL="45720" marR="45720" marT="18288" marB="18288" anchor="ctr">
                    <a:solidFill>
                      <a:srgbClr val="FFFFFF"/>
                    </a:solidFill>
                  </a:tcPr>
                </a:tc>
              </a:tr>
              <a:tr h="384048">
                <a:tc>
                  <a:txBody>
                    <a:bodyPr wrap="square"/>
                    <a:lstStyle/>
                    <a:p>
                      <a:pPr algn="l"/>
                      <a:r>
                        <a:rPr sz="1200" b="1">
                          <a:solidFill>
                            <a:srgbClr val="36393B"/>
                          </a:solidFill>
                        </a:rPr>
                        <a:t>SUNPHARMA</a:t>
                      </a:r>
                    </a:p>
                  </a:txBody>
                  <a:tcPr marL="45720" marR="45720" marT="18288" marB="18288" anchor="ctr">
                    <a:solidFill>
                      <a:srgbClr val="F4FEFB"/>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0E8C74"/>
                          </a:solidFill>
                        </a:rPr>
                        <a:t>▲</a:t>
                      </a:r>
                    </a:p>
                  </a:txBody>
                  <a:tcPr marL="45720" marR="45720" marT="18288" marB="18288" anchor="ctr">
                    <a:solidFill>
                      <a:srgbClr val="C9F5EA"/>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36393B"/>
                          </a:solidFill>
                        </a:rPr>
                        <a:t>1/12</a:t>
                      </a:r>
                    </a:p>
                  </a:txBody>
                  <a:tcPr marL="45720" marR="45720" marT="18288" marB="18288" anchor="ctr">
                    <a:solidFill>
                      <a:srgbClr val="F4FEFB"/>
                    </a:solidFill>
                  </a:tcPr>
                </a:tc>
              </a:tr>
              <a:tr h="384048">
                <a:tc>
                  <a:txBody>
                    <a:bodyPr wrap="square"/>
                    <a:lstStyle/>
                    <a:p>
                      <a:pPr algn="l"/>
                      <a:r>
                        <a:rPr sz="1200" b="1">
                          <a:solidFill>
                            <a:srgbClr val="36393B"/>
                          </a:solidFill>
                        </a:rPr>
                        <a:t>LT</a:t>
                      </a:r>
                    </a:p>
                  </a:txBody>
                  <a:tcPr marL="45720" marR="45720" marT="18288" marB="18288" anchor="ctr">
                    <a:solidFill>
                      <a:srgbClr val="FFFFFF"/>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FD4C00"/>
                          </a:solidFill>
                        </a:rPr>
                        <a:t>▼</a:t>
                      </a:r>
                    </a:p>
                  </a:txBody>
                  <a:tcPr marL="45720" marR="45720" marT="18288" marB="18288" anchor="ctr">
                    <a:solidFill>
                      <a:srgbClr val="FFE0D2"/>
                    </a:solidFill>
                  </a:tcPr>
                </a:tc>
                <a:tc>
                  <a:txBody>
                    <a:bodyPr wrap="square"/>
                    <a:lstStyle/>
                    <a:p>
                      <a:pPr algn="ctr"/>
                      <a:r>
                        <a:rPr sz="1200" b="0">
                          <a:solidFill>
                            <a:srgbClr val="36393B"/>
                          </a:solidFill>
                        </a:rPr>
                        <a:t>0/12</a:t>
                      </a:r>
                    </a:p>
                  </a:txBody>
                  <a:tcPr marL="45720" marR="45720" marT="18288" marB="18288" anchor="ctr">
                    <a:solidFill>
                      <a:srgbClr val="FFFFFF"/>
                    </a:solidFill>
                  </a:tcPr>
                </a:tc>
              </a:tr>
            </a:tbl>
          </a:graphicData>
        </a:graphic>
      </p:graphicFrame>
      <p:sp>
        <p:nvSpPr>
          <p:cNvPr id="51" name="TextBox 50"/>
          <p:cNvSpPr txBox="1"/>
          <p:nvPr/>
        </p:nvSpPr>
        <p:spPr>
          <a:xfrm>
            <a:off x="850392" y="5605272"/>
            <a:ext cx="6035040" cy="685800"/>
          </a:xfrm>
          <a:prstGeom prst="rect">
            <a:avLst/>
          </a:prstGeom>
          <a:noFill/>
        </p:spPr>
        <p:txBody>
          <a:bodyPr wrap="square" anchor="t" lIns="36576" rIns="36576" tIns="18288" bIns="18288">
            <a:spAutoFit/>
          </a:bodyPr>
          <a:lstStyle/>
          <a:p>
            <a:pPr algn="l">
              <a:spcAft>
                <a:spcPts val="300"/>
              </a:spcAft>
            </a:pPr>
            <a:r>
              <a:rPr sz="1200" b="1">
                <a:solidFill>
                  <a:srgbClr val="5F6266"/>
                </a:solidFill>
              </a:rPr>
              <a:t>Reading: </a:t>
            </a:r>
            <a:r>
              <a:rPr sz="1200" b="0">
                <a:solidFill>
                  <a:srgbClr val="5F6266"/>
                </a:solidFill>
              </a:rPr>
              <a:t>rows agree because 10 of 12 indicators read the same input, price.</a:t>
            </a:r>
          </a:p>
        </p:txBody>
      </p:sp>
      <p:sp>
        <p:nvSpPr>
          <p:cNvPr id="52" name="TextBox 51"/>
          <p:cNvSpPr txBox="1"/>
          <p:nvPr/>
        </p:nvSpPr>
        <p:spPr>
          <a:xfrm>
            <a:off x="7178040" y="2176272"/>
            <a:ext cx="4114800" cy="274320"/>
          </a:xfrm>
          <a:prstGeom prst="rect">
            <a:avLst/>
          </a:prstGeom>
          <a:noFill/>
        </p:spPr>
        <p:txBody>
          <a:bodyPr wrap="square" anchor="t" lIns="36576" rIns="36576" tIns="18288" bIns="18288">
            <a:spAutoFit/>
          </a:bodyPr>
          <a:lstStyle/>
          <a:p>
            <a:pPr algn="l">
              <a:spcAft>
                <a:spcPts val="300"/>
              </a:spcAft>
            </a:pPr>
            <a:r>
              <a:rPr sz="1100" b="0">
                <a:solidFill>
                  <a:srgbClr val="0E8C74"/>
                </a:solidFill>
                <a:latin typeface="+mj-lt"/>
              </a:rPr>
              <a:t>LIVE TRADINGVIEW VS PYTHON, NSE:RELIANCE</a:t>
            </a:r>
          </a:p>
        </p:txBody>
      </p:sp>
      <p:graphicFrame>
        <p:nvGraphicFramePr>
          <p:cNvPr id="53" name="Table 52"/>
          <p:cNvGraphicFramePr>
            <a:graphicFrameLocks noGrp="1"/>
          </p:cNvGraphicFramePr>
          <p:nvPr/>
        </p:nvGraphicFramePr>
        <p:xfrm>
          <a:off x="7178040" y="2468880"/>
          <a:ext cx="4114800" cy="1536192"/>
        </p:xfrm>
        <a:graphic>
          <a:graphicData uri="http://schemas.openxmlformats.org/drawingml/2006/table">
            <a:tbl>
              <a:tblPr firstRow="1" bandRow="0">
                <a:tableStyleId>{5C22544A-7EE6-4342-B048-85BDC9FD1C3A}</a:tableStyleId>
              </a:tblPr>
              <a:tblGrid>
                <a:gridCol w="1051560"/>
                <a:gridCol w="914400"/>
                <a:gridCol w="960120"/>
                <a:gridCol w="1188720"/>
              </a:tblGrid>
              <a:tr h="384048">
                <a:tc>
                  <a:txBody>
                    <a:bodyPr wrap="square"/>
                    <a:lstStyle/>
                    <a:p>
                      <a:pPr algn="l"/>
                      <a:r>
                        <a:rPr sz="900">
                          <a:solidFill>
                            <a:srgbClr val="36393B"/>
                          </a:solidFill>
                          <a:latin typeface="+mj-lt"/>
                        </a:rPr>
                        <a:t>STRATEGY</a:t>
                      </a:r>
                    </a:p>
                  </a:txBody>
                  <a:tcPr marL="45720" marR="45720" marT="18288" marB="18288" anchor="ctr">
                    <a:solidFill>
                      <a:srgbClr val="2BB399"/>
                    </a:solidFill>
                  </a:tcPr>
                </a:tc>
                <a:tc>
                  <a:txBody>
                    <a:bodyPr wrap="square"/>
                    <a:lstStyle/>
                    <a:p>
                      <a:pPr algn="ctr"/>
                      <a:r>
                        <a:rPr sz="900">
                          <a:solidFill>
                            <a:srgbClr val="36393B"/>
                          </a:solidFill>
                          <a:latin typeface="+mj-lt"/>
                        </a:rPr>
                        <a:t>TRADES</a:t>
                      </a:r>
                    </a:p>
                  </a:txBody>
                  <a:tcPr marL="45720" marR="45720" marT="18288" marB="18288" anchor="ctr">
                    <a:solidFill>
                      <a:srgbClr val="2BB399"/>
                    </a:solidFill>
                  </a:tcPr>
                </a:tc>
                <a:tc>
                  <a:txBody>
                    <a:bodyPr wrap="square"/>
                    <a:lstStyle/>
                    <a:p>
                      <a:pPr algn="ctr"/>
                      <a:r>
                        <a:rPr sz="900">
                          <a:solidFill>
                            <a:srgbClr val="36393B"/>
                          </a:solidFill>
                          <a:latin typeface="+mj-lt"/>
                        </a:rPr>
                        <a:t>WIN RATE</a:t>
                      </a:r>
                    </a:p>
                  </a:txBody>
                  <a:tcPr marL="45720" marR="45720" marT="18288" marB="18288" anchor="ctr">
                    <a:solidFill>
                      <a:srgbClr val="2BB399"/>
                    </a:solidFill>
                  </a:tcPr>
                </a:tc>
                <a:tc>
                  <a:txBody>
                    <a:bodyPr wrap="square"/>
                    <a:lstStyle/>
                    <a:p>
                      <a:pPr algn="ctr"/>
                      <a:r>
                        <a:rPr sz="900">
                          <a:solidFill>
                            <a:srgbClr val="36393B"/>
                          </a:solidFill>
                          <a:latin typeface="+mj-lt"/>
                        </a:rPr>
                        <a:t>NET P&amp;L</a:t>
                      </a:r>
                    </a:p>
                  </a:txBody>
                  <a:tcPr marL="45720" marR="45720" marT="18288" marB="18288" anchor="ctr">
                    <a:solidFill>
                      <a:srgbClr val="2BB399"/>
                    </a:solidFill>
                  </a:tcPr>
                </a:tc>
              </a:tr>
              <a:tr h="384048">
                <a:tc>
                  <a:txBody>
                    <a:bodyPr wrap="square"/>
                    <a:lstStyle/>
                    <a:p>
                      <a:pPr algn="l"/>
                      <a:r>
                        <a:rPr sz="1200" b="1">
                          <a:solidFill>
                            <a:srgbClr val="36393B"/>
                          </a:solidFill>
                        </a:rPr>
                        <a:t>A · 7-day</a:t>
                      </a:r>
                    </a:p>
                  </a:txBody>
                  <a:tcPr marL="45720" marR="45720" marT="18288" marB="18288" anchor="ctr">
                    <a:solidFill>
                      <a:srgbClr val="FFFFFF"/>
                    </a:solidFill>
                  </a:tcPr>
                </a:tc>
                <a:tc>
                  <a:txBody>
                    <a:bodyPr wrap="square"/>
                    <a:lstStyle/>
                    <a:p>
                      <a:pPr algn="ctr"/>
                      <a:r>
                        <a:rPr sz="1200" b="0">
                          <a:solidFill>
                            <a:srgbClr val="36393B"/>
                          </a:solidFill>
                        </a:rPr>
                        <a:t>41 / 40</a:t>
                      </a:r>
                    </a:p>
                  </a:txBody>
                  <a:tcPr marL="45720" marR="45720" marT="18288" marB="18288" anchor="ctr">
                    <a:solidFill>
                      <a:srgbClr val="FFFFFF"/>
                    </a:solidFill>
                  </a:tcPr>
                </a:tc>
                <a:tc>
                  <a:txBody>
                    <a:bodyPr wrap="square"/>
                    <a:lstStyle/>
                    <a:p>
                      <a:pPr algn="ctr"/>
                      <a:r>
                        <a:rPr sz="1200" b="0">
                          <a:solidFill>
                            <a:srgbClr val="36393B"/>
                          </a:solidFill>
                        </a:rPr>
                        <a:t>46 / 48%</a:t>
                      </a:r>
                    </a:p>
                  </a:txBody>
                  <a:tcPr marL="45720" marR="45720" marT="18288" marB="18288" anchor="ctr">
                    <a:solidFill>
                      <a:srgbClr val="FFFFFF"/>
                    </a:solidFill>
                  </a:tcPr>
                </a:tc>
                <a:tc>
                  <a:txBody>
                    <a:bodyPr wrap="square"/>
                    <a:lstStyle/>
                    <a:p>
                      <a:pPr algn="ctr"/>
                      <a:r>
                        <a:rPr sz="1200" b="0">
                          <a:solidFill>
                            <a:srgbClr val="36393B"/>
                          </a:solidFill>
                        </a:rPr>
                        <a:t>−11 / −11%</a:t>
                      </a:r>
                    </a:p>
                  </a:txBody>
                  <a:tcPr marL="45720" marR="45720" marT="18288" marB="18288" anchor="ctr">
                    <a:solidFill>
                      <a:srgbClr val="FFFFFF"/>
                    </a:solidFill>
                  </a:tcPr>
                </a:tc>
              </a:tr>
              <a:tr h="384048">
                <a:tc>
                  <a:txBody>
                    <a:bodyPr wrap="square"/>
                    <a:lstStyle/>
                    <a:p>
                      <a:pPr algn="l"/>
                      <a:r>
                        <a:rPr sz="1200" b="1">
                          <a:solidFill>
                            <a:srgbClr val="36393B"/>
                          </a:solidFill>
                        </a:rPr>
                        <a:t>B · 15-day</a:t>
                      </a:r>
                    </a:p>
                  </a:txBody>
                  <a:tcPr marL="45720" marR="45720" marT="18288" marB="18288" anchor="ctr">
                    <a:solidFill>
                      <a:srgbClr val="F4FEFB"/>
                    </a:solidFill>
                  </a:tcPr>
                </a:tc>
                <a:tc>
                  <a:txBody>
                    <a:bodyPr wrap="square"/>
                    <a:lstStyle/>
                    <a:p>
                      <a:pPr algn="ctr"/>
                      <a:r>
                        <a:rPr sz="1200" b="0">
                          <a:solidFill>
                            <a:srgbClr val="36393B"/>
                          </a:solidFill>
                        </a:rPr>
                        <a:t>37 / 37</a:t>
                      </a:r>
                    </a:p>
                  </a:txBody>
                  <a:tcPr marL="45720" marR="45720" marT="18288" marB="18288" anchor="ctr">
                    <a:solidFill>
                      <a:srgbClr val="F4FEFB"/>
                    </a:solidFill>
                  </a:tcPr>
                </a:tc>
                <a:tc>
                  <a:txBody>
                    <a:bodyPr wrap="square"/>
                    <a:lstStyle/>
                    <a:p>
                      <a:pPr algn="ctr"/>
                      <a:r>
                        <a:rPr sz="1200" b="0">
                          <a:solidFill>
                            <a:srgbClr val="36393B"/>
                          </a:solidFill>
                        </a:rPr>
                        <a:t>51 / 51%</a:t>
                      </a:r>
                    </a:p>
                  </a:txBody>
                  <a:tcPr marL="45720" marR="45720" marT="18288" marB="18288" anchor="ctr">
                    <a:solidFill>
                      <a:srgbClr val="F4FEFB"/>
                    </a:solidFill>
                  </a:tcPr>
                </a:tc>
                <a:tc>
                  <a:txBody>
                    <a:bodyPr wrap="square"/>
                    <a:lstStyle/>
                    <a:p>
                      <a:pPr algn="ctr"/>
                      <a:r>
                        <a:rPr sz="1200" b="0">
                          <a:solidFill>
                            <a:srgbClr val="36393B"/>
                          </a:solidFill>
                        </a:rPr>
                        <a:t>+36 / +42%</a:t>
                      </a:r>
                    </a:p>
                  </a:txBody>
                  <a:tcPr marL="45720" marR="45720" marT="18288" marB="18288" anchor="ctr">
                    <a:solidFill>
                      <a:srgbClr val="F4FEFB"/>
                    </a:solidFill>
                  </a:tcPr>
                </a:tc>
              </a:tr>
              <a:tr h="384048">
                <a:tc>
                  <a:txBody>
                    <a:bodyPr wrap="square"/>
                    <a:lstStyle/>
                    <a:p>
                      <a:pPr algn="l"/>
                      <a:r>
                        <a:rPr sz="1200" b="1">
                          <a:solidFill>
                            <a:srgbClr val="36393B"/>
                          </a:solidFill>
                        </a:rPr>
                        <a:t>C · 60-day</a:t>
                      </a:r>
                    </a:p>
                  </a:txBody>
                  <a:tcPr marL="45720" marR="45720" marT="18288" marB="18288" anchor="ctr">
                    <a:solidFill>
                      <a:srgbClr val="FFFFFF"/>
                    </a:solidFill>
                  </a:tcPr>
                </a:tc>
                <a:tc>
                  <a:txBody>
                    <a:bodyPr wrap="square"/>
                    <a:lstStyle/>
                    <a:p>
                      <a:pPr algn="ctr"/>
                      <a:r>
                        <a:rPr sz="1200" b="0">
                          <a:solidFill>
                            <a:srgbClr val="36393B"/>
                          </a:solidFill>
                        </a:rPr>
                        <a:t>18 / 19</a:t>
                      </a:r>
                    </a:p>
                  </a:txBody>
                  <a:tcPr marL="45720" marR="45720" marT="18288" marB="18288" anchor="ctr">
                    <a:solidFill>
                      <a:srgbClr val="FFFFFF"/>
                    </a:solidFill>
                  </a:tcPr>
                </a:tc>
                <a:tc>
                  <a:txBody>
                    <a:bodyPr wrap="square"/>
                    <a:lstStyle/>
                    <a:p>
                      <a:pPr algn="ctr"/>
                      <a:r>
                        <a:rPr sz="1200" b="0">
                          <a:solidFill>
                            <a:srgbClr val="36393B"/>
                          </a:solidFill>
                        </a:rPr>
                        <a:t>67 / 63%</a:t>
                      </a:r>
                    </a:p>
                  </a:txBody>
                  <a:tcPr marL="45720" marR="45720" marT="18288" marB="18288" anchor="ctr">
                    <a:solidFill>
                      <a:srgbClr val="FFFFFF"/>
                    </a:solidFill>
                  </a:tcPr>
                </a:tc>
                <a:tc>
                  <a:txBody>
                    <a:bodyPr wrap="square"/>
                    <a:lstStyle/>
                    <a:p>
                      <a:pPr algn="ctr"/>
                      <a:r>
                        <a:rPr sz="1200" b="0">
                          <a:solidFill>
                            <a:srgbClr val="36393B"/>
                          </a:solidFill>
                        </a:rPr>
                        <a:t>+184 / +158%</a:t>
                      </a:r>
                    </a:p>
                  </a:txBody>
                  <a:tcPr marL="45720" marR="45720" marT="18288" marB="18288" anchor="ctr">
                    <a:solidFill>
                      <a:srgbClr val="FFFFFF"/>
                    </a:solidFill>
                  </a:tcPr>
                </a:tc>
              </a:tr>
            </a:tbl>
          </a:graphicData>
        </a:graphic>
      </p:graphicFrame>
      <p:sp>
        <p:nvSpPr>
          <p:cNvPr id="54" name="Rectangle 53"/>
          <p:cNvSpPr/>
          <p:nvPr/>
        </p:nvSpPr>
        <p:spPr>
          <a:xfrm>
            <a:off x="7178040" y="4160520"/>
            <a:ext cx="4114800" cy="210312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96912" y="4251960"/>
            <a:ext cx="3886200" cy="1965960"/>
          </a:xfrm>
          <a:prstGeom prst="rect">
            <a:avLst/>
          </a:prstGeom>
          <a:noFill/>
        </p:spPr>
        <p:txBody>
          <a:bodyPr wrap="square" anchor="t" lIns="36576" rIns="36576" tIns="18288" bIns="18288">
            <a:spAutoFit/>
          </a:bodyPr>
          <a:lstStyle/>
          <a:p>
            <a:pPr algn="l" marL="171450" indent="-171450">
              <a:spcAft>
                <a:spcPts val="400"/>
              </a:spcAft>
              <a:buFont typeface="Arial"/>
              <a:buChar char="•"/>
            </a:pPr>
            <a:r>
              <a:rPr sz="1200" b="0">
                <a:solidFill>
                  <a:srgbClr val="36393B"/>
                </a:solidFill>
              </a:rPr>
              <a:t>C's gap is one borderline Jan 2021 trade; without it, +183.8% vs +184.2%</a:t>
            </a:r>
          </a:p>
          <a:p>
            <a:pPr algn="l" marL="171450" indent="-171450">
              <a:spcAft>
                <a:spcPts val="400"/>
              </a:spcAft>
              <a:buFont typeface="Arial"/>
              <a:buChar char="•"/>
            </a:pPr>
            <a:r>
              <a:rPr sz="1200" b="0">
                <a:solidFill>
                  <a:srgbClr val="36393B"/>
                </a:solidFill>
              </a:rPr>
              <a:t>Live runs exposed a Pine margin bug (fixed: margin_long = 0) and 3 missing corporate actions</a:t>
            </a:r>
          </a:p>
          <a:p>
            <a:pPr algn="l" marL="171450" indent="-171450">
              <a:spcAft>
                <a:spcPts val="400"/>
              </a:spcAft>
              <a:buFont typeface="Arial"/>
              <a:buChar char="•"/>
            </a:pPr>
            <a:r>
              <a:rPr sz="1200" b="0">
                <a:solidFill>
                  <a:srgbClr val="36393B"/>
                </a:solidFill>
              </a:rPr>
              <a:t>Run at 0.05% and no interest: TradingView credits none. Validates logic, not costs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Only the 60-day rule beats T-bills, with a third of the drawdown</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Adwaaiit</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Equal-weighted 7 stocks, Jan 2015 – Sep 2026; net of 0.15% per side; idle cash at 6%; Sharpe on returns above 6%, ± one standard error (Lo, 2002)</a:t>
            </a:r>
          </a:p>
        </p:txBody>
      </p:sp>
      <p:sp>
        <p:nvSpPr>
          <p:cNvPr id="39" name="TextBox 38"/>
          <p:cNvSpPr txBox="1"/>
          <p:nvPr/>
        </p:nvSpPr>
        <p:spPr>
          <a:xfrm>
            <a:off x="850392" y="1371600"/>
            <a:ext cx="5852160" cy="320040"/>
          </a:xfrm>
          <a:prstGeom prst="rect">
            <a:avLst/>
          </a:prstGeom>
          <a:noFill/>
        </p:spPr>
        <p:txBody>
          <a:bodyPr wrap="square" anchor="t" lIns="36576" rIns="36576" tIns="18288" bIns="18288">
            <a:spAutoFit/>
          </a:bodyPr>
          <a:lstStyle/>
          <a:p>
            <a:pPr algn="ctr">
              <a:spcAft>
                <a:spcPts val="300"/>
              </a:spcAft>
            </a:pPr>
            <a:r>
              <a:rPr sz="1200" b="1">
                <a:solidFill>
                  <a:srgbClr val="36393B"/>
                </a:solidFill>
              </a:rPr>
              <a:t>Return vs worst loss, equal-weighted 7 stocks, 2015–26</a:t>
            </a:r>
          </a:p>
        </p:txBody>
      </p:sp>
      <p:cxnSp>
        <p:nvCxnSpPr>
          <p:cNvPr id="40" name="Connector 39"/>
          <p:cNvCxnSpPr/>
          <p:nvPr/>
        </p:nvCxnSpPr>
        <p:spPr>
          <a:xfrm>
            <a:off x="1600200" y="5623560"/>
            <a:ext cx="4937760" cy="0"/>
          </a:xfrm>
          <a:prstGeom prst="line">
            <a:avLst/>
          </a:prstGeom>
          <a:ln w="6350">
            <a:solidFill>
              <a:srgbClr val="E3E5E7"/>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033271" y="5504688"/>
            <a:ext cx="502920" cy="237744"/>
          </a:xfrm>
          <a:prstGeom prst="rect">
            <a:avLst/>
          </a:prstGeom>
          <a:noFill/>
        </p:spPr>
        <p:txBody>
          <a:bodyPr wrap="square" anchor="t" lIns="36576" rIns="36576" tIns="18288" bIns="18288">
            <a:spAutoFit/>
          </a:bodyPr>
          <a:lstStyle/>
          <a:p>
            <a:pPr algn="r">
              <a:spcAft>
                <a:spcPts val="300"/>
              </a:spcAft>
            </a:pPr>
            <a:r>
              <a:rPr sz="1000" b="0">
                <a:solidFill>
                  <a:srgbClr val="5F6266"/>
                </a:solidFill>
              </a:rPr>
              <a:t>0%</a:t>
            </a:r>
          </a:p>
        </p:txBody>
      </p:sp>
      <p:cxnSp>
        <p:nvCxnSpPr>
          <p:cNvPr id="42" name="Connector 41"/>
          <p:cNvCxnSpPr/>
          <p:nvPr/>
        </p:nvCxnSpPr>
        <p:spPr>
          <a:xfrm>
            <a:off x="1600200" y="4983480"/>
            <a:ext cx="4937760" cy="0"/>
          </a:xfrm>
          <a:prstGeom prst="line">
            <a:avLst/>
          </a:prstGeom>
          <a:ln w="6350">
            <a:solidFill>
              <a:srgbClr val="E3E5E7"/>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33271" y="4864608"/>
            <a:ext cx="502920" cy="237744"/>
          </a:xfrm>
          <a:prstGeom prst="rect">
            <a:avLst/>
          </a:prstGeom>
          <a:noFill/>
        </p:spPr>
        <p:txBody>
          <a:bodyPr wrap="square" anchor="t" lIns="36576" rIns="36576" tIns="18288" bIns="18288">
            <a:spAutoFit/>
          </a:bodyPr>
          <a:lstStyle/>
          <a:p>
            <a:pPr algn="r">
              <a:spcAft>
                <a:spcPts val="300"/>
              </a:spcAft>
            </a:pPr>
            <a:r>
              <a:rPr sz="1000" b="0">
                <a:solidFill>
                  <a:srgbClr val="5F6266"/>
                </a:solidFill>
              </a:rPr>
              <a:t>2%</a:t>
            </a:r>
          </a:p>
        </p:txBody>
      </p:sp>
      <p:cxnSp>
        <p:nvCxnSpPr>
          <p:cNvPr id="44" name="Connector 43"/>
          <p:cNvCxnSpPr/>
          <p:nvPr/>
        </p:nvCxnSpPr>
        <p:spPr>
          <a:xfrm>
            <a:off x="1600200" y="4343400"/>
            <a:ext cx="4937760" cy="0"/>
          </a:xfrm>
          <a:prstGeom prst="line">
            <a:avLst/>
          </a:prstGeom>
          <a:ln w="6350">
            <a:solidFill>
              <a:srgbClr val="E3E5E7"/>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033271" y="4224528"/>
            <a:ext cx="502920" cy="237744"/>
          </a:xfrm>
          <a:prstGeom prst="rect">
            <a:avLst/>
          </a:prstGeom>
          <a:noFill/>
        </p:spPr>
        <p:txBody>
          <a:bodyPr wrap="square" anchor="t" lIns="36576" rIns="36576" tIns="18288" bIns="18288">
            <a:spAutoFit/>
          </a:bodyPr>
          <a:lstStyle/>
          <a:p>
            <a:pPr algn="r">
              <a:spcAft>
                <a:spcPts val="300"/>
              </a:spcAft>
            </a:pPr>
            <a:r>
              <a:rPr sz="1000" b="0">
                <a:solidFill>
                  <a:srgbClr val="5F6266"/>
                </a:solidFill>
              </a:rPr>
              <a:t>4%</a:t>
            </a:r>
          </a:p>
        </p:txBody>
      </p:sp>
      <p:cxnSp>
        <p:nvCxnSpPr>
          <p:cNvPr id="46" name="Connector 45"/>
          <p:cNvCxnSpPr/>
          <p:nvPr/>
        </p:nvCxnSpPr>
        <p:spPr>
          <a:xfrm>
            <a:off x="1600200" y="3703320"/>
            <a:ext cx="4937760" cy="0"/>
          </a:xfrm>
          <a:prstGeom prst="line">
            <a:avLst/>
          </a:prstGeom>
          <a:ln w="6350">
            <a:solidFill>
              <a:srgbClr val="E3E5E7"/>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33271" y="3584448"/>
            <a:ext cx="502920" cy="237744"/>
          </a:xfrm>
          <a:prstGeom prst="rect">
            <a:avLst/>
          </a:prstGeom>
          <a:noFill/>
        </p:spPr>
        <p:txBody>
          <a:bodyPr wrap="square" anchor="t" lIns="36576" rIns="36576" tIns="18288" bIns="18288">
            <a:spAutoFit/>
          </a:bodyPr>
          <a:lstStyle/>
          <a:p>
            <a:pPr algn="r">
              <a:spcAft>
                <a:spcPts val="300"/>
              </a:spcAft>
            </a:pPr>
            <a:r>
              <a:rPr sz="1000" b="0">
                <a:solidFill>
                  <a:srgbClr val="5F6266"/>
                </a:solidFill>
              </a:rPr>
              <a:t>6%</a:t>
            </a:r>
          </a:p>
        </p:txBody>
      </p:sp>
      <p:cxnSp>
        <p:nvCxnSpPr>
          <p:cNvPr id="48" name="Connector 47"/>
          <p:cNvCxnSpPr/>
          <p:nvPr/>
        </p:nvCxnSpPr>
        <p:spPr>
          <a:xfrm>
            <a:off x="1600200" y="3063240"/>
            <a:ext cx="4937760" cy="0"/>
          </a:xfrm>
          <a:prstGeom prst="line">
            <a:avLst/>
          </a:prstGeom>
          <a:ln w="6350">
            <a:solidFill>
              <a:srgbClr val="E3E5E7"/>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033271" y="2944368"/>
            <a:ext cx="502920" cy="237744"/>
          </a:xfrm>
          <a:prstGeom prst="rect">
            <a:avLst/>
          </a:prstGeom>
          <a:noFill/>
        </p:spPr>
        <p:txBody>
          <a:bodyPr wrap="square" anchor="t" lIns="36576" rIns="36576" tIns="18288" bIns="18288">
            <a:spAutoFit/>
          </a:bodyPr>
          <a:lstStyle/>
          <a:p>
            <a:pPr algn="r">
              <a:spcAft>
                <a:spcPts val="300"/>
              </a:spcAft>
            </a:pPr>
            <a:r>
              <a:rPr sz="1000" b="0">
                <a:solidFill>
                  <a:srgbClr val="5F6266"/>
                </a:solidFill>
              </a:rPr>
              <a:t>8%</a:t>
            </a:r>
          </a:p>
        </p:txBody>
      </p:sp>
      <p:cxnSp>
        <p:nvCxnSpPr>
          <p:cNvPr id="50" name="Connector 49"/>
          <p:cNvCxnSpPr/>
          <p:nvPr/>
        </p:nvCxnSpPr>
        <p:spPr>
          <a:xfrm>
            <a:off x="1600200" y="2423160"/>
            <a:ext cx="4937760" cy="0"/>
          </a:xfrm>
          <a:prstGeom prst="line">
            <a:avLst/>
          </a:prstGeom>
          <a:ln w="6350">
            <a:solidFill>
              <a:srgbClr val="E3E5E7"/>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33271" y="2304288"/>
            <a:ext cx="502920" cy="237744"/>
          </a:xfrm>
          <a:prstGeom prst="rect">
            <a:avLst/>
          </a:prstGeom>
          <a:noFill/>
        </p:spPr>
        <p:txBody>
          <a:bodyPr wrap="square" anchor="t" lIns="36576" rIns="36576" tIns="18288" bIns="18288">
            <a:spAutoFit/>
          </a:bodyPr>
          <a:lstStyle/>
          <a:p>
            <a:pPr algn="r">
              <a:spcAft>
                <a:spcPts val="300"/>
              </a:spcAft>
            </a:pPr>
            <a:r>
              <a:rPr sz="1000" b="0">
                <a:solidFill>
                  <a:srgbClr val="5F6266"/>
                </a:solidFill>
              </a:rPr>
              <a:t>10%</a:t>
            </a:r>
          </a:p>
        </p:txBody>
      </p:sp>
      <p:cxnSp>
        <p:nvCxnSpPr>
          <p:cNvPr id="52" name="Connector 51"/>
          <p:cNvCxnSpPr/>
          <p:nvPr/>
        </p:nvCxnSpPr>
        <p:spPr>
          <a:xfrm>
            <a:off x="1600200" y="1783080"/>
            <a:ext cx="4937760" cy="0"/>
          </a:xfrm>
          <a:prstGeom prst="line">
            <a:avLst/>
          </a:prstGeom>
          <a:ln w="6350">
            <a:solidFill>
              <a:srgbClr val="E3E5E7"/>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3271" y="1664208"/>
            <a:ext cx="502920" cy="237744"/>
          </a:xfrm>
          <a:prstGeom prst="rect">
            <a:avLst/>
          </a:prstGeom>
          <a:noFill/>
        </p:spPr>
        <p:txBody>
          <a:bodyPr wrap="square" anchor="t" lIns="36576" rIns="36576" tIns="18288" bIns="18288">
            <a:spAutoFit/>
          </a:bodyPr>
          <a:lstStyle/>
          <a:p>
            <a:pPr algn="r">
              <a:spcAft>
                <a:spcPts val="300"/>
              </a:spcAft>
            </a:pPr>
            <a:r>
              <a:rPr sz="1000" b="0">
                <a:solidFill>
                  <a:srgbClr val="5F6266"/>
                </a:solidFill>
              </a:rPr>
              <a:t>12%</a:t>
            </a:r>
          </a:p>
        </p:txBody>
      </p:sp>
      <p:sp>
        <p:nvSpPr>
          <p:cNvPr id="54" name="TextBox 53"/>
          <p:cNvSpPr txBox="1"/>
          <p:nvPr/>
        </p:nvSpPr>
        <p:spPr>
          <a:xfrm>
            <a:off x="1325880" y="5669280"/>
            <a:ext cx="548640" cy="237744"/>
          </a:xfrm>
          <a:prstGeom prst="rect">
            <a:avLst/>
          </a:prstGeom>
          <a:noFill/>
        </p:spPr>
        <p:txBody>
          <a:bodyPr wrap="square" anchor="t" lIns="36576" rIns="36576" tIns="18288" bIns="18288">
            <a:spAutoFit/>
          </a:bodyPr>
          <a:lstStyle/>
          <a:p>
            <a:pPr algn="ctr">
              <a:spcAft>
                <a:spcPts val="300"/>
              </a:spcAft>
            </a:pPr>
            <a:r>
              <a:rPr sz="1000" b="0">
                <a:solidFill>
                  <a:srgbClr val="5F6266"/>
                </a:solidFill>
              </a:rPr>
              <a:t>0%</a:t>
            </a:r>
          </a:p>
        </p:txBody>
      </p:sp>
      <p:sp>
        <p:nvSpPr>
          <p:cNvPr id="55" name="TextBox 54"/>
          <p:cNvSpPr txBox="1"/>
          <p:nvPr/>
        </p:nvSpPr>
        <p:spPr>
          <a:xfrm>
            <a:off x="1874520" y="5669280"/>
            <a:ext cx="548640" cy="237744"/>
          </a:xfrm>
          <a:prstGeom prst="rect">
            <a:avLst/>
          </a:prstGeom>
          <a:noFill/>
        </p:spPr>
        <p:txBody>
          <a:bodyPr wrap="square" anchor="t" lIns="36576" rIns="36576" tIns="18288" bIns="18288">
            <a:spAutoFit/>
          </a:bodyPr>
          <a:lstStyle/>
          <a:p>
            <a:pPr algn="ctr">
              <a:spcAft>
                <a:spcPts val="300"/>
              </a:spcAft>
            </a:pPr>
            <a:r>
              <a:rPr sz="1000" b="0">
                <a:solidFill>
                  <a:srgbClr val="5F6266"/>
                </a:solidFill>
              </a:rPr>
              <a:t>5%</a:t>
            </a:r>
          </a:p>
        </p:txBody>
      </p:sp>
      <p:sp>
        <p:nvSpPr>
          <p:cNvPr id="56" name="TextBox 55"/>
          <p:cNvSpPr txBox="1"/>
          <p:nvPr/>
        </p:nvSpPr>
        <p:spPr>
          <a:xfrm>
            <a:off x="2423160" y="5669280"/>
            <a:ext cx="548640" cy="237744"/>
          </a:xfrm>
          <a:prstGeom prst="rect">
            <a:avLst/>
          </a:prstGeom>
          <a:noFill/>
        </p:spPr>
        <p:txBody>
          <a:bodyPr wrap="square" anchor="t" lIns="36576" rIns="36576" tIns="18288" bIns="18288">
            <a:spAutoFit/>
          </a:bodyPr>
          <a:lstStyle/>
          <a:p>
            <a:pPr algn="ctr">
              <a:spcAft>
                <a:spcPts val="300"/>
              </a:spcAft>
            </a:pPr>
            <a:r>
              <a:rPr sz="1000" b="0">
                <a:solidFill>
                  <a:srgbClr val="5F6266"/>
                </a:solidFill>
              </a:rPr>
              <a:t>10%</a:t>
            </a:r>
          </a:p>
        </p:txBody>
      </p:sp>
      <p:sp>
        <p:nvSpPr>
          <p:cNvPr id="57" name="TextBox 56"/>
          <p:cNvSpPr txBox="1"/>
          <p:nvPr/>
        </p:nvSpPr>
        <p:spPr>
          <a:xfrm>
            <a:off x="2971800" y="5669280"/>
            <a:ext cx="548640" cy="237744"/>
          </a:xfrm>
          <a:prstGeom prst="rect">
            <a:avLst/>
          </a:prstGeom>
          <a:noFill/>
        </p:spPr>
        <p:txBody>
          <a:bodyPr wrap="square" anchor="t" lIns="36576" rIns="36576" tIns="18288" bIns="18288">
            <a:spAutoFit/>
          </a:bodyPr>
          <a:lstStyle/>
          <a:p>
            <a:pPr algn="ctr">
              <a:spcAft>
                <a:spcPts val="300"/>
              </a:spcAft>
            </a:pPr>
            <a:r>
              <a:rPr sz="1000" b="0">
                <a:solidFill>
                  <a:srgbClr val="5F6266"/>
                </a:solidFill>
              </a:rPr>
              <a:t>15%</a:t>
            </a:r>
          </a:p>
        </p:txBody>
      </p:sp>
      <p:sp>
        <p:nvSpPr>
          <p:cNvPr id="58" name="TextBox 57"/>
          <p:cNvSpPr txBox="1"/>
          <p:nvPr/>
        </p:nvSpPr>
        <p:spPr>
          <a:xfrm>
            <a:off x="3520440" y="5669280"/>
            <a:ext cx="548640" cy="237744"/>
          </a:xfrm>
          <a:prstGeom prst="rect">
            <a:avLst/>
          </a:prstGeom>
          <a:noFill/>
        </p:spPr>
        <p:txBody>
          <a:bodyPr wrap="square" anchor="t" lIns="36576" rIns="36576" tIns="18288" bIns="18288">
            <a:spAutoFit/>
          </a:bodyPr>
          <a:lstStyle/>
          <a:p>
            <a:pPr algn="ctr">
              <a:spcAft>
                <a:spcPts val="300"/>
              </a:spcAft>
            </a:pPr>
            <a:r>
              <a:rPr sz="1000" b="0">
                <a:solidFill>
                  <a:srgbClr val="5F6266"/>
                </a:solidFill>
              </a:rPr>
              <a:t>20%</a:t>
            </a:r>
          </a:p>
        </p:txBody>
      </p:sp>
      <p:sp>
        <p:nvSpPr>
          <p:cNvPr id="59" name="TextBox 58"/>
          <p:cNvSpPr txBox="1"/>
          <p:nvPr/>
        </p:nvSpPr>
        <p:spPr>
          <a:xfrm>
            <a:off x="4069080" y="5669280"/>
            <a:ext cx="548640" cy="237744"/>
          </a:xfrm>
          <a:prstGeom prst="rect">
            <a:avLst/>
          </a:prstGeom>
          <a:noFill/>
        </p:spPr>
        <p:txBody>
          <a:bodyPr wrap="square" anchor="t" lIns="36576" rIns="36576" tIns="18288" bIns="18288">
            <a:spAutoFit/>
          </a:bodyPr>
          <a:lstStyle/>
          <a:p>
            <a:pPr algn="ctr">
              <a:spcAft>
                <a:spcPts val="300"/>
              </a:spcAft>
            </a:pPr>
            <a:r>
              <a:rPr sz="1000" b="0">
                <a:solidFill>
                  <a:srgbClr val="5F6266"/>
                </a:solidFill>
              </a:rPr>
              <a:t>25%</a:t>
            </a:r>
          </a:p>
        </p:txBody>
      </p:sp>
      <p:sp>
        <p:nvSpPr>
          <p:cNvPr id="60" name="TextBox 59"/>
          <p:cNvSpPr txBox="1"/>
          <p:nvPr/>
        </p:nvSpPr>
        <p:spPr>
          <a:xfrm>
            <a:off x="4617720" y="5669280"/>
            <a:ext cx="548640" cy="237744"/>
          </a:xfrm>
          <a:prstGeom prst="rect">
            <a:avLst/>
          </a:prstGeom>
          <a:noFill/>
        </p:spPr>
        <p:txBody>
          <a:bodyPr wrap="square" anchor="t" lIns="36576" rIns="36576" tIns="18288" bIns="18288">
            <a:spAutoFit/>
          </a:bodyPr>
          <a:lstStyle/>
          <a:p>
            <a:pPr algn="ctr">
              <a:spcAft>
                <a:spcPts val="300"/>
              </a:spcAft>
            </a:pPr>
            <a:r>
              <a:rPr sz="1000" b="0">
                <a:solidFill>
                  <a:srgbClr val="5F6266"/>
                </a:solidFill>
              </a:rPr>
              <a:t>30%</a:t>
            </a:r>
          </a:p>
        </p:txBody>
      </p:sp>
      <p:sp>
        <p:nvSpPr>
          <p:cNvPr id="61" name="TextBox 60"/>
          <p:cNvSpPr txBox="1"/>
          <p:nvPr/>
        </p:nvSpPr>
        <p:spPr>
          <a:xfrm>
            <a:off x="5166360" y="5669280"/>
            <a:ext cx="548640" cy="237744"/>
          </a:xfrm>
          <a:prstGeom prst="rect">
            <a:avLst/>
          </a:prstGeom>
          <a:noFill/>
        </p:spPr>
        <p:txBody>
          <a:bodyPr wrap="square" anchor="t" lIns="36576" rIns="36576" tIns="18288" bIns="18288">
            <a:spAutoFit/>
          </a:bodyPr>
          <a:lstStyle/>
          <a:p>
            <a:pPr algn="ctr">
              <a:spcAft>
                <a:spcPts val="300"/>
              </a:spcAft>
            </a:pPr>
            <a:r>
              <a:rPr sz="1000" b="0">
                <a:solidFill>
                  <a:srgbClr val="5F6266"/>
                </a:solidFill>
              </a:rPr>
              <a:t>35%</a:t>
            </a:r>
          </a:p>
        </p:txBody>
      </p:sp>
      <p:sp>
        <p:nvSpPr>
          <p:cNvPr id="62" name="TextBox 61"/>
          <p:cNvSpPr txBox="1"/>
          <p:nvPr/>
        </p:nvSpPr>
        <p:spPr>
          <a:xfrm>
            <a:off x="5715000" y="5669280"/>
            <a:ext cx="548640" cy="237744"/>
          </a:xfrm>
          <a:prstGeom prst="rect">
            <a:avLst/>
          </a:prstGeom>
          <a:noFill/>
        </p:spPr>
        <p:txBody>
          <a:bodyPr wrap="square" anchor="t" lIns="36576" rIns="36576" tIns="18288" bIns="18288">
            <a:spAutoFit/>
          </a:bodyPr>
          <a:lstStyle/>
          <a:p>
            <a:pPr algn="ctr">
              <a:spcAft>
                <a:spcPts val="300"/>
              </a:spcAft>
            </a:pPr>
            <a:r>
              <a:rPr sz="1000" b="0">
                <a:solidFill>
                  <a:srgbClr val="5F6266"/>
                </a:solidFill>
              </a:rPr>
              <a:t>40%</a:t>
            </a:r>
          </a:p>
        </p:txBody>
      </p:sp>
      <p:sp>
        <p:nvSpPr>
          <p:cNvPr id="63" name="TextBox 62"/>
          <p:cNvSpPr txBox="1"/>
          <p:nvPr/>
        </p:nvSpPr>
        <p:spPr>
          <a:xfrm>
            <a:off x="6263640" y="5669280"/>
            <a:ext cx="548640" cy="237744"/>
          </a:xfrm>
          <a:prstGeom prst="rect">
            <a:avLst/>
          </a:prstGeom>
          <a:noFill/>
        </p:spPr>
        <p:txBody>
          <a:bodyPr wrap="square" anchor="t" lIns="36576" rIns="36576" tIns="18288" bIns="18288">
            <a:spAutoFit/>
          </a:bodyPr>
          <a:lstStyle/>
          <a:p>
            <a:pPr algn="ctr">
              <a:spcAft>
                <a:spcPts val="300"/>
              </a:spcAft>
            </a:pPr>
            <a:r>
              <a:rPr sz="1000" b="0">
                <a:solidFill>
                  <a:srgbClr val="5F6266"/>
                </a:solidFill>
              </a:rPr>
              <a:t>45%</a:t>
            </a:r>
          </a:p>
        </p:txBody>
      </p:sp>
      <p:cxnSp>
        <p:nvCxnSpPr>
          <p:cNvPr id="64" name="Connector 63"/>
          <p:cNvCxnSpPr/>
          <p:nvPr/>
        </p:nvCxnSpPr>
        <p:spPr>
          <a:xfrm>
            <a:off x="1600200" y="5623560"/>
            <a:ext cx="4937760" cy="0"/>
          </a:xfrm>
          <a:prstGeom prst="line">
            <a:avLst/>
          </a:prstGeom>
          <a:ln w="12700">
            <a:solidFill>
              <a:srgbClr val="B9BCC0"/>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1600200" y="5925312"/>
            <a:ext cx="4937760" cy="274320"/>
          </a:xfrm>
          <a:prstGeom prst="rect">
            <a:avLst/>
          </a:prstGeom>
          <a:noFill/>
        </p:spPr>
        <p:txBody>
          <a:bodyPr wrap="square" anchor="t" lIns="36576" rIns="36576" tIns="18288" bIns="18288">
            <a:spAutoFit/>
          </a:bodyPr>
          <a:lstStyle/>
          <a:p>
            <a:pPr algn="ctr">
              <a:spcAft>
                <a:spcPts val="300"/>
              </a:spcAft>
            </a:pPr>
            <a:r>
              <a:rPr sz="1100" b="0">
                <a:solidFill>
                  <a:srgbClr val="5F6266"/>
                </a:solidFill>
              </a:rPr>
              <a:t>Return (y) vs maximum drawdown (x)</a:t>
            </a:r>
          </a:p>
        </p:txBody>
      </p:sp>
      <p:sp>
        <p:nvSpPr>
          <p:cNvPr id="66" name="TextBox 65"/>
          <p:cNvSpPr txBox="1"/>
          <p:nvPr/>
        </p:nvSpPr>
        <p:spPr>
          <a:xfrm rot="16200000">
            <a:off x="-228600" y="3566160"/>
            <a:ext cx="2194560" cy="274320"/>
          </a:xfrm>
          <a:prstGeom prst="rect">
            <a:avLst/>
          </a:prstGeom>
          <a:noFill/>
        </p:spPr>
        <p:txBody>
          <a:bodyPr wrap="square" anchor="t" lIns="36576" rIns="36576" tIns="18288" bIns="18288">
            <a:spAutoFit/>
          </a:bodyPr>
          <a:lstStyle/>
          <a:p>
            <a:pPr algn="ctr">
              <a:spcAft>
                <a:spcPts val="300"/>
              </a:spcAft>
            </a:pPr>
            <a:r>
              <a:rPr sz="1100" b="0">
                <a:solidFill>
                  <a:srgbClr val="5F6266"/>
                </a:solidFill>
              </a:rPr>
              <a:t>Annual return (CAGR)</a:t>
            </a:r>
          </a:p>
        </p:txBody>
      </p:sp>
      <p:cxnSp>
        <p:nvCxnSpPr>
          <p:cNvPr id="67" name="Connector 66"/>
          <p:cNvCxnSpPr/>
          <p:nvPr/>
        </p:nvCxnSpPr>
        <p:spPr>
          <a:xfrm>
            <a:off x="1600200" y="3703320"/>
            <a:ext cx="4937760" cy="0"/>
          </a:xfrm>
          <a:prstGeom prst="line">
            <a:avLst/>
          </a:prstGeom>
          <a:ln w="19050">
            <a:solidFill>
              <a:srgbClr val="5F6266"/>
            </a:solidFill>
            <a:prstDash val="dash"/>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4526280" y="3410712"/>
            <a:ext cx="2011680" cy="256032"/>
          </a:xfrm>
          <a:prstGeom prst="rect">
            <a:avLst/>
          </a:prstGeom>
          <a:noFill/>
        </p:spPr>
        <p:txBody>
          <a:bodyPr wrap="square" anchor="t" lIns="36576" rIns="36576" tIns="18288" bIns="18288">
            <a:spAutoFit/>
          </a:bodyPr>
          <a:lstStyle/>
          <a:p>
            <a:pPr algn="r">
              <a:spcAft>
                <a:spcPts val="300"/>
              </a:spcAft>
            </a:pPr>
            <a:r>
              <a:rPr sz="1000" b="0" i="1">
                <a:solidFill>
                  <a:srgbClr val="5F6266"/>
                </a:solidFill>
              </a:rPr>
              <a:t>Treasury bills ≈ 6%</a:t>
            </a:r>
          </a:p>
        </p:txBody>
      </p:sp>
      <p:sp>
        <p:nvSpPr>
          <p:cNvPr id="69" name="Oval 68"/>
          <p:cNvSpPr/>
          <p:nvPr/>
        </p:nvSpPr>
        <p:spPr>
          <a:xfrm>
            <a:off x="1888971" y="3597284"/>
            <a:ext cx="237744" cy="237744"/>
          </a:xfrm>
          <a:prstGeom prst="ellipse">
            <a:avLst/>
          </a:prstGeom>
          <a:solidFill>
            <a:srgbClr val="4D62E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099283" y="3277244"/>
            <a:ext cx="2468880" cy="274320"/>
          </a:xfrm>
          <a:prstGeom prst="rect">
            <a:avLst/>
          </a:prstGeom>
          <a:noFill/>
        </p:spPr>
        <p:txBody>
          <a:bodyPr wrap="square" anchor="t" lIns="36576" rIns="36576" tIns="18288" bIns="18288">
            <a:spAutoFit/>
          </a:bodyPr>
          <a:lstStyle/>
          <a:p>
            <a:pPr algn="l">
              <a:spcAft>
                <a:spcPts val="300"/>
              </a:spcAft>
            </a:pPr>
            <a:r>
              <a:rPr sz="1100" b="1">
                <a:solidFill>
                  <a:srgbClr val="36393B"/>
                </a:solidFill>
              </a:rPr>
              <a:t>A · 7-day: 6.0%, −4%</a:t>
            </a:r>
          </a:p>
        </p:txBody>
      </p:sp>
      <p:sp>
        <p:nvSpPr>
          <p:cNvPr id="71" name="Oval 70"/>
          <p:cNvSpPr/>
          <p:nvPr/>
        </p:nvSpPr>
        <p:spPr>
          <a:xfrm>
            <a:off x="2303812" y="3960529"/>
            <a:ext cx="237744" cy="237744"/>
          </a:xfrm>
          <a:prstGeom prst="ellipse">
            <a:avLst/>
          </a:prstGeom>
          <a:solidFill>
            <a:srgbClr val="FD4C00"/>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605564" y="4079401"/>
            <a:ext cx="2468880" cy="274320"/>
          </a:xfrm>
          <a:prstGeom prst="rect">
            <a:avLst/>
          </a:prstGeom>
          <a:noFill/>
        </p:spPr>
        <p:txBody>
          <a:bodyPr wrap="square" anchor="t" lIns="36576" rIns="36576" tIns="18288" bIns="18288">
            <a:spAutoFit/>
          </a:bodyPr>
          <a:lstStyle/>
          <a:p>
            <a:pPr algn="l">
              <a:spcAft>
                <a:spcPts val="300"/>
              </a:spcAft>
            </a:pPr>
            <a:r>
              <a:rPr sz="1100" b="1">
                <a:solidFill>
                  <a:srgbClr val="36393B"/>
                </a:solidFill>
              </a:rPr>
              <a:t>B · 15-day: 4.8%, −7%</a:t>
            </a:r>
          </a:p>
        </p:txBody>
      </p:sp>
      <p:sp>
        <p:nvSpPr>
          <p:cNvPr id="73" name="Oval 72"/>
          <p:cNvSpPr/>
          <p:nvPr/>
        </p:nvSpPr>
        <p:spPr>
          <a:xfrm>
            <a:off x="2803134" y="2981305"/>
            <a:ext cx="237744" cy="237744"/>
          </a:xfrm>
          <a:prstGeom prst="ellipse">
            <a:avLst/>
          </a:prstGeom>
          <a:solidFill>
            <a:srgbClr val="0E8C74"/>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104886" y="2963017"/>
            <a:ext cx="2468880" cy="274320"/>
          </a:xfrm>
          <a:prstGeom prst="rect">
            <a:avLst/>
          </a:prstGeom>
          <a:noFill/>
        </p:spPr>
        <p:txBody>
          <a:bodyPr wrap="square" anchor="t" lIns="36576" rIns="36576" tIns="18288" bIns="18288">
            <a:spAutoFit/>
          </a:bodyPr>
          <a:lstStyle/>
          <a:p>
            <a:pPr algn="l">
              <a:spcAft>
                <a:spcPts val="300"/>
              </a:spcAft>
            </a:pPr>
            <a:r>
              <a:rPr sz="1100" b="1">
                <a:solidFill>
                  <a:srgbClr val="36393B"/>
                </a:solidFill>
              </a:rPr>
              <a:t>C · 60-day: 7.9%, −12%</a:t>
            </a:r>
          </a:p>
        </p:txBody>
      </p:sp>
      <p:sp>
        <p:nvSpPr>
          <p:cNvPr id="75" name="Oval 74"/>
          <p:cNvSpPr/>
          <p:nvPr/>
        </p:nvSpPr>
        <p:spPr>
          <a:xfrm>
            <a:off x="5908185" y="2204641"/>
            <a:ext cx="237744" cy="237744"/>
          </a:xfrm>
          <a:prstGeom prst="ellipse">
            <a:avLst/>
          </a:prstGeom>
          <a:solidFill>
            <a:srgbClr val="8A8D9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375297" y="2186353"/>
            <a:ext cx="2468880" cy="274320"/>
          </a:xfrm>
          <a:prstGeom prst="rect">
            <a:avLst/>
          </a:prstGeom>
          <a:noFill/>
        </p:spPr>
        <p:txBody>
          <a:bodyPr wrap="square" anchor="t" lIns="36576" rIns="36576" tIns="18288" bIns="18288">
            <a:spAutoFit/>
          </a:bodyPr>
          <a:lstStyle/>
          <a:p>
            <a:pPr algn="r">
              <a:spcAft>
                <a:spcPts val="300"/>
              </a:spcAft>
            </a:pPr>
            <a:r>
              <a:rPr sz="1100" b="1">
                <a:solidFill>
                  <a:srgbClr val="36393B"/>
                </a:solidFill>
              </a:rPr>
              <a:t>Buy &amp; hold: 10.3%, −40%</a:t>
            </a:r>
          </a:p>
        </p:txBody>
      </p:sp>
      <p:graphicFrame>
        <p:nvGraphicFramePr>
          <p:cNvPr id="77" name="Table 76"/>
          <p:cNvGraphicFramePr>
            <a:graphicFrameLocks noGrp="1"/>
          </p:cNvGraphicFramePr>
          <p:nvPr/>
        </p:nvGraphicFramePr>
        <p:xfrm>
          <a:off x="7040880" y="1371600"/>
          <a:ext cx="4251960" cy="2962656"/>
        </p:xfrm>
        <a:graphic>
          <a:graphicData uri="http://schemas.openxmlformats.org/drawingml/2006/table">
            <a:tbl>
              <a:tblPr firstRow="1" bandRow="0">
                <a:tableStyleId>{5C22544A-7EE6-4342-B048-85BDC9FD1C3A}</a:tableStyleId>
              </a:tblPr>
              <a:tblGrid>
                <a:gridCol w="1325880"/>
                <a:gridCol w="731520"/>
                <a:gridCol w="731520"/>
                <a:gridCol w="731520"/>
                <a:gridCol w="731520"/>
              </a:tblGrid>
              <a:tr h="329184">
                <a:tc>
                  <a:txBody>
                    <a:bodyPr wrap="square"/>
                    <a:lstStyle/>
                    <a:p>
                      <a:pPr algn="l"/>
                      <a:r>
                        <a:rPr sz="900">
                          <a:solidFill>
                            <a:srgbClr val="36393B"/>
                          </a:solidFill>
                          <a:latin typeface="+mj-lt"/>
                        </a:rPr>
                        <a:t/>
                      </a:r>
                    </a:p>
                  </a:txBody>
                  <a:tcPr marL="45720" marR="45720" marT="18288" marB="18288" anchor="ctr">
                    <a:solidFill>
                      <a:srgbClr val="2BB399"/>
                    </a:solidFill>
                  </a:tcPr>
                </a:tc>
                <a:tc>
                  <a:txBody>
                    <a:bodyPr wrap="square"/>
                    <a:lstStyle/>
                    <a:p>
                      <a:pPr algn="ctr"/>
                      <a:r>
                        <a:rPr sz="900">
                          <a:solidFill>
                            <a:srgbClr val="36393B"/>
                          </a:solidFill>
                          <a:latin typeface="+mj-lt"/>
                        </a:rPr>
                        <a:t>A · 7D</a:t>
                      </a:r>
                    </a:p>
                  </a:txBody>
                  <a:tcPr marL="45720" marR="45720" marT="18288" marB="18288" anchor="ctr">
                    <a:solidFill>
                      <a:srgbClr val="2BB399"/>
                    </a:solidFill>
                  </a:tcPr>
                </a:tc>
                <a:tc>
                  <a:txBody>
                    <a:bodyPr wrap="square"/>
                    <a:lstStyle/>
                    <a:p>
                      <a:pPr algn="ctr"/>
                      <a:r>
                        <a:rPr sz="900">
                          <a:solidFill>
                            <a:srgbClr val="36393B"/>
                          </a:solidFill>
                          <a:latin typeface="+mj-lt"/>
                        </a:rPr>
                        <a:t>B · 15D</a:t>
                      </a:r>
                    </a:p>
                  </a:txBody>
                  <a:tcPr marL="45720" marR="45720" marT="18288" marB="18288" anchor="ctr">
                    <a:solidFill>
                      <a:srgbClr val="2BB399"/>
                    </a:solidFill>
                  </a:tcPr>
                </a:tc>
                <a:tc>
                  <a:txBody>
                    <a:bodyPr wrap="square"/>
                    <a:lstStyle/>
                    <a:p>
                      <a:pPr algn="ctr"/>
                      <a:r>
                        <a:rPr sz="900">
                          <a:solidFill>
                            <a:srgbClr val="36393B"/>
                          </a:solidFill>
                          <a:latin typeface="+mj-lt"/>
                        </a:rPr>
                        <a:t>C · 60D</a:t>
                      </a:r>
                    </a:p>
                  </a:txBody>
                  <a:tcPr marL="45720" marR="45720" marT="18288" marB="18288" anchor="ctr">
                    <a:solidFill>
                      <a:srgbClr val="2BB399"/>
                    </a:solidFill>
                  </a:tcPr>
                </a:tc>
                <a:tc>
                  <a:txBody>
                    <a:bodyPr wrap="square"/>
                    <a:lstStyle/>
                    <a:p>
                      <a:pPr algn="ctr"/>
                      <a:r>
                        <a:rPr sz="900">
                          <a:solidFill>
                            <a:srgbClr val="36393B"/>
                          </a:solidFill>
                          <a:latin typeface="+mj-lt"/>
                        </a:rPr>
                        <a:t>B&amp;H</a:t>
                      </a:r>
                    </a:p>
                  </a:txBody>
                  <a:tcPr marL="45720" marR="45720" marT="18288" marB="18288" anchor="ctr">
                    <a:solidFill>
                      <a:srgbClr val="2BB399"/>
                    </a:solidFill>
                  </a:tcPr>
                </a:tc>
              </a:tr>
              <a:tr h="329184">
                <a:tc>
                  <a:txBody>
                    <a:bodyPr wrap="square"/>
                    <a:lstStyle/>
                    <a:p>
                      <a:pPr algn="l"/>
                      <a:r>
                        <a:rPr sz="1200" b="1">
                          <a:solidFill>
                            <a:srgbClr val="36393B"/>
                          </a:solidFill>
                        </a:rPr>
                        <a:t>Trades</a:t>
                      </a:r>
                    </a:p>
                  </a:txBody>
                  <a:tcPr marL="45720" marR="45720" marT="18288" marB="18288" anchor="ctr">
                    <a:solidFill>
                      <a:srgbClr val="FFFFFF"/>
                    </a:solidFill>
                  </a:tcPr>
                </a:tc>
                <a:tc>
                  <a:txBody>
                    <a:bodyPr wrap="square"/>
                    <a:lstStyle/>
                    <a:p>
                      <a:pPr algn="ctr"/>
                      <a:r>
                        <a:rPr sz="1200" b="0">
                          <a:solidFill>
                            <a:srgbClr val="36393B"/>
                          </a:solidFill>
                        </a:rPr>
                        <a:t>234</a:t>
                      </a:r>
                    </a:p>
                  </a:txBody>
                  <a:tcPr marL="45720" marR="45720" marT="18288" marB="18288" anchor="ctr">
                    <a:solidFill>
                      <a:srgbClr val="FFFFFF"/>
                    </a:solidFill>
                  </a:tcPr>
                </a:tc>
                <a:tc>
                  <a:txBody>
                    <a:bodyPr wrap="square"/>
                    <a:lstStyle/>
                    <a:p>
                      <a:pPr algn="ctr"/>
                      <a:r>
                        <a:rPr sz="1200" b="0">
                          <a:solidFill>
                            <a:srgbClr val="36393B"/>
                          </a:solidFill>
                        </a:rPr>
                        <a:t>270</a:t>
                      </a:r>
                    </a:p>
                  </a:txBody>
                  <a:tcPr marL="45720" marR="45720" marT="18288" marB="18288" anchor="ctr">
                    <a:solidFill>
                      <a:srgbClr val="FFFFFF"/>
                    </a:solidFill>
                  </a:tcPr>
                </a:tc>
                <a:tc>
                  <a:txBody>
                    <a:bodyPr wrap="square"/>
                    <a:lstStyle/>
                    <a:p>
                      <a:pPr algn="ctr"/>
                      <a:r>
                        <a:rPr sz="1200" b="0">
                          <a:solidFill>
                            <a:srgbClr val="36393B"/>
                          </a:solidFill>
                        </a:rPr>
                        <a:t>80</a:t>
                      </a:r>
                    </a:p>
                  </a:txBody>
                  <a:tcPr marL="45720" marR="45720" marT="18288" marB="18288" anchor="ctr">
                    <a:solidFill>
                      <a:srgbClr val="FFFFFF"/>
                    </a:solidFill>
                  </a:tcPr>
                </a:tc>
                <a:tc>
                  <a:txBody>
                    <a:bodyPr wrap="square"/>
                    <a:lstStyle/>
                    <a:p>
                      <a:pPr algn="ctr"/>
                      <a:r>
                        <a:rPr sz="1200" b="0">
                          <a:solidFill>
                            <a:srgbClr val="36393B"/>
                          </a:solidFill>
                        </a:rPr>
                        <a:t>–</a:t>
                      </a:r>
                    </a:p>
                  </a:txBody>
                  <a:tcPr marL="45720" marR="45720" marT="18288" marB="18288" anchor="ctr">
                    <a:solidFill>
                      <a:srgbClr val="FFFFFF"/>
                    </a:solidFill>
                  </a:tcPr>
                </a:tc>
              </a:tr>
              <a:tr h="329184">
                <a:tc>
                  <a:txBody>
                    <a:bodyPr wrap="square"/>
                    <a:lstStyle/>
                    <a:p>
                      <a:pPr algn="l"/>
                      <a:r>
                        <a:rPr sz="1200" b="1">
                          <a:solidFill>
                            <a:srgbClr val="36393B"/>
                          </a:solidFill>
                        </a:rPr>
                        <a:t>Win rate</a:t>
                      </a:r>
                    </a:p>
                  </a:txBody>
                  <a:tcPr marL="45720" marR="45720" marT="18288" marB="18288" anchor="ctr">
                    <a:solidFill>
                      <a:srgbClr val="F4FEFB"/>
                    </a:solidFill>
                  </a:tcPr>
                </a:tc>
                <a:tc>
                  <a:txBody>
                    <a:bodyPr wrap="square"/>
                    <a:lstStyle/>
                    <a:p>
                      <a:pPr algn="ctr"/>
                      <a:r>
                        <a:rPr sz="1200" b="0">
                          <a:solidFill>
                            <a:srgbClr val="36393B"/>
                          </a:solidFill>
                        </a:rPr>
                        <a:t>50%</a:t>
                      </a:r>
                    </a:p>
                  </a:txBody>
                  <a:tcPr marL="45720" marR="45720" marT="18288" marB="18288" anchor="ctr">
                    <a:solidFill>
                      <a:srgbClr val="F4FEFB"/>
                    </a:solidFill>
                  </a:tcPr>
                </a:tc>
                <a:tc>
                  <a:txBody>
                    <a:bodyPr wrap="square"/>
                    <a:lstStyle/>
                    <a:p>
                      <a:pPr algn="ctr"/>
                      <a:r>
                        <a:rPr sz="1200" b="0">
                          <a:solidFill>
                            <a:srgbClr val="36393B"/>
                          </a:solidFill>
                        </a:rPr>
                        <a:t>52%</a:t>
                      </a:r>
                    </a:p>
                  </a:txBody>
                  <a:tcPr marL="45720" marR="45720" marT="18288" marB="18288" anchor="ctr">
                    <a:solidFill>
                      <a:srgbClr val="F4FEFB"/>
                    </a:solidFill>
                  </a:tcPr>
                </a:tc>
                <a:tc>
                  <a:txBody>
                    <a:bodyPr wrap="square"/>
                    <a:lstStyle/>
                    <a:p>
                      <a:pPr algn="ctr"/>
                      <a:r>
                        <a:rPr sz="1200" b="0">
                          <a:solidFill>
                            <a:srgbClr val="36393B"/>
                          </a:solidFill>
                        </a:rPr>
                        <a:t>61%</a:t>
                      </a:r>
                    </a:p>
                  </a:txBody>
                  <a:tcPr marL="45720" marR="45720" marT="18288" marB="18288" anchor="ctr">
                    <a:solidFill>
                      <a:srgbClr val="F4FEFB"/>
                    </a:solidFill>
                  </a:tcPr>
                </a:tc>
                <a:tc>
                  <a:txBody>
                    <a:bodyPr wrap="square"/>
                    <a:lstStyle/>
                    <a:p>
                      <a:pPr algn="ctr"/>
                      <a:r>
                        <a:rPr sz="1200" b="0">
                          <a:solidFill>
                            <a:srgbClr val="36393B"/>
                          </a:solidFill>
                        </a:rPr>
                        <a:t>–</a:t>
                      </a:r>
                    </a:p>
                  </a:txBody>
                  <a:tcPr marL="45720" marR="45720" marT="18288" marB="18288" anchor="ctr">
                    <a:solidFill>
                      <a:srgbClr val="F4FEFB"/>
                    </a:solidFill>
                  </a:tcPr>
                </a:tc>
              </a:tr>
              <a:tr h="329184">
                <a:tc>
                  <a:txBody>
                    <a:bodyPr wrap="square"/>
                    <a:lstStyle/>
                    <a:p>
                      <a:pPr algn="l"/>
                      <a:r>
                        <a:rPr sz="1200" b="1">
                          <a:solidFill>
                            <a:srgbClr val="36393B"/>
                          </a:solidFill>
                        </a:rPr>
                        <a:t>Avg trade</a:t>
                      </a:r>
                    </a:p>
                  </a:txBody>
                  <a:tcPr marL="45720" marR="45720" marT="18288" marB="18288" anchor="ctr">
                    <a:solidFill>
                      <a:srgbClr val="FFFFFF"/>
                    </a:solidFill>
                  </a:tcPr>
                </a:tc>
                <a:tc>
                  <a:txBody>
                    <a:bodyPr wrap="square"/>
                    <a:lstStyle/>
                    <a:p>
                      <a:pPr algn="ctr"/>
                      <a:r>
                        <a:rPr sz="1200" b="0">
                          <a:solidFill>
                            <a:srgbClr val="36393B"/>
                          </a:solidFill>
                        </a:rPr>
                        <a:t>0.12%</a:t>
                      </a:r>
                    </a:p>
                  </a:txBody>
                  <a:tcPr marL="45720" marR="45720" marT="18288" marB="18288" anchor="ctr">
                    <a:solidFill>
                      <a:srgbClr val="FFFFFF"/>
                    </a:solidFill>
                  </a:tcPr>
                </a:tc>
                <a:tc>
                  <a:txBody>
                    <a:bodyPr wrap="square"/>
                    <a:lstStyle/>
                    <a:p>
                      <a:pPr algn="ctr"/>
                      <a:r>
                        <a:rPr sz="1200" b="0">
                          <a:solidFill>
                            <a:srgbClr val="36393B"/>
                          </a:solidFill>
                        </a:rPr>
                        <a:t>-0.08%</a:t>
                      </a:r>
                    </a:p>
                  </a:txBody>
                  <a:tcPr marL="45720" marR="45720" marT="18288" marB="18288" anchor="ctr">
                    <a:solidFill>
                      <a:srgbClr val="FFFFFF"/>
                    </a:solidFill>
                  </a:tcPr>
                </a:tc>
                <a:tc>
                  <a:txBody>
                    <a:bodyPr wrap="square"/>
                    <a:lstStyle/>
                    <a:p>
                      <a:pPr algn="ctr"/>
                      <a:r>
                        <a:rPr sz="1200" b="0">
                          <a:solidFill>
                            <a:srgbClr val="36393B"/>
                          </a:solidFill>
                        </a:rPr>
                        <a:t>3.42%</a:t>
                      </a:r>
                    </a:p>
                  </a:txBody>
                  <a:tcPr marL="45720" marR="45720" marT="18288" marB="18288" anchor="ctr">
                    <a:solidFill>
                      <a:srgbClr val="C9F5EA"/>
                    </a:solidFill>
                  </a:tcPr>
                </a:tc>
                <a:tc>
                  <a:txBody>
                    <a:bodyPr wrap="square"/>
                    <a:lstStyle/>
                    <a:p>
                      <a:pPr algn="ctr"/>
                      <a:r>
                        <a:rPr sz="1200" b="0">
                          <a:solidFill>
                            <a:srgbClr val="36393B"/>
                          </a:solidFill>
                        </a:rPr>
                        <a:t>–</a:t>
                      </a:r>
                    </a:p>
                  </a:txBody>
                  <a:tcPr marL="45720" marR="45720" marT="18288" marB="18288" anchor="ctr">
                    <a:solidFill>
                      <a:srgbClr val="FFFFFF"/>
                    </a:solidFill>
                  </a:tcPr>
                </a:tc>
              </a:tr>
              <a:tr h="329184">
                <a:tc>
                  <a:txBody>
                    <a:bodyPr wrap="square"/>
                    <a:lstStyle/>
                    <a:p>
                      <a:pPr algn="l"/>
                      <a:r>
                        <a:rPr sz="1200" b="1">
                          <a:solidFill>
                            <a:srgbClr val="36393B"/>
                          </a:solidFill>
                        </a:rPr>
                        <a:t>CAGR</a:t>
                      </a:r>
                    </a:p>
                  </a:txBody>
                  <a:tcPr marL="45720" marR="45720" marT="18288" marB="18288" anchor="ctr">
                    <a:solidFill>
                      <a:srgbClr val="F4FEFB"/>
                    </a:solidFill>
                  </a:tcPr>
                </a:tc>
                <a:tc>
                  <a:txBody>
                    <a:bodyPr wrap="square"/>
                    <a:lstStyle/>
                    <a:p>
                      <a:pPr algn="ctr"/>
                      <a:r>
                        <a:rPr sz="1200" b="0">
                          <a:solidFill>
                            <a:srgbClr val="36393B"/>
                          </a:solidFill>
                        </a:rPr>
                        <a:t>6.0%</a:t>
                      </a:r>
                    </a:p>
                  </a:txBody>
                  <a:tcPr marL="45720" marR="45720" marT="18288" marB="18288" anchor="ctr">
                    <a:solidFill>
                      <a:srgbClr val="F4FEFB"/>
                    </a:solidFill>
                  </a:tcPr>
                </a:tc>
                <a:tc>
                  <a:txBody>
                    <a:bodyPr wrap="square"/>
                    <a:lstStyle/>
                    <a:p>
                      <a:pPr algn="ctr"/>
                      <a:r>
                        <a:rPr sz="1200" b="0">
                          <a:solidFill>
                            <a:srgbClr val="36393B"/>
                          </a:solidFill>
                        </a:rPr>
                        <a:t>4.8%</a:t>
                      </a:r>
                    </a:p>
                  </a:txBody>
                  <a:tcPr marL="45720" marR="45720" marT="18288" marB="18288" anchor="ctr">
                    <a:solidFill>
                      <a:srgbClr val="F4FEFB"/>
                    </a:solidFill>
                  </a:tcPr>
                </a:tc>
                <a:tc>
                  <a:txBody>
                    <a:bodyPr wrap="square"/>
                    <a:lstStyle/>
                    <a:p>
                      <a:pPr algn="ctr"/>
                      <a:r>
                        <a:rPr sz="1200" b="0">
                          <a:solidFill>
                            <a:srgbClr val="36393B"/>
                          </a:solidFill>
                        </a:rPr>
                        <a:t>7.9%</a:t>
                      </a:r>
                    </a:p>
                  </a:txBody>
                  <a:tcPr marL="45720" marR="45720" marT="18288" marB="18288" anchor="ctr">
                    <a:solidFill>
                      <a:srgbClr val="C9F5EA"/>
                    </a:solidFill>
                  </a:tcPr>
                </a:tc>
                <a:tc>
                  <a:txBody>
                    <a:bodyPr wrap="square"/>
                    <a:lstStyle/>
                    <a:p>
                      <a:pPr algn="ctr"/>
                      <a:r>
                        <a:rPr sz="1200" b="0">
                          <a:solidFill>
                            <a:srgbClr val="36393B"/>
                          </a:solidFill>
                        </a:rPr>
                        <a:t>10.3%</a:t>
                      </a:r>
                    </a:p>
                  </a:txBody>
                  <a:tcPr marL="45720" marR="45720" marT="18288" marB="18288" anchor="ctr">
                    <a:solidFill>
                      <a:srgbClr val="F4FEFB"/>
                    </a:solidFill>
                  </a:tcPr>
                </a:tc>
              </a:tr>
              <a:tr h="329184">
                <a:tc>
                  <a:txBody>
                    <a:bodyPr wrap="square"/>
                    <a:lstStyle/>
                    <a:p>
                      <a:pPr algn="l"/>
                      <a:r>
                        <a:rPr sz="1200" b="1">
                          <a:solidFill>
                            <a:srgbClr val="36393B"/>
                          </a:solidFill>
                        </a:rPr>
                        <a:t>Max drawdown</a:t>
                      </a:r>
                    </a:p>
                  </a:txBody>
                  <a:tcPr marL="45720" marR="45720" marT="18288" marB="18288" anchor="ctr">
                    <a:solidFill>
                      <a:srgbClr val="FFFFFF"/>
                    </a:solidFill>
                  </a:tcPr>
                </a:tc>
                <a:tc>
                  <a:txBody>
                    <a:bodyPr wrap="square"/>
                    <a:lstStyle/>
                    <a:p>
                      <a:pPr algn="ctr"/>
                      <a:r>
                        <a:rPr sz="1200" b="0">
                          <a:solidFill>
                            <a:srgbClr val="36393B"/>
                          </a:solidFill>
                        </a:rPr>
                        <a:t>-4%</a:t>
                      </a:r>
                    </a:p>
                  </a:txBody>
                  <a:tcPr marL="45720" marR="45720" marT="18288" marB="18288" anchor="ctr">
                    <a:solidFill>
                      <a:srgbClr val="FFFFFF"/>
                    </a:solidFill>
                  </a:tcPr>
                </a:tc>
                <a:tc>
                  <a:txBody>
                    <a:bodyPr wrap="square"/>
                    <a:lstStyle/>
                    <a:p>
                      <a:pPr algn="ctr"/>
                      <a:r>
                        <a:rPr sz="1200" b="0">
                          <a:solidFill>
                            <a:srgbClr val="36393B"/>
                          </a:solidFill>
                        </a:rPr>
                        <a:t>-7%</a:t>
                      </a:r>
                    </a:p>
                  </a:txBody>
                  <a:tcPr marL="45720" marR="45720" marT="18288" marB="18288" anchor="ctr">
                    <a:solidFill>
                      <a:srgbClr val="FFFFFF"/>
                    </a:solidFill>
                  </a:tcPr>
                </a:tc>
                <a:tc>
                  <a:txBody>
                    <a:bodyPr wrap="square"/>
                    <a:lstStyle/>
                    <a:p>
                      <a:pPr algn="ctr"/>
                      <a:r>
                        <a:rPr sz="1200" b="0">
                          <a:solidFill>
                            <a:srgbClr val="36393B"/>
                          </a:solidFill>
                        </a:rPr>
                        <a:t>-12%</a:t>
                      </a:r>
                    </a:p>
                  </a:txBody>
                  <a:tcPr marL="45720" marR="45720" marT="18288" marB="18288" anchor="ctr">
                    <a:solidFill>
                      <a:srgbClr val="C9F5EA"/>
                    </a:solidFill>
                  </a:tcPr>
                </a:tc>
                <a:tc>
                  <a:txBody>
                    <a:bodyPr wrap="square"/>
                    <a:lstStyle/>
                    <a:p>
                      <a:pPr algn="ctr"/>
                      <a:r>
                        <a:rPr sz="1200" b="0">
                          <a:solidFill>
                            <a:srgbClr val="36393B"/>
                          </a:solidFill>
                        </a:rPr>
                        <a:t>-40%</a:t>
                      </a:r>
                    </a:p>
                  </a:txBody>
                  <a:tcPr marL="45720" marR="45720" marT="18288" marB="18288" anchor="ctr">
                    <a:solidFill>
                      <a:srgbClr val="FFFFFF"/>
                    </a:solidFill>
                  </a:tcPr>
                </a:tc>
              </a:tr>
              <a:tr h="329184">
                <a:tc>
                  <a:txBody>
                    <a:bodyPr wrap="square"/>
                    <a:lstStyle/>
                    <a:p>
                      <a:pPr algn="l"/>
                      <a:r>
                        <a:rPr sz="1200" b="1">
                          <a:solidFill>
                            <a:srgbClr val="36393B"/>
                          </a:solidFill>
                        </a:rPr>
                        <a:t>Excess Sharpe</a:t>
                      </a:r>
                    </a:p>
                  </a:txBody>
                  <a:tcPr marL="45720" marR="45720" marT="18288" marB="18288" anchor="ctr">
                    <a:solidFill>
                      <a:srgbClr val="F4FEFB"/>
                    </a:solidFill>
                  </a:tcPr>
                </a:tc>
                <a:tc>
                  <a:txBody>
                    <a:bodyPr wrap="square"/>
                    <a:lstStyle/>
                    <a:p>
                      <a:pPr algn="ctr"/>
                      <a:r>
                        <a:rPr sz="1200" b="0">
                          <a:solidFill>
                            <a:srgbClr val="36393B"/>
                          </a:solidFill>
                        </a:rPr>
                        <a:t>-0.02</a:t>
                      </a:r>
                    </a:p>
                  </a:txBody>
                  <a:tcPr marL="45720" marR="45720" marT="18288" marB="18288" anchor="ctr">
                    <a:solidFill>
                      <a:srgbClr val="F4FEFB"/>
                    </a:solidFill>
                  </a:tcPr>
                </a:tc>
                <a:tc>
                  <a:txBody>
                    <a:bodyPr wrap="square"/>
                    <a:lstStyle/>
                    <a:p>
                      <a:pPr algn="ctr"/>
                      <a:r>
                        <a:rPr sz="1200" b="0">
                          <a:solidFill>
                            <a:srgbClr val="36393B"/>
                          </a:solidFill>
                        </a:rPr>
                        <a:t>-0.24</a:t>
                      </a:r>
                    </a:p>
                  </a:txBody>
                  <a:tcPr marL="45720" marR="45720" marT="18288" marB="18288" anchor="ctr">
                    <a:solidFill>
                      <a:srgbClr val="F4FEFB"/>
                    </a:solidFill>
                  </a:tcPr>
                </a:tc>
                <a:tc>
                  <a:txBody>
                    <a:bodyPr wrap="square"/>
                    <a:lstStyle/>
                    <a:p>
                      <a:pPr algn="ctr"/>
                      <a:r>
                        <a:rPr sz="1200" b="0">
                          <a:solidFill>
                            <a:srgbClr val="36393B"/>
                          </a:solidFill>
                        </a:rPr>
                        <a:t>0.33</a:t>
                      </a:r>
                    </a:p>
                  </a:txBody>
                  <a:tcPr marL="45720" marR="45720" marT="18288" marB="18288" anchor="ctr">
                    <a:solidFill>
                      <a:srgbClr val="C9F5EA"/>
                    </a:solidFill>
                  </a:tcPr>
                </a:tc>
                <a:tc>
                  <a:txBody>
                    <a:bodyPr wrap="square"/>
                    <a:lstStyle/>
                    <a:p>
                      <a:pPr algn="ctr"/>
                      <a:r>
                        <a:rPr sz="1200" b="0">
                          <a:solidFill>
                            <a:srgbClr val="36393B"/>
                          </a:solidFill>
                        </a:rPr>
                        <a:t>0.32</a:t>
                      </a:r>
                    </a:p>
                  </a:txBody>
                  <a:tcPr marL="45720" marR="45720" marT="18288" marB="18288" anchor="ctr">
                    <a:solidFill>
                      <a:srgbClr val="F4FEFB"/>
                    </a:solidFill>
                  </a:tcPr>
                </a:tc>
              </a:tr>
              <a:tr h="329184">
                <a:tc>
                  <a:txBody>
                    <a:bodyPr wrap="square"/>
                    <a:lstStyle/>
                    <a:p>
                      <a:pPr algn="l"/>
                      <a:r>
                        <a:rPr sz="1200" b="1">
                          <a:solidFill>
                            <a:srgbClr val="36393B"/>
                          </a:solidFill>
                        </a:rPr>
                        <a:t>± 1 s.e.</a:t>
                      </a:r>
                    </a:p>
                  </a:txBody>
                  <a:tcPr marL="45720" marR="45720" marT="18288" marB="18288" anchor="ctr">
                    <a:solidFill>
                      <a:srgbClr val="FFFFFF"/>
                    </a:solidFill>
                  </a:tcPr>
                </a:tc>
                <a:tc>
                  <a:txBody>
                    <a:bodyPr wrap="square"/>
                    <a:lstStyle/>
                    <a:p>
                      <a:pPr algn="ctr"/>
                      <a:r>
                        <a:rPr sz="1200" b="0">
                          <a:solidFill>
                            <a:srgbClr val="36393B"/>
                          </a:solidFill>
                        </a:rPr>
                        <a:t>0.29</a:t>
                      </a:r>
                    </a:p>
                  </a:txBody>
                  <a:tcPr marL="45720" marR="45720" marT="18288" marB="18288" anchor="ctr">
                    <a:solidFill>
                      <a:srgbClr val="FFFFFF"/>
                    </a:solidFill>
                  </a:tcPr>
                </a:tc>
                <a:tc>
                  <a:txBody>
                    <a:bodyPr wrap="square"/>
                    <a:lstStyle/>
                    <a:p>
                      <a:pPr algn="ctr"/>
                      <a:r>
                        <a:rPr sz="1200" b="0">
                          <a:solidFill>
                            <a:srgbClr val="36393B"/>
                          </a:solidFill>
                        </a:rPr>
                        <a:t>0.30</a:t>
                      </a:r>
                    </a:p>
                  </a:txBody>
                  <a:tcPr marL="45720" marR="45720" marT="18288" marB="18288" anchor="ctr">
                    <a:solidFill>
                      <a:srgbClr val="FFFFFF"/>
                    </a:solidFill>
                  </a:tcPr>
                </a:tc>
                <a:tc>
                  <a:txBody>
                    <a:bodyPr wrap="square"/>
                    <a:lstStyle/>
                    <a:p>
                      <a:pPr algn="ctr"/>
                      <a:r>
                        <a:rPr sz="1200" b="0">
                          <a:solidFill>
                            <a:srgbClr val="36393B"/>
                          </a:solidFill>
                        </a:rPr>
                        <a:t>0.30</a:t>
                      </a:r>
                    </a:p>
                  </a:txBody>
                  <a:tcPr marL="45720" marR="45720" marT="18288" marB="18288" anchor="ctr">
                    <a:solidFill>
                      <a:srgbClr val="FFFFFF"/>
                    </a:solidFill>
                  </a:tcPr>
                </a:tc>
                <a:tc>
                  <a:txBody>
                    <a:bodyPr wrap="square"/>
                    <a:lstStyle/>
                    <a:p>
                      <a:pPr algn="ctr"/>
                      <a:r>
                        <a:rPr sz="1200" b="0">
                          <a:solidFill>
                            <a:srgbClr val="36393B"/>
                          </a:solidFill>
                        </a:rPr>
                        <a:t>0.30</a:t>
                      </a:r>
                    </a:p>
                  </a:txBody>
                  <a:tcPr marL="45720" marR="45720" marT="18288" marB="18288" anchor="ctr">
                    <a:solidFill>
                      <a:srgbClr val="FFFFFF"/>
                    </a:solidFill>
                  </a:tcPr>
                </a:tc>
              </a:tr>
              <a:tr h="329184">
                <a:tc>
                  <a:txBody>
                    <a:bodyPr wrap="square"/>
                    <a:lstStyle/>
                    <a:p>
                      <a:pPr algn="l"/>
                      <a:r>
                        <a:rPr sz="1200" b="1">
                          <a:solidFill>
                            <a:srgbClr val="36393B"/>
                          </a:solidFill>
                        </a:rPr>
                        <a:t>Time in market</a:t>
                      </a:r>
                    </a:p>
                  </a:txBody>
                  <a:tcPr marL="45720" marR="45720" marT="18288" marB="18288" anchor="ctr">
                    <a:solidFill>
                      <a:srgbClr val="F4FEFB"/>
                    </a:solidFill>
                  </a:tcPr>
                </a:tc>
                <a:tc>
                  <a:txBody>
                    <a:bodyPr wrap="square"/>
                    <a:lstStyle/>
                    <a:p>
                      <a:pPr algn="ctr"/>
                      <a:r>
                        <a:rPr sz="1200" b="0">
                          <a:solidFill>
                            <a:srgbClr val="36393B"/>
                          </a:solidFill>
                        </a:rPr>
                        <a:t>8%</a:t>
                      </a:r>
                    </a:p>
                  </a:txBody>
                  <a:tcPr marL="45720" marR="45720" marT="18288" marB="18288" anchor="ctr">
                    <a:solidFill>
                      <a:srgbClr val="F4FEFB"/>
                    </a:solidFill>
                  </a:tcPr>
                </a:tc>
                <a:tc>
                  <a:txBody>
                    <a:bodyPr wrap="square"/>
                    <a:lstStyle/>
                    <a:p>
                      <a:pPr algn="ctr"/>
                      <a:r>
                        <a:rPr sz="1200" b="0">
                          <a:solidFill>
                            <a:srgbClr val="36393B"/>
                          </a:solidFill>
                        </a:rPr>
                        <a:t>20%</a:t>
                      </a:r>
                    </a:p>
                  </a:txBody>
                  <a:tcPr marL="45720" marR="45720" marT="18288" marB="18288" anchor="ctr">
                    <a:solidFill>
                      <a:srgbClr val="F4FEFB"/>
                    </a:solidFill>
                  </a:tcPr>
                </a:tc>
                <a:tc>
                  <a:txBody>
                    <a:bodyPr wrap="square"/>
                    <a:lstStyle/>
                    <a:p>
                      <a:pPr algn="ctr"/>
                      <a:r>
                        <a:rPr sz="1200" b="0">
                          <a:solidFill>
                            <a:srgbClr val="36393B"/>
                          </a:solidFill>
                        </a:rPr>
                        <a:t>23%</a:t>
                      </a:r>
                    </a:p>
                  </a:txBody>
                  <a:tcPr marL="45720" marR="45720" marT="18288" marB="18288" anchor="ctr">
                    <a:solidFill>
                      <a:srgbClr val="F4FEFB"/>
                    </a:solidFill>
                  </a:tcPr>
                </a:tc>
                <a:tc>
                  <a:txBody>
                    <a:bodyPr wrap="square"/>
                    <a:lstStyle/>
                    <a:p>
                      <a:pPr algn="ctr"/>
                      <a:r>
                        <a:rPr sz="1200" b="0">
                          <a:solidFill>
                            <a:srgbClr val="36393B"/>
                          </a:solidFill>
                        </a:rPr>
                        <a:t>100%</a:t>
                      </a:r>
                    </a:p>
                  </a:txBody>
                  <a:tcPr marL="45720" marR="45720" marT="18288" marB="18288" anchor="ctr">
                    <a:solidFill>
                      <a:srgbClr val="F4FEFB"/>
                    </a:solidFill>
                  </a:tcPr>
                </a:tc>
              </a:tr>
            </a:tbl>
          </a:graphicData>
        </a:graphic>
      </p:graphicFrame>
      <p:sp>
        <p:nvSpPr>
          <p:cNvPr id="78" name="Rectangle 77"/>
          <p:cNvSpPr/>
          <p:nvPr/>
        </p:nvSpPr>
        <p:spPr>
          <a:xfrm>
            <a:off x="7040880" y="4526280"/>
            <a:ext cx="4251960" cy="17373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178040" y="4572000"/>
            <a:ext cx="4023360" cy="1645920"/>
          </a:xfrm>
          <a:prstGeom prst="rect">
            <a:avLst/>
          </a:prstGeom>
          <a:noFill/>
        </p:spPr>
        <p:txBody>
          <a:bodyPr wrap="square" anchor="t" lIns="36576" rIns="36576" tIns="18288" bIns="18288">
            <a:spAutoFit/>
          </a:bodyPr>
          <a:lstStyle/>
          <a:p>
            <a:pPr algn="l">
              <a:spcAft>
                <a:spcPts val="300"/>
              </a:spcAft>
            </a:pPr>
            <a:r>
              <a:rPr sz="1100" b="1">
                <a:solidFill>
                  <a:srgbClr val="36393B"/>
                </a:solidFill>
              </a:rPr>
              <a:t>Rules: </a:t>
            </a:r>
            <a:r>
              <a:rPr sz="1100" b="0">
                <a:solidFill>
                  <a:srgbClr val="36393B"/>
                </a:solidFill>
              </a:rPr>
              <a:t>A buys RSI/Stochastic dips above the 200-day average; B a MACD cross confirmed by EMA and OBV; C moving-average crosses filtered by ADX. Long-only, next-open fills, time exits. The 4 added indicators are deliberately not in the entry rules (no edge; CCI and Donchian duplicate %B).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What would change our minds: costs, cash rate, sampling error</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Adwaaiit</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Excess Sharpe (raw when cash = 0%), equal-weighted 7 stocks. Standard errors: Lo (2002). Full = 2015–26; OOS = 2022–26</a:t>
            </a:r>
          </a:p>
        </p:txBody>
      </p:sp>
      <p:graphicFrame>
        <p:nvGraphicFramePr>
          <p:cNvPr id="39" name="Chart 38"/>
          <p:cNvGraphicFramePr>
            <a:graphicFrameLocks noGrp="1"/>
          </p:cNvGraphicFramePr>
          <p:nvPr/>
        </p:nvGraphicFramePr>
        <p:xfrm>
          <a:off x="777240" y="1325880"/>
          <a:ext cx="6583680" cy="4937760"/>
        </p:xfrm>
        <a:graphic>
          <a:graphicData uri="http://schemas.openxmlformats.org/drawingml/2006/chart">
            <c:chart xmlns:c="http://schemas.openxmlformats.org/drawingml/2006/chart" r:id="rId3"/>
          </a:graphicData>
        </a:graphic>
      </p:graphicFrame>
      <p:sp>
        <p:nvSpPr>
          <p:cNvPr id="40" name="Rectangle 39"/>
          <p:cNvSpPr/>
          <p:nvPr/>
        </p:nvSpPr>
        <p:spPr>
          <a:xfrm>
            <a:off x="7635240" y="1371600"/>
            <a:ext cx="3657600" cy="489204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0" y="1463040"/>
            <a:ext cx="3383280" cy="274320"/>
          </a:xfrm>
          <a:prstGeom prst="rect">
            <a:avLst/>
          </a:prstGeom>
          <a:noFill/>
        </p:spPr>
        <p:txBody>
          <a:bodyPr wrap="square" anchor="t" lIns="36576" rIns="36576" tIns="18288" bIns="18288">
            <a:spAutoFit/>
          </a:bodyPr>
          <a:lstStyle/>
          <a:p>
            <a:pPr algn="l">
              <a:spcAft>
                <a:spcPts val="300"/>
              </a:spcAft>
            </a:pPr>
            <a:r>
              <a:rPr sz="1100" b="0">
                <a:solidFill>
                  <a:srgbClr val="0E8C74"/>
                </a:solidFill>
                <a:latin typeface="+mj-lt"/>
              </a:rPr>
              <a:t>WHAT WOULD CHANGE OUR MIND</a:t>
            </a:r>
          </a:p>
        </p:txBody>
      </p:sp>
      <p:sp>
        <p:nvSpPr>
          <p:cNvPr id="42" name="TextBox 41"/>
          <p:cNvSpPr txBox="1"/>
          <p:nvPr/>
        </p:nvSpPr>
        <p:spPr>
          <a:xfrm>
            <a:off x="7772400" y="1783080"/>
            <a:ext cx="3429000" cy="4434840"/>
          </a:xfrm>
          <a:prstGeom prst="rect">
            <a:avLst/>
          </a:prstGeom>
          <a:noFill/>
        </p:spPr>
        <p:txBody>
          <a:bodyPr wrap="square" anchor="t" lIns="36576" rIns="36576" tIns="18288" bIns="18288">
            <a:spAutoFit/>
          </a:bodyPr>
          <a:lstStyle/>
          <a:p>
            <a:pPr algn="l" marL="171450" indent="-171450">
              <a:spcAft>
                <a:spcPts val="800"/>
              </a:spcAft>
              <a:buFont typeface="Arial"/>
              <a:buChar char="•"/>
            </a:pPr>
            <a:r>
              <a:rPr sz="1200" b="0">
                <a:solidFill>
                  <a:srgbClr val="36393B"/>
                </a:solidFill>
              </a:rPr>
              <a:t>At 0.25% a side, the highest cost tested, C's Sharpe falls to 0.29, just below buy-and-hold</a:t>
            </a:r>
          </a:p>
          <a:p>
            <a:pPr algn="l" marL="171450" indent="-171450">
              <a:spcAft>
                <a:spcPts val="800"/>
              </a:spcAft>
              <a:buFont typeface="Arial"/>
              <a:buChar char="•"/>
            </a:pPr>
            <a:r>
              <a:rPr sz="1200" b="0">
                <a:solidFill>
                  <a:srgbClr val="36393B"/>
                </a:solidFill>
              </a:rPr>
              <a:t>A cash rate near zero favours buy-and-hold (0.67 vs 0.58)</a:t>
            </a:r>
          </a:p>
          <a:p>
            <a:pPr algn="l" marL="171450" indent="-171450">
              <a:spcAft>
                <a:spcPts val="800"/>
              </a:spcAft>
              <a:buFont typeface="Arial"/>
              <a:buChar char="•"/>
            </a:pPr>
            <a:r>
              <a:rPr sz="1200" b="0">
                <a:solidFill>
                  <a:srgbClr val="36393B"/>
                </a:solidFill>
              </a:rPr>
              <a:t>A period with no deep crash would favour buy-and-hold</a:t>
            </a:r>
          </a:p>
          <a:p>
            <a:pPr algn="l" marL="171450" indent="-171450">
              <a:spcAft>
                <a:spcPts val="800"/>
              </a:spcAft>
              <a:buFont typeface="Arial"/>
              <a:buChar char="•"/>
            </a:pPr>
            <a:r>
              <a:rPr sz="1200" b="0">
                <a:solidFill>
                  <a:srgbClr val="36393B"/>
                </a:solidFill>
              </a:rPr>
              <a:t>A point-in-time universe with delisted stocks would favour the timing rules</a:t>
            </a:r>
          </a:p>
          <a:p>
            <a:pPr algn="l" marL="171450" indent="-171450">
              <a:spcAft>
                <a:spcPts val="800"/>
              </a:spcAft>
              <a:buFont typeface="Arial"/>
              <a:buChar char="•"/>
            </a:pPr>
            <a:r>
              <a:rPr sz="1200" b="0">
                <a:solidFill>
                  <a:srgbClr val="36393B"/>
                </a:solidFill>
              </a:rPr>
              <a:t>Sampling error: ±0.3 on 12 years, ±0.5 on 4.7 years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Four biases carry a clear cost; the evidence for four is weaker</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Ayushi</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Welch t (means) and two-proportion z (hit rates); |t| &gt; 1.96 = significant at 5%. Experiments measure a bias's cost, not its prevalence</a:t>
            </a:r>
          </a:p>
        </p:txBody>
      </p:sp>
      <p:sp>
        <p:nvSpPr>
          <p:cNvPr id="39" name="Pentagon 38"/>
          <p:cNvSpPr/>
          <p:nvPr/>
        </p:nvSpPr>
        <p:spPr>
          <a:xfrm>
            <a:off x="850392" y="1325880"/>
            <a:ext cx="2194560" cy="731520"/>
          </a:xfrm>
          <a:prstGeom prst="homePlate">
            <a:avLst/>
          </a:prstGeom>
          <a:solidFill>
            <a:srgbClr val="3AE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1344168"/>
            <a:ext cx="1600200" cy="694944"/>
          </a:xfrm>
          <a:prstGeom prst="rect">
            <a:avLst/>
          </a:prstGeom>
          <a:noFill/>
        </p:spPr>
        <p:txBody>
          <a:bodyPr wrap="square" anchor="ctr" lIns="36576" rIns="36576" tIns="18288" bIns="18288">
            <a:spAutoFit/>
          </a:bodyPr>
          <a:lstStyle/>
          <a:p>
            <a:pPr algn="ctr">
              <a:spcAft>
                <a:spcPts val="0"/>
              </a:spcAft>
            </a:pPr>
            <a:r>
              <a:rPr sz="1200" b="1">
                <a:solidFill>
                  <a:srgbClr val="36393B"/>
                </a:solidFill>
              </a:rPr>
              <a:t>1 · Design signals</a:t>
            </a:r>
          </a:p>
          <a:p>
            <a:pPr algn="ctr">
              <a:spcAft>
                <a:spcPts val="0"/>
              </a:spcAft>
            </a:pPr>
            <a:r>
              <a:rPr sz="1050" b="0">
                <a:solidFill>
                  <a:srgbClr val="36393B"/>
                </a:solidFill>
              </a:rPr>
              <a:t>Confirmation, Representativeness</a:t>
            </a:r>
          </a:p>
        </p:txBody>
      </p:sp>
      <p:sp>
        <p:nvSpPr>
          <p:cNvPr id="41" name="Chevron 40"/>
          <p:cNvSpPr/>
          <p:nvPr/>
        </p:nvSpPr>
        <p:spPr>
          <a:xfrm>
            <a:off x="2953512" y="1325880"/>
            <a:ext cx="2194560" cy="731520"/>
          </a:xfrm>
          <a:prstGeom prst="chevron">
            <a:avLst/>
          </a:prstGeom>
          <a:solidFill>
            <a:srgbClr val="A6F7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37560" y="1344168"/>
            <a:ext cx="1600200" cy="694944"/>
          </a:xfrm>
          <a:prstGeom prst="rect">
            <a:avLst/>
          </a:prstGeom>
          <a:noFill/>
        </p:spPr>
        <p:txBody>
          <a:bodyPr wrap="square" anchor="ctr" lIns="36576" rIns="36576" tIns="18288" bIns="18288">
            <a:spAutoFit/>
          </a:bodyPr>
          <a:lstStyle/>
          <a:p>
            <a:pPr algn="ctr">
              <a:spcAft>
                <a:spcPts val="0"/>
              </a:spcAft>
            </a:pPr>
            <a:r>
              <a:rPr sz="1200" b="1">
                <a:solidFill>
                  <a:srgbClr val="36393B"/>
                </a:solidFill>
              </a:rPr>
              <a:t>2 · Calibrate</a:t>
            </a:r>
          </a:p>
          <a:p>
            <a:pPr algn="ctr">
              <a:spcAft>
                <a:spcPts val="0"/>
              </a:spcAft>
            </a:pPr>
            <a:r>
              <a:rPr sz="1050" b="0">
                <a:solidFill>
                  <a:srgbClr val="36393B"/>
                </a:solidFill>
              </a:rPr>
              <a:t>Overconfidence</a:t>
            </a:r>
          </a:p>
        </p:txBody>
      </p:sp>
      <p:sp>
        <p:nvSpPr>
          <p:cNvPr id="43" name="Chevron 42"/>
          <p:cNvSpPr/>
          <p:nvPr/>
        </p:nvSpPr>
        <p:spPr>
          <a:xfrm>
            <a:off x="5056631" y="1325880"/>
            <a:ext cx="2194560" cy="731520"/>
          </a:xfrm>
          <a:prstGeom prst="chevron">
            <a:avLst/>
          </a:prstGeom>
          <a:solidFill>
            <a:srgbClr val="3AE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40679" y="1344168"/>
            <a:ext cx="1600200" cy="694944"/>
          </a:xfrm>
          <a:prstGeom prst="rect">
            <a:avLst/>
          </a:prstGeom>
          <a:noFill/>
        </p:spPr>
        <p:txBody>
          <a:bodyPr wrap="square" anchor="ctr" lIns="36576" rIns="36576" tIns="18288" bIns="18288">
            <a:spAutoFit/>
          </a:bodyPr>
          <a:lstStyle/>
          <a:p>
            <a:pPr algn="ctr">
              <a:spcAft>
                <a:spcPts val="0"/>
              </a:spcAft>
            </a:pPr>
            <a:r>
              <a:rPr sz="1200" b="1">
                <a:solidFill>
                  <a:srgbClr val="36393B"/>
                </a:solidFill>
              </a:rPr>
              <a:t>3 · Enter</a:t>
            </a:r>
          </a:p>
          <a:p>
            <a:pPr algn="ctr">
              <a:spcAft>
                <a:spcPts val="0"/>
              </a:spcAft>
            </a:pPr>
            <a:r>
              <a:rPr sz="1050" b="0">
                <a:solidFill>
                  <a:srgbClr val="36393B"/>
                </a:solidFill>
              </a:rPr>
              <a:t>FOMO, Herding</a:t>
            </a:r>
          </a:p>
        </p:txBody>
      </p:sp>
      <p:sp>
        <p:nvSpPr>
          <p:cNvPr id="45" name="Chevron 44"/>
          <p:cNvSpPr/>
          <p:nvPr/>
        </p:nvSpPr>
        <p:spPr>
          <a:xfrm>
            <a:off x="7159751" y="1325880"/>
            <a:ext cx="2194560" cy="731520"/>
          </a:xfrm>
          <a:prstGeom prst="chevron">
            <a:avLst/>
          </a:prstGeom>
          <a:solidFill>
            <a:srgbClr val="A6F7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43800" y="1344168"/>
            <a:ext cx="1600200" cy="694944"/>
          </a:xfrm>
          <a:prstGeom prst="rect">
            <a:avLst/>
          </a:prstGeom>
          <a:noFill/>
        </p:spPr>
        <p:txBody>
          <a:bodyPr wrap="square" anchor="ctr" lIns="36576" rIns="36576" tIns="18288" bIns="18288">
            <a:spAutoFit/>
          </a:bodyPr>
          <a:lstStyle/>
          <a:p>
            <a:pPr algn="ctr">
              <a:spcAft>
                <a:spcPts val="0"/>
              </a:spcAft>
            </a:pPr>
            <a:r>
              <a:rPr sz="1200" b="1">
                <a:solidFill>
                  <a:srgbClr val="36393B"/>
                </a:solidFill>
              </a:rPr>
              <a:t>4 · Hold / exit</a:t>
            </a:r>
          </a:p>
          <a:p>
            <a:pPr algn="ctr">
              <a:spcAft>
                <a:spcPts val="0"/>
              </a:spcAft>
            </a:pPr>
            <a:r>
              <a:rPr sz="1050" b="0">
                <a:solidFill>
                  <a:srgbClr val="36393B"/>
                </a:solidFill>
              </a:rPr>
              <a:t>Anchoring, Conservatism</a:t>
            </a:r>
          </a:p>
        </p:txBody>
      </p:sp>
      <p:sp>
        <p:nvSpPr>
          <p:cNvPr id="47" name="Chevron 46"/>
          <p:cNvSpPr/>
          <p:nvPr/>
        </p:nvSpPr>
        <p:spPr>
          <a:xfrm>
            <a:off x="9262872" y="1325880"/>
            <a:ext cx="2194560" cy="731520"/>
          </a:xfrm>
          <a:prstGeom prst="chevron">
            <a:avLst/>
          </a:prstGeom>
          <a:solidFill>
            <a:srgbClr val="3AE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46919" y="1344168"/>
            <a:ext cx="1600200" cy="694944"/>
          </a:xfrm>
          <a:prstGeom prst="rect">
            <a:avLst/>
          </a:prstGeom>
          <a:noFill/>
        </p:spPr>
        <p:txBody>
          <a:bodyPr wrap="square" anchor="ctr" lIns="36576" rIns="36576" tIns="18288" bIns="18288">
            <a:spAutoFit/>
          </a:bodyPr>
          <a:lstStyle/>
          <a:p>
            <a:pPr algn="ctr">
              <a:spcAft>
                <a:spcPts val="0"/>
              </a:spcAft>
            </a:pPr>
            <a:r>
              <a:rPr sz="1200" b="1">
                <a:solidFill>
                  <a:srgbClr val="36393B"/>
                </a:solidFill>
              </a:rPr>
              <a:t>5 · Review</a:t>
            </a:r>
          </a:p>
          <a:p>
            <a:pPr algn="ctr">
              <a:spcAft>
                <a:spcPts val="0"/>
              </a:spcAft>
            </a:pPr>
            <a:r>
              <a:rPr sz="1050" b="0">
                <a:solidFill>
                  <a:srgbClr val="36393B"/>
                </a:solidFill>
              </a:rPr>
              <a:t>Recency</a:t>
            </a:r>
          </a:p>
        </p:txBody>
      </p:sp>
      <p:graphicFrame>
        <p:nvGraphicFramePr>
          <p:cNvPr id="49" name="Table 48"/>
          <p:cNvGraphicFramePr>
            <a:graphicFrameLocks noGrp="1"/>
          </p:cNvGraphicFramePr>
          <p:nvPr/>
        </p:nvGraphicFramePr>
        <p:xfrm>
          <a:off x="850392" y="2240280"/>
          <a:ext cx="10424160" cy="3621024"/>
        </p:xfrm>
        <a:graphic>
          <a:graphicData uri="http://schemas.openxmlformats.org/drawingml/2006/table">
            <a:tbl>
              <a:tblPr firstRow="1" bandRow="0">
                <a:tableStyleId>{5C22544A-7EE6-4342-B048-85BDC9FD1C3A}</a:tableStyleId>
              </a:tblPr>
              <a:tblGrid>
                <a:gridCol w="1737360"/>
                <a:gridCol w="5852160"/>
                <a:gridCol w="1280160"/>
                <a:gridCol w="1554480"/>
              </a:tblGrid>
              <a:tr h="402336">
                <a:tc>
                  <a:txBody>
                    <a:bodyPr wrap="square"/>
                    <a:lstStyle/>
                    <a:p>
                      <a:pPr algn="l"/>
                      <a:r>
                        <a:rPr sz="950">
                          <a:solidFill>
                            <a:srgbClr val="36393B"/>
                          </a:solidFill>
                          <a:latin typeface="+mj-lt"/>
                        </a:rPr>
                        <a:t>BIAS</a:t>
                      </a:r>
                    </a:p>
                  </a:txBody>
                  <a:tcPr marL="45720" marR="45720" marT="18288" marB="18288" anchor="ctr">
                    <a:solidFill>
                      <a:srgbClr val="2BB399"/>
                    </a:solidFill>
                  </a:tcPr>
                </a:tc>
                <a:tc>
                  <a:txBody>
                    <a:bodyPr wrap="square"/>
                    <a:lstStyle/>
                    <a:p>
                      <a:pPr algn="l"/>
                      <a:r>
                        <a:rPr sz="950">
                          <a:solidFill>
                            <a:srgbClr val="36393B"/>
                          </a:solidFill>
                          <a:latin typeface="+mj-lt"/>
                        </a:rPr>
                        <a:t>KEY MEASUREMENT (7 STOCKS, 2015–26)</a:t>
                      </a:r>
                    </a:p>
                  </a:txBody>
                  <a:tcPr marL="45720" marR="45720" marT="18288" marB="18288" anchor="ctr">
                    <a:solidFill>
                      <a:srgbClr val="2BB399"/>
                    </a:solidFill>
                  </a:tcPr>
                </a:tc>
                <a:tc>
                  <a:txBody>
                    <a:bodyPr wrap="square"/>
                    <a:lstStyle/>
                    <a:p>
                      <a:pPr algn="ctr"/>
                      <a:r>
                        <a:rPr sz="950">
                          <a:solidFill>
                            <a:srgbClr val="36393B"/>
                          </a:solidFill>
                          <a:latin typeface="+mj-lt"/>
                        </a:rPr>
                        <a:t>TEST</a:t>
                      </a:r>
                    </a:p>
                  </a:txBody>
                  <a:tcPr marL="45720" marR="45720" marT="18288" marB="18288" anchor="ctr">
                    <a:solidFill>
                      <a:srgbClr val="2BB399"/>
                    </a:solidFill>
                  </a:tcPr>
                </a:tc>
                <a:tc>
                  <a:txBody>
                    <a:bodyPr wrap="square"/>
                    <a:lstStyle/>
                    <a:p>
                      <a:pPr algn="ctr"/>
                      <a:r>
                        <a:rPr sz="950">
                          <a:solidFill>
                            <a:srgbClr val="36393B"/>
                          </a:solidFill>
                          <a:latin typeface="+mj-lt"/>
                        </a:rPr>
                        <a:t>EVIDENCE</a:t>
                      </a:r>
                    </a:p>
                  </a:txBody>
                  <a:tcPr marL="45720" marR="45720" marT="18288" marB="18288" anchor="ctr">
                    <a:solidFill>
                      <a:srgbClr val="2BB399"/>
                    </a:solidFill>
                  </a:tcPr>
                </a:tc>
              </a:tr>
              <a:tr h="402336">
                <a:tc>
                  <a:txBody>
                    <a:bodyPr wrap="square"/>
                    <a:lstStyle/>
                    <a:p>
                      <a:pPr algn="l"/>
                      <a:r>
                        <a:rPr sz="1200" b="1">
                          <a:solidFill>
                            <a:srgbClr val="36393B"/>
                          </a:solidFill>
                        </a:rPr>
                        <a:t>Confirmation</a:t>
                      </a:r>
                    </a:p>
                  </a:txBody>
                  <a:tcPr marL="45720" marR="45720" marT="18288" marB="18288" anchor="ctr">
                    <a:solidFill>
                      <a:srgbClr val="FFFFFF"/>
                    </a:solidFill>
                  </a:tcPr>
                </a:tc>
                <a:tc>
                  <a:txBody>
                    <a:bodyPr wrap="square"/>
                    <a:lstStyle/>
                    <a:p>
                      <a:pPr algn="l"/>
                      <a:r>
                        <a:rPr sz="1200" b="0">
                          <a:solidFill>
                            <a:srgbClr val="36393B"/>
                          </a:solidFill>
                        </a:rPr>
                        <a:t>Indicators correlate 0.64–0.95 with RSI; redundant confirmations leave the hit rate unchanged</a:t>
                      </a:r>
                    </a:p>
                  </a:txBody>
                  <a:tcPr marL="45720" marR="45720" marT="18288" marB="18288" anchor="ctr">
                    <a:solidFill>
                      <a:srgbClr val="FFFFFF"/>
                    </a:solidFill>
                  </a:tcPr>
                </a:tc>
                <a:tc>
                  <a:txBody>
                    <a:bodyPr wrap="square"/>
                    <a:lstStyle/>
                    <a:p>
                      <a:pPr algn="ctr"/>
                      <a:r>
                        <a:rPr sz="1200" b="0">
                          <a:solidFill>
                            <a:srgbClr val="36393B"/>
                          </a:solidFill>
                        </a:rPr>
                        <a:t>|z| &lt; 0.2</a:t>
                      </a:r>
                    </a:p>
                  </a:txBody>
                  <a:tcPr marL="45720" marR="45720" marT="18288" marB="18288" anchor="ctr">
                    <a:solidFill>
                      <a:srgbClr val="FFFFFF"/>
                    </a:solidFill>
                  </a:tcPr>
                </a:tc>
                <a:tc>
                  <a:txBody>
                    <a:bodyPr wrap="square"/>
                    <a:lstStyle/>
                    <a:p>
                      <a:pPr algn="ctr"/>
                      <a:r>
                        <a:rPr sz="1200" b="0">
                          <a:solidFill>
                            <a:srgbClr val="36393B"/>
                          </a:solidFill>
                        </a:rPr>
                        <a:t>Clear</a:t>
                      </a:r>
                    </a:p>
                  </a:txBody>
                  <a:tcPr marL="45720" marR="45720" marT="18288" marB="18288" anchor="ctr">
                    <a:solidFill>
                      <a:srgbClr val="C9F5EA"/>
                    </a:solidFill>
                  </a:tcPr>
                </a:tc>
              </a:tr>
              <a:tr h="402336">
                <a:tc>
                  <a:txBody>
                    <a:bodyPr wrap="square"/>
                    <a:lstStyle/>
                    <a:p>
                      <a:pPr algn="l"/>
                      <a:r>
                        <a:rPr sz="1200" b="1">
                          <a:solidFill>
                            <a:srgbClr val="36393B"/>
                          </a:solidFill>
                        </a:rPr>
                        <a:t>Overconfidence</a:t>
                      </a:r>
                    </a:p>
                  </a:txBody>
                  <a:tcPr marL="45720" marR="45720" marT="18288" marB="18288" anchor="ctr">
                    <a:solidFill>
                      <a:srgbClr val="F4FEFB"/>
                    </a:solidFill>
                  </a:tcPr>
                </a:tc>
                <a:tc>
                  <a:txBody>
                    <a:bodyPr wrap="square"/>
                    <a:lstStyle/>
                    <a:p>
                      <a:pPr algn="l"/>
                      <a:r>
                        <a:rPr sz="1200" b="0">
                          <a:solidFill>
                            <a:srgbClr val="36393B"/>
                          </a:solidFill>
                        </a:rPr>
                        <a:t>Tuned rule promised Sharpe 0.33, delivered -0.02 out-of-sample</a:t>
                      </a:r>
                    </a:p>
                  </a:txBody>
                  <a:tcPr marL="45720" marR="45720" marT="18288" marB="18288" anchor="ctr">
                    <a:solidFill>
                      <a:srgbClr val="F4FEFB"/>
                    </a:solidFill>
                  </a:tcPr>
                </a:tc>
                <a:tc>
                  <a:txBody>
                    <a:bodyPr wrap="square"/>
                    <a:lstStyle/>
                    <a:p>
                      <a:pPr algn="ctr"/>
                      <a:r>
                        <a:rPr sz="1200" b="0">
                          <a:solidFill>
                            <a:srgbClr val="36393B"/>
                          </a:solidFill>
                        </a:rPr>
                        <a:t>6 of 7 worse</a:t>
                      </a:r>
                    </a:p>
                  </a:txBody>
                  <a:tcPr marL="45720" marR="45720" marT="18288" marB="18288" anchor="ctr">
                    <a:solidFill>
                      <a:srgbClr val="F4FEFB"/>
                    </a:solidFill>
                  </a:tcPr>
                </a:tc>
                <a:tc>
                  <a:txBody>
                    <a:bodyPr wrap="square"/>
                    <a:lstStyle/>
                    <a:p>
                      <a:pPr algn="ctr"/>
                      <a:r>
                        <a:rPr sz="1200" b="0">
                          <a:solidFill>
                            <a:srgbClr val="36393B"/>
                          </a:solidFill>
                        </a:rPr>
                        <a:t>Clear</a:t>
                      </a:r>
                    </a:p>
                  </a:txBody>
                  <a:tcPr marL="45720" marR="45720" marT="18288" marB="18288" anchor="ctr">
                    <a:solidFill>
                      <a:srgbClr val="C9F5EA"/>
                    </a:solidFill>
                  </a:tcPr>
                </a:tc>
              </a:tr>
              <a:tr h="402336">
                <a:tc>
                  <a:txBody>
                    <a:bodyPr wrap="square"/>
                    <a:lstStyle/>
                    <a:p>
                      <a:pPr algn="l"/>
                      <a:r>
                        <a:rPr sz="1200" b="1">
                          <a:solidFill>
                            <a:srgbClr val="36393B"/>
                          </a:solidFill>
                        </a:rPr>
                        <a:t>Anchoring</a:t>
                      </a:r>
                    </a:p>
                  </a:txBody>
                  <a:tcPr marL="45720" marR="45720" marT="18288" marB="18288" anchor="ctr">
                    <a:solidFill>
                      <a:srgbClr val="FFFFFF"/>
                    </a:solidFill>
                  </a:tcPr>
                </a:tc>
                <a:tc>
                  <a:txBody>
                    <a:bodyPr wrap="square"/>
                    <a:lstStyle/>
                    <a:p>
                      <a:pPr algn="l"/>
                      <a:r>
                        <a:rPr sz="1200" b="0">
                          <a:solidFill>
                            <a:srgbClr val="36393B"/>
                          </a:solidFill>
                        </a:rPr>
                        <a:t>Holding losers to breakeven: +67 days, -13.3% interim loss</a:t>
                      </a:r>
                    </a:p>
                  </a:txBody>
                  <a:tcPr marL="45720" marR="45720" marT="18288" marB="18288" anchor="ctr">
                    <a:solidFill>
                      <a:srgbClr val="FFFFFF"/>
                    </a:solidFill>
                  </a:tcPr>
                </a:tc>
                <a:tc>
                  <a:txBody>
                    <a:bodyPr wrap="square"/>
                    <a:lstStyle/>
                    <a:p>
                      <a:pPr algn="ctr"/>
                      <a:r>
                        <a:rPr sz="1200" b="0">
                          <a:solidFill>
                            <a:srgbClr val="36393B"/>
                          </a:solidFill>
                        </a:rPr>
                        <a:t>t = 3.2*</a:t>
                      </a:r>
                    </a:p>
                  </a:txBody>
                  <a:tcPr marL="45720" marR="45720" marT="18288" marB="18288" anchor="ctr">
                    <a:solidFill>
                      <a:srgbClr val="FFFFFF"/>
                    </a:solidFill>
                  </a:tcPr>
                </a:tc>
                <a:tc>
                  <a:txBody>
                    <a:bodyPr wrap="square"/>
                    <a:lstStyle/>
                    <a:p>
                      <a:pPr algn="ctr"/>
                      <a:r>
                        <a:rPr sz="1200" b="0">
                          <a:solidFill>
                            <a:srgbClr val="36393B"/>
                          </a:solidFill>
                        </a:rPr>
                        <a:t>Clear</a:t>
                      </a:r>
                    </a:p>
                  </a:txBody>
                  <a:tcPr marL="45720" marR="45720" marT="18288" marB="18288" anchor="ctr">
                    <a:solidFill>
                      <a:srgbClr val="C9F5EA"/>
                    </a:solidFill>
                  </a:tcPr>
                </a:tc>
              </a:tr>
              <a:tr h="402336">
                <a:tc>
                  <a:txBody>
                    <a:bodyPr wrap="square"/>
                    <a:lstStyle/>
                    <a:p>
                      <a:pPr algn="l"/>
                      <a:r>
                        <a:rPr sz="1200" b="1">
                          <a:solidFill>
                            <a:srgbClr val="36393B"/>
                          </a:solidFill>
                        </a:rPr>
                        <a:t>Representativeness</a:t>
                      </a:r>
                    </a:p>
                  </a:txBody>
                  <a:tcPr marL="45720" marR="45720" marT="18288" marB="18288" anchor="ctr">
                    <a:solidFill>
                      <a:srgbClr val="F4FEFB"/>
                    </a:solidFill>
                  </a:tcPr>
                </a:tc>
                <a:tc>
                  <a:txBody>
                    <a:bodyPr wrap="square"/>
                    <a:lstStyle/>
                    <a:p>
                      <a:pPr algn="l"/>
                      <a:r>
                        <a:rPr sz="1200" b="0">
                          <a:solidFill>
                            <a:srgbClr val="36393B"/>
                          </a:solidFill>
                        </a:rPr>
                        <a:t>'Overbought', golden cross, 3 up-days: no different from base rate</a:t>
                      </a:r>
                    </a:p>
                  </a:txBody>
                  <a:tcPr marL="45720" marR="45720" marT="18288" marB="18288" anchor="ctr">
                    <a:solidFill>
                      <a:srgbClr val="F4FEFB"/>
                    </a:solidFill>
                  </a:tcPr>
                </a:tc>
                <a:tc>
                  <a:txBody>
                    <a:bodyPr wrap="square"/>
                    <a:lstStyle/>
                    <a:p>
                      <a:pPr algn="ctr"/>
                      <a:r>
                        <a:rPr sz="1200" b="0">
                          <a:solidFill>
                            <a:srgbClr val="36393B"/>
                          </a:solidFill>
                        </a:rPr>
                        <a:t>all |t| &lt; 1.5</a:t>
                      </a:r>
                    </a:p>
                  </a:txBody>
                  <a:tcPr marL="45720" marR="45720" marT="18288" marB="18288" anchor="ctr">
                    <a:solidFill>
                      <a:srgbClr val="F4FEFB"/>
                    </a:solidFill>
                  </a:tcPr>
                </a:tc>
                <a:tc>
                  <a:txBody>
                    <a:bodyPr wrap="square"/>
                    <a:lstStyle/>
                    <a:p>
                      <a:pPr algn="ctr"/>
                      <a:r>
                        <a:rPr sz="1200" b="0">
                          <a:solidFill>
                            <a:srgbClr val="36393B"/>
                          </a:solidFill>
                        </a:rPr>
                        <a:t>Clear</a:t>
                      </a:r>
                    </a:p>
                  </a:txBody>
                  <a:tcPr marL="45720" marR="45720" marT="18288" marB="18288" anchor="ctr">
                    <a:solidFill>
                      <a:srgbClr val="C9F5EA"/>
                    </a:solidFill>
                  </a:tcPr>
                </a:tc>
              </a:tr>
              <a:tr h="402336">
                <a:tc>
                  <a:txBody>
                    <a:bodyPr wrap="square"/>
                    <a:lstStyle/>
                    <a:p>
                      <a:pPr algn="l"/>
                      <a:r>
                        <a:rPr sz="1200" b="1">
                          <a:solidFill>
                            <a:srgbClr val="36393B"/>
                          </a:solidFill>
                        </a:rPr>
                        <a:t>Herding</a:t>
                      </a:r>
                    </a:p>
                  </a:txBody>
                  <a:tcPr marL="45720" marR="45720" marT="18288" marB="18288" anchor="ctr">
                    <a:solidFill>
                      <a:srgbClr val="FFFFFF"/>
                    </a:solidFill>
                  </a:tcPr>
                </a:tc>
                <a:tc>
                  <a:txBody>
                    <a:bodyPr wrap="square"/>
                    <a:lstStyle/>
                    <a:p>
                      <a:pPr algn="l"/>
                      <a:r>
                        <a:rPr sz="1200" b="0">
                          <a:solidFill>
                            <a:srgbClr val="36393B"/>
                          </a:solidFill>
                        </a:rPr>
                        <a:t>Visible breakouts lag the average day</a:t>
                      </a:r>
                    </a:p>
                  </a:txBody>
                  <a:tcPr marL="45720" marR="45720" marT="18288" marB="18288" anchor="ctr">
                    <a:solidFill>
                      <a:srgbClr val="FFFFFF"/>
                    </a:solidFill>
                  </a:tcPr>
                </a:tc>
                <a:tc>
                  <a:txBody>
                    <a:bodyPr wrap="square"/>
                    <a:lstStyle/>
                    <a:p>
                      <a:pPr algn="ctr"/>
                      <a:r>
                        <a:rPr sz="1200" b="0">
                          <a:solidFill>
                            <a:srgbClr val="36393B"/>
                          </a:solidFill>
                        </a:rPr>
                        <a:t>t = -2.2 (10d)</a:t>
                      </a:r>
                    </a:p>
                  </a:txBody>
                  <a:tcPr marL="45720" marR="45720" marT="18288" marB="18288" anchor="ctr">
                    <a:solidFill>
                      <a:srgbClr val="FFFFFF"/>
                    </a:solidFill>
                  </a:tcPr>
                </a:tc>
                <a:tc>
                  <a:txBody>
                    <a:bodyPr wrap="square"/>
                    <a:lstStyle/>
                    <a:p>
                      <a:pPr algn="ctr"/>
                      <a:r>
                        <a:rPr sz="1200" b="0">
                          <a:solidFill>
                            <a:srgbClr val="36393B"/>
                          </a:solidFill>
                        </a:rPr>
                        <a:t>Suggestive</a:t>
                      </a:r>
                    </a:p>
                  </a:txBody>
                  <a:tcPr marL="45720" marR="45720" marT="18288" marB="18288" anchor="ctr">
                    <a:solidFill>
                      <a:srgbClr val="DDEBFF"/>
                    </a:solidFill>
                  </a:tcPr>
                </a:tc>
              </a:tr>
              <a:tr h="402336">
                <a:tc>
                  <a:txBody>
                    <a:bodyPr wrap="square"/>
                    <a:lstStyle/>
                    <a:p>
                      <a:pPr algn="l"/>
                      <a:r>
                        <a:rPr sz="1200" b="1">
                          <a:solidFill>
                            <a:srgbClr val="36393B"/>
                          </a:solidFill>
                        </a:rPr>
                        <a:t>Conservatism</a:t>
                      </a:r>
                    </a:p>
                  </a:txBody>
                  <a:tcPr marL="45720" marR="45720" marT="18288" marB="18288" anchor="ctr">
                    <a:solidFill>
                      <a:srgbClr val="F4FEFB"/>
                    </a:solidFill>
                  </a:tcPr>
                </a:tc>
                <a:tc>
                  <a:txBody>
                    <a:bodyPr wrap="square"/>
                    <a:lstStyle/>
                    <a:p>
                      <a:pPr algn="l"/>
                      <a:r>
                        <a:rPr sz="1200" b="0">
                          <a:solidFill>
                            <a:srgbClr val="36393B"/>
                          </a:solidFill>
                        </a:rPr>
                        <a:t>Death cross came 38 sessions, 34% after the COVID peak</a:t>
                      </a:r>
                    </a:p>
                  </a:txBody>
                  <a:tcPr marL="45720" marR="45720" marT="18288" marB="18288" anchor="ctr">
                    <a:solidFill>
                      <a:srgbClr val="F4FEFB"/>
                    </a:solidFill>
                  </a:tcPr>
                </a:tc>
                <a:tc>
                  <a:txBody>
                    <a:bodyPr wrap="square"/>
                    <a:lstStyle/>
                    <a:p>
                      <a:pPr algn="ctr"/>
                      <a:r>
                        <a:rPr sz="1200" b="0">
                          <a:solidFill>
                            <a:srgbClr val="36393B"/>
                          </a:solidFill>
                        </a:rPr>
                        <a:t>1 event</a:t>
                      </a:r>
                    </a:p>
                  </a:txBody>
                  <a:tcPr marL="45720" marR="45720" marT="18288" marB="18288" anchor="ctr">
                    <a:solidFill>
                      <a:srgbClr val="F4FEFB"/>
                    </a:solidFill>
                  </a:tcPr>
                </a:tc>
                <a:tc>
                  <a:txBody>
                    <a:bodyPr wrap="square"/>
                    <a:lstStyle/>
                    <a:p>
                      <a:pPr algn="ctr"/>
                      <a:r>
                        <a:rPr sz="1200" b="0">
                          <a:solidFill>
                            <a:srgbClr val="36393B"/>
                          </a:solidFill>
                        </a:rPr>
                        <a:t>Suggestive</a:t>
                      </a:r>
                    </a:p>
                  </a:txBody>
                  <a:tcPr marL="45720" marR="45720" marT="18288" marB="18288" anchor="ctr">
                    <a:solidFill>
                      <a:srgbClr val="DDEBFF"/>
                    </a:solidFill>
                  </a:tcPr>
                </a:tc>
              </a:tr>
              <a:tr h="402336">
                <a:tc>
                  <a:txBody>
                    <a:bodyPr wrap="square"/>
                    <a:lstStyle/>
                    <a:p>
                      <a:pPr algn="l"/>
                      <a:r>
                        <a:rPr sz="1200" b="1">
                          <a:solidFill>
                            <a:srgbClr val="36393B"/>
                          </a:solidFill>
                        </a:rPr>
                        <a:t>Recency</a:t>
                      </a:r>
                    </a:p>
                  </a:txBody>
                  <a:tcPr marL="45720" marR="45720" marT="18288" marB="18288" anchor="ctr">
                    <a:solidFill>
                      <a:srgbClr val="FFFFFF"/>
                    </a:solidFill>
                  </a:tcPr>
                </a:tc>
                <a:tc>
                  <a:txBody>
                    <a:bodyPr wrap="square"/>
                    <a:lstStyle/>
                    <a:p>
                      <a:pPr algn="l"/>
                      <a:r>
                        <a:rPr sz="1200" b="0">
                          <a:solidFill>
                            <a:srgbClr val="36393B"/>
                          </a:solidFill>
                        </a:rPr>
                        <a:t>Chasing last quarter's winner: lower Sharpe on 4 of 7 stocks, higher on 3</a:t>
                      </a:r>
                    </a:p>
                  </a:txBody>
                  <a:tcPr marL="45720" marR="45720" marT="18288" marB="18288" anchor="ctr">
                    <a:solidFill>
                      <a:srgbClr val="FFFFFF"/>
                    </a:solidFill>
                  </a:tcPr>
                </a:tc>
                <a:tc>
                  <a:txBody>
                    <a:bodyPr wrap="square"/>
                    <a:lstStyle/>
                    <a:p>
                      <a:pPr algn="ctr"/>
                      <a:r>
                        <a:rPr sz="1200" b="0">
                          <a:solidFill>
                            <a:srgbClr val="36393B"/>
                          </a:solidFill>
                        </a:rPr>
                        <a:t>4 of 7</a:t>
                      </a:r>
                    </a:p>
                  </a:txBody>
                  <a:tcPr marL="45720" marR="45720" marT="18288" marB="18288" anchor="ctr">
                    <a:solidFill>
                      <a:srgbClr val="FFFFFF"/>
                    </a:solidFill>
                  </a:tcPr>
                </a:tc>
                <a:tc>
                  <a:txBody>
                    <a:bodyPr wrap="square"/>
                    <a:lstStyle/>
                    <a:p>
                      <a:pPr algn="ctr"/>
                      <a:r>
                        <a:rPr sz="1200" b="0">
                          <a:solidFill>
                            <a:srgbClr val="36393B"/>
                          </a:solidFill>
                        </a:rPr>
                        <a:t>Mixed</a:t>
                      </a:r>
                    </a:p>
                  </a:txBody>
                  <a:tcPr marL="45720" marR="45720" marT="18288" marB="18288" anchor="ctr">
                    <a:solidFill>
                      <a:srgbClr val="FFF1CC"/>
                    </a:solidFill>
                  </a:tcPr>
                </a:tc>
              </a:tr>
              <a:tr h="402336">
                <a:tc>
                  <a:txBody>
                    <a:bodyPr wrap="square"/>
                    <a:lstStyle/>
                    <a:p>
                      <a:pPr algn="l"/>
                      <a:r>
                        <a:rPr sz="1200" b="1">
                          <a:solidFill>
                            <a:srgbClr val="36393B"/>
                          </a:solidFill>
                        </a:rPr>
                        <a:t>FOMO</a:t>
                      </a:r>
                    </a:p>
                  </a:txBody>
                  <a:tcPr marL="45720" marR="45720" marT="18288" marB="18288" anchor="ctr">
                    <a:solidFill>
                      <a:srgbClr val="F4FEFB"/>
                    </a:solidFill>
                  </a:tcPr>
                </a:tc>
                <a:tc>
                  <a:txBody>
                    <a:bodyPr wrap="square"/>
                    <a:lstStyle/>
                    <a:p>
                      <a:pPr algn="l"/>
                      <a:r>
                        <a:rPr sz="1200" b="0">
                          <a:solidFill>
                            <a:srgbClr val="36393B"/>
                          </a:solidFill>
                        </a:rPr>
                        <a:t>10-day late entry cut C's average trade by 39%; extension did not hurt</a:t>
                      </a:r>
                    </a:p>
                  </a:txBody>
                  <a:tcPr marL="45720" marR="45720" marT="18288" marB="18288" anchor="ctr">
                    <a:solidFill>
                      <a:srgbClr val="F4FEFB"/>
                    </a:solidFill>
                  </a:tcPr>
                </a:tc>
                <a:tc>
                  <a:txBody>
                    <a:bodyPr wrap="square"/>
                    <a:lstStyle/>
                    <a:p>
                      <a:pPr algn="ctr"/>
                      <a:r>
                        <a:rPr sz="1200" b="0">
                          <a:solidFill>
                            <a:srgbClr val="36393B"/>
                          </a:solidFill>
                        </a:rPr>
                        <a:t>t = 0.6</a:t>
                      </a:r>
                    </a:p>
                  </a:txBody>
                  <a:tcPr marL="45720" marR="45720" marT="18288" marB="18288" anchor="ctr">
                    <a:solidFill>
                      <a:srgbClr val="F4FEFB"/>
                    </a:solidFill>
                  </a:tcPr>
                </a:tc>
                <a:tc>
                  <a:txBody>
                    <a:bodyPr wrap="square"/>
                    <a:lstStyle/>
                    <a:p>
                      <a:pPr algn="ctr"/>
                      <a:r>
                        <a:rPr sz="1200" b="0">
                          <a:solidFill>
                            <a:srgbClr val="36393B"/>
                          </a:solidFill>
                        </a:rPr>
                        <a:t>Not supported</a:t>
                      </a:r>
                    </a:p>
                  </a:txBody>
                  <a:tcPr marL="45720" marR="45720" marT="18288" marB="18288" anchor="ctr">
                    <a:solidFill>
                      <a:srgbClr val="FFE0D2"/>
                    </a:solidFill>
                  </a:tcPr>
                </a:tc>
              </a:tr>
            </a:tbl>
          </a:graphicData>
        </a:graphic>
      </p:graphicFrame>
      <p:sp>
        <p:nvSpPr>
          <p:cNvPr id="50" name="TextBox 49"/>
          <p:cNvSpPr txBox="1"/>
          <p:nvPr/>
        </p:nvSpPr>
        <p:spPr>
          <a:xfrm>
            <a:off x="850392" y="5943600"/>
            <a:ext cx="10424160" cy="320040"/>
          </a:xfrm>
          <a:prstGeom prst="rect">
            <a:avLst/>
          </a:prstGeom>
          <a:noFill/>
        </p:spPr>
        <p:txBody>
          <a:bodyPr wrap="square" anchor="t" lIns="36576" rIns="36576" tIns="18288" bIns="18288">
            <a:spAutoFit/>
          </a:bodyPr>
          <a:lstStyle/>
          <a:p>
            <a:pPr algn="l">
              <a:spcAft>
                <a:spcPts val="300"/>
              </a:spcAft>
            </a:pPr>
            <a:r>
              <a:rPr sz="1100" b="0" i="1">
                <a:solidFill>
                  <a:srgbClr val="5F6266"/>
                </a:solidFill>
              </a:rPr>
              <a:t>* Anchoring's return 'gain' is significant, which is the trap: it is bought with risk, and survivorship flatters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More indicators repeat one signal; tuned backtests over-promise</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Ayushi</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7 stocks pooled; z = two-proportion test vs RSI alone. Tuning grid RSI 25–45 × hold 3–15. Nickerson (1998); Bailey et al. (2014)</a:t>
            </a:r>
          </a:p>
        </p:txBody>
      </p:sp>
      <p:sp>
        <p:nvSpPr>
          <p:cNvPr id="39" name="TextBox 38"/>
          <p:cNvSpPr txBox="1"/>
          <p:nvPr/>
        </p:nvSpPr>
        <p:spPr>
          <a:xfrm>
            <a:off x="850392" y="1325880"/>
            <a:ext cx="5029200" cy="274320"/>
          </a:xfrm>
          <a:prstGeom prst="rect">
            <a:avLst/>
          </a:prstGeom>
          <a:noFill/>
        </p:spPr>
        <p:txBody>
          <a:bodyPr wrap="square" anchor="t" lIns="36576" rIns="36576" tIns="18288" bIns="18288">
            <a:spAutoFit/>
          </a:bodyPr>
          <a:lstStyle/>
          <a:p>
            <a:pPr algn="l">
              <a:spcAft>
                <a:spcPts val="300"/>
              </a:spcAft>
            </a:pPr>
            <a:r>
              <a:rPr sz="1100" b="0">
                <a:solidFill>
                  <a:srgbClr val="0E8C74"/>
                </a:solidFill>
                <a:latin typeface="+mj-lt"/>
              </a:rPr>
              <a:t>CONFIRMATION BIAS</a:t>
            </a:r>
          </a:p>
        </p:txBody>
      </p:sp>
      <p:graphicFrame>
        <p:nvGraphicFramePr>
          <p:cNvPr id="40" name="Chart 39"/>
          <p:cNvGraphicFramePr>
            <a:graphicFrameLocks noGrp="1"/>
          </p:cNvGraphicFramePr>
          <p:nvPr/>
        </p:nvGraphicFramePr>
        <p:xfrm>
          <a:off x="777240" y="1600200"/>
          <a:ext cx="5212080" cy="2788920"/>
        </p:xfrm>
        <a:graphic>
          <a:graphicData uri="http://schemas.openxmlformats.org/drawingml/2006/chart">
            <c:chart xmlns:c="http://schemas.openxmlformats.org/drawingml/2006/chart" r:id="rId3"/>
          </a:graphicData>
        </a:graphic>
      </p:graphicFrame>
      <p:graphicFrame>
        <p:nvGraphicFramePr>
          <p:cNvPr id="41" name="Table 40"/>
          <p:cNvGraphicFramePr>
            <a:graphicFrameLocks noGrp="1"/>
          </p:cNvGraphicFramePr>
          <p:nvPr/>
        </p:nvGraphicFramePr>
        <p:xfrm>
          <a:off x="850392" y="4480560"/>
          <a:ext cx="5074918" cy="1737360"/>
        </p:xfrm>
        <a:graphic>
          <a:graphicData uri="http://schemas.openxmlformats.org/drawingml/2006/table">
            <a:tbl>
              <a:tblPr firstRow="1" bandRow="0">
                <a:tableStyleId>{5C22544A-7EE6-4342-B048-85BDC9FD1C3A}</a:tableStyleId>
              </a:tblPr>
              <a:tblGrid>
                <a:gridCol w="2561626"/>
                <a:gridCol w="724988"/>
                <a:gridCol w="966651"/>
                <a:gridCol w="821653"/>
              </a:tblGrid>
              <a:tr h="347472">
                <a:tc>
                  <a:txBody>
                    <a:bodyPr wrap="square"/>
                    <a:lstStyle/>
                    <a:p>
                      <a:pPr algn="l"/>
                      <a:r>
                        <a:rPr sz="900">
                          <a:solidFill>
                            <a:srgbClr val="36393B"/>
                          </a:solidFill>
                          <a:latin typeface="+mj-lt"/>
                        </a:rPr>
                        <a:t>RSI CROSSES 35, PLUS…</a:t>
                      </a:r>
                    </a:p>
                  </a:txBody>
                  <a:tcPr marL="45720" marR="45720" marT="18288" marB="18288" anchor="ctr">
                    <a:solidFill>
                      <a:srgbClr val="2BB399"/>
                    </a:solidFill>
                  </a:tcPr>
                </a:tc>
                <a:tc>
                  <a:txBody>
                    <a:bodyPr wrap="square"/>
                    <a:lstStyle/>
                    <a:p>
                      <a:pPr algn="ctr"/>
                      <a:r>
                        <a:rPr sz="900">
                          <a:solidFill>
                            <a:srgbClr val="36393B"/>
                          </a:solidFill>
                          <a:latin typeface="+mj-lt"/>
                        </a:rPr>
                        <a:t>N</a:t>
                      </a:r>
                    </a:p>
                  </a:txBody>
                  <a:tcPr marL="45720" marR="45720" marT="18288" marB="18288" anchor="ctr">
                    <a:solidFill>
                      <a:srgbClr val="2BB399"/>
                    </a:solidFill>
                  </a:tcPr>
                </a:tc>
                <a:tc>
                  <a:txBody>
                    <a:bodyPr wrap="square"/>
                    <a:lstStyle/>
                    <a:p>
                      <a:pPr algn="ctr"/>
                      <a:r>
                        <a:rPr sz="900">
                          <a:solidFill>
                            <a:srgbClr val="36393B"/>
                          </a:solidFill>
                          <a:latin typeface="+mj-lt"/>
                        </a:rPr>
                        <a:t>HIT RATE</a:t>
                      </a:r>
                    </a:p>
                  </a:txBody>
                  <a:tcPr marL="45720" marR="45720" marT="18288" marB="18288" anchor="ctr">
                    <a:solidFill>
                      <a:srgbClr val="2BB399"/>
                    </a:solidFill>
                  </a:tcPr>
                </a:tc>
                <a:tc>
                  <a:txBody>
                    <a:bodyPr wrap="square"/>
                    <a:lstStyle/>
                    <a:p>
                      <a:pPr algn="ctr"/>
                      <a:r>
                        <a:rPr sz="900">
                          <a:solidFill>
                            <a:srgbClr val="36393B"/>
                          </a:solidFill>
                          <a:latin typeface="+mj-lt"/>
                        </a:rPr>
                        <a:t>Z</a:t>
                      </a:r>
                    </a:p>
                  </a:txBody>
                  <a:tcPr marL="45720" marR="45720" marT="18288" marB="18288" anchor="ctr">
                    <a:solidFill>
                      <a:srgbClr val="2BB399"/>
                    </a:solidFill>
                  </a:tcPr>
                </a:tc>
              </a:tr>
              <a:tr h="347472">
                <a:tc>
                  <a:txBody>
                    <a:bodyPr wrap="square"/>
                    <a:lstStyle/>
                    <a:p>
                      <a:pPr algn="l"/>
                      <a:r>
                        <a:rPr sz="1200" b="0">
                          <a:solidFill>
                            <a:srgbClr val="36393B"/>
                          </a:solidFill>
                        </a:rPr>
                        <a:t>nothing</a:t>
                      </a:r>
                    </a:p>
                  </a:txBody>
                  <a:tcPr marL="45720" marR="45720" marT="18288" marB="18288" anchor="ctr">
                    <a:solidFill>
                      <a:srgbClr val="FFFFFF"/>
                    </a:solidFill>
                  </a:tcPr>
                </a:tc>
                <a:tc>
                  <a:txBody>
                    <a:bodyPr wrap="square"/>
                    <a:lstStyle/>
                    <a:p>
                      <a:pPr algn="ctr"/>
                      <a:r>
                        <a:rPr sz="1200" b="0">
                          <a:solidFill>
                            <a:srgbClr val="36393B"/>
                          </a:solidFill>
                        </a:rPr>
                        <a:t>434</a:t>
                      </a:r>
                    </a:p>
                  </a:txBody>
                  <a:tcPr marL="45720" marR="45720" marT="18288" marB="18288" anchor="ctr">
                    <a:solidFill>
                      <a:srgbClr val="FFFFFF"/>
                    </a:solidFill>
                  </a:tcPr>
                </a:tc>
                <a:tc>
                  <a:txBody>
                    <a:bodyPr wrap="square"/>
                    <a:lstStyle/>
                    <a:p>
                      <a:pPr algn="ctr"/>
                      <a:r>
                        <a:rPr sz="1200" b="0">
                          <a:solidFill>
                            <a:srgbClr val="36393B"/>
                          </a:solidFill>
                        </a:rPr>
                        <a:t>54%</a:t>
                      </a:r>
                    </a:p>
                  </a:txBody>
                  <a:tcPr marL="45720" marR="45720" marT="18288" marB="18288" anchor="ctr">
                    <a:solidFill>
                      <a:srgbClr val="FFFFFF"/>
                    </a:solidFill>
                  </a:tcPr>
                </a:tc>
                <a:tc>
                  <a:txBody>
                    <a:bodyPr wrap="square"/>
                    <a:lstStyle/>
                    <a:p>
                      <a:pPr algn="ctr"/>
                      <a:r>
                        <a:rPr sz="1200" b="0">
                          <a:solidFill>
                            <a:srgbClr val="36393B"/>
                          </a:solidFill>
                        </a:rPr>
                        <a:t>–</a:t>
                      </a:r>
                    </a:p>
                  </a:txBody>
                  <a:tcPr marL="45720" marR="45720" marT="18288" marB="18288" anchor="ctr">
                    <a:solidFill>
                      <a:srgbClr val="FFFFFF"/>
                    </a:solidFill>
                  </a:tcPr>
                </a:tc>
              </a:tr>
              <a:tr h="347472">
                <a:tc>
                  <a:txBody>
                    <a:bodyPr wrap="square"/>
                    <a:lstStyle/>
                    <a:p>
                      <a:pPr algn="l"/>
                      <a:r>
                        <a:rPr sz="1200" b="0">
                          <a:solidFill>
                            <a:srgbClr val="36393B"/>
                          </a:solidFill>
                        </a:rPr>
                        <a:t>Stoch + BB (redundant)</a:t>
                      </a:r>
                    </a:p>
                  </a:txBody>
                  <a:tcPr marL="45720" marR="45720" marT="18288" marB="18288" anchor="ctr">
                    <a:solidFill>
                      <a:srgbClr val="F4FEFB"/>
                    </a:solidFill>
                  </a:tcPr>
                </a:tc>
                <a:tc>
                  <a:txBody>
                    <a:bodyPr wrap="square"/>
                    <a:lstStyle/>
                    <a:p>
                      <a:pPr algn="ctr"/>
                      <a:r>
                        <a:rPr sz="1200" b="0">
                          <a:solidFill>
                            <a:srgbClr val="36393B"/>
                          </a:solidFill>
                        </a:rPr>
                        <a:t>249</a:t>
                      </a:r>
                    </a:p>
                  </a:txBody>
                  <a:tcPr marL="45720" marR="45720" marT="18288" marB="18288" anchor="ctr">
                    <a:solidFill>
                      <a:srgbClr val="F4FEFB"/>
                    </a:solidFill>
                  </a:tcPr>
                </a:tc>
                <a:tc>
                  <a:txBody>
                    <a:bodyPr wrap="square"/>
                    <a:lstStyle/>
                    <a:p>
                      <a:pPr algn="ctr"/>
                      <a:r>
                        <a:rPr sz="1200" b="0">
                          <a:solidFill>
                            <a:srgbClr val="36393B"/>
                          </a:solidFill>
                        </a:rPr>
                        <a:t>54%</a:t>
                      </a:r>
                    </a:p>
                  </a:txBody>
                  <a:tcPr marL="45720" marR="45720" marT="18288" marB="18288" anchor="ctr">
                    <a:solidFill>
                      <a:srgbClr val="F4FEFB"/>
                    </a:solidFill>
                  </a:tcPr>
                </a:tc>
                <a:tc>
                  <a:txBody>
                    <a:bodyPr wrap="square"/>
                    <a:lstStyle/>
                    <a:p>
                      <a:pPr algn="ctr"/>
                      <a:r>
                        <a:rPr sz="1200" b="0">
                          <a:solidFill>
                            <a:srgbClr val="36393B"/>
                          </a:solidFill>
                        </a:rPr>
                        <a:t>-0.03</a:t>
                      </a:r>
                    </a:p>
                  </a:txBody>
                  <a:tcPr marL="45720" marR="45720" marT="18288" marB="18288" anchor="ctr">
                    <a:solidFill>
                      <a:srgbClr val="F4FEFB"/>
                    </a:solidFill>
                  </a:tcPr>
                </a:tc>
              </a:tr>
              <a:tr h="347472">
                <a:tc>
                  <a:txBody>
                    <a:bodyPr wrap="square"/>
                    <a:lstStyle/>
                    <a:p>
                      <a:pPr algn="l"/>
                      <a:r>
                        <a:rPr sz="1200" b="0">
                          <a:solidFill>
                            <a:srgbClr val="36393B"/>
                          </a:solidFill>
                        </a:rPr>
                        <a:t>CCI &lt; −100 (redundant)</a:t>
                      </a:r>
                    </a:p>
                  </a:txBody>
                  <a:tcPr marL="45720" marR="45720" marT="18288" marB="18288" anchor="ctr">
                    <a:solidFill>
                      <a:srgbClr val="FFFFFF"/>
                    </a:solidFill>
                  </a:tcPr>
                </a:tc>
                <a:tc>
                  <a:txBody>
                    <a:bodyPr wrap="square"/>
                    <a:lstStyle/>
                    <a:p>
                      <a:pPr algn="ctr"/>
                      <a:r>
                        <a:rPr sz="1200" b="0">
                          <a:solidFill>
                            <a:srgbClr val="36393B"/>
                          </a:solidFill>
                        </a:rPr>
                        <a:t>356</a:t>
                      </a:r>
                    </a:p>
                  </a:txBody>
                  <a:tcPr marL="45720" marR="45720" marT="18288" marB="18288" anchor="ctr">
                    <a:solidFill>
                      <a:srgbClr val="FFFFFF"/>
                    </a:solidFill>
                  </a:tcPr>
                </a:tc>
                <a:tc>
                  <a:txBody>
                    <a:bodyPr wrap="square"/>
                    <a:lstStyle/>
                    <a:p>
                      <a:pPr algn="ctr"/>
                      <a:r>
                        <a:rPr sz="1200" b="0">
                          <a:solidFill>
                            <a:srgbClr val="36393B"/>
                          </a:solidFill>
                        </a:rPr>
                        <a:t>54%</a:t>
                      </a:r>
                    </a:p>
                  </a:txBody>
                  <a:tcPr marL="45720" marR="45720" marT="18288" marB="18288" anchor="ctr">
                    <a:solidFill>
                      <a:srgbClr val="FFFFFF"/>
                    </a:solidFill>
                  </a:tcPr>
                </a:tc>
                <a:tc>
                  <a:txBody>
                    <a:bodyPr wrap="square"/>
                    <a:lstStyle/>
                    <a:p>
                      <a:pPr algn="ctr"/>
                      <a:r>
                        <a:rPr sz="1200" b="0">
                          <a:solidFill>
                            <a:srgbClr val="36393B"/>
                          </a:solidFill>
                        </a:rPr>
                        <a:t>0.16</a:t>
                      </a:r>
                    </a:p>
                  </a:txBody>
                  <a:tcPr marL="45720" marR="45720" marT="18288" marB="18288" anchor="ctr">
                    <a:solidFill>
                      <a:srgbClr val="FFFFFF"/>
                    </a:solidFill>
                  </a:tcPr>
                </a:tc>
              </a:tr>
              <a:tr h="347472">
                <a:tc>
                  <a:txBody>
                    <a:bodyPr wrap="square"/>
                    <a:lstStyle/>
                    <a:p>
                      <a:pPr algn="l"/>
                      <a:r>
                        <a:rPr sz="1200" b="0">
                          <a:solidFill>
                            <a:srgbClr val="36393B"/>
                          </a:solidFill>
                        </a:rPr>
                        <a:t>OBV &gt; its EMA (volume)</a:t>
                      </a:r>
                    </a:p>
                  </a:txBody>
                  <a:tcPr marL="45720" marR="45720" marT="18288" marB="18288" anchor="ctr">
                    <a:solidFill>
                      <a:srgbClr val="F4FEFB"/>
                    </a:solidFill>
                  </a:tcPr>
                </a:tc>
                <a:tc>
                  <a:txBody>
                    <a:bodyPr wrap="square"/>
                    <a:lstStyle/>
                    <a:p>
                      <a:pPr algn="ctr"/>
                      <a:r>
                        <a:rPr sz="1200" b="0">
                          <a:solidFill>
                            <a:srgbClr val="36393B"/>
                          </a:solidFill>
                        </a:rPr>
                        <a:t>62</a:t>
                      </a:r>
                    </a:p>
                  </a:txBody>
                  <a:tcPr marL="45720" marR="45720" marT="18288" marB="18288" anchor="ctr">
                    <a:solidFill>
                      <a:srgbClr val="F4FEFB"/>
                    </a:solidFill>
                  </a:tcPr>
                </a:tc>
                <a:tc>
                  <a:txBody>
                    <a:bodyPr wrap="square"/>
                    <a:lstStyle/>
                    <a:p>
                      <a:pPr algn="ctr"/>
                      <a:r>
                        <a:rPr sz="1200" b="0">
                          <a:solidFill>
                            <a:srgbClr val="36393B"/>
                          </a:solidFill>
                        </a:rPr>
                        <a:t>63%</a:t>
                      </a:r>
                    </a:p>
                  </a:txBody>
                  <a:tcPr marL="45720" marR="45720" marT="18288" marB="18288" anchor="ctr">
                    <a:solidFill>
                      <a:srgbClr val="F4FEFB"/>
                    </a:solidFill>
                  </a:tcPr>
                </a:tc>
                <a:tc>
                  <a:txBody>
                    <a:bodyPr wrap="square"/>
                    <a:lstStyle/>
                    <a:p>
                      <a:pPr algn="ctr"/>
                      <a:r>
                        <a:rPr sz="1200" b="0">
                          <a:solidFill>
                            <a:srgbClr val="36393B"/>
                          </a:solidFill>
                        </a:rPr>
                        <a:t>1.33</a:t>
                      </a:r>
                    </a:p>
                  </a:txBody>
                  <a:tcPr marL="45720" marR="45720" marT="18288" marB="18288" anchor="ctr">
                    <a:solidFill>
                      <a:srgbClr val="F4FEFB"/>
                    </a:solidFill>
                  </a:tcPr>
                </a:tc>
              </a:tr>
            </a:tbl>
          </a:graphicData>
        </a:graphic>
      </p:graphicFrame>
      <p:sp>
        <p:nvSpPr>
          <p:cNvPr id="42" name="TextBox 41"/>
          <p:cNvSpPr txBox="1"/>
          <p:nvPr/>
        </p:nvSpPr>
        <p:spPr>
          <a:xfrm>
            <a:off x="6263640" y="1325880"/>
            <a:ext cx="5029200" cy="274320"/>
          </a:xfrm>
          <a:prstGeom prst="rect">
            <a:avLst/>
          </a:prstGeom>
          <a:noFill/>
        </p:spPr>
        <p:txBody>
          <a:bodyPr wrap="square" anchor="t" lIns="36576" rIns="36576" tIns="18288" bIns="18288">
            <a:spAutoFit/>
          </a:bodyPr>
          <a:lstStyle/>
          <a:p>
            <a:pPr algn="l">
              <a:spcAft>
                <a:spcPts val="300"/>
              </a:spcAft>
            </a:pPr>
            <a:r>
              <a:rPr sz="1100" b="0">
                <a:solidFill>
                  <a:srgbClr val="0E8C74"/>
                </a:solidFill>
                <a:latin typeface="+mj-lt"/>
              </a:rPr>
              <a:t>OVERCONFIDENCE</a:t>
            </a:r>
          </a:p>
        </p:txBody>
      </p:sp>
      <p:graphicFrame>
        <p:nvGraphicFramePr>
          <p:cNvPr id="43" name="Chart 42"/>
          <p:cNvGraphicFramePr>
            <a:graphicFrameLocks noGrp="1"/>
          </p:cNvGraphicFramePr>
          <p:nvPr/>
        </p:nvGraphicFramePr>
        <p:xfrm>
          <a:off x="6172200" y="1600200"/>
          <a:ext cx="5166360" cy="2788920"/>
        </p:xfrm>
        <a:graphic>
          <a:graphicData uri="http://schemas.openxmlformats.org/drawingml/2006/chart">
            <c:chart xmlns:c="http://schemas.openxmlformats.org/drawingml/2006/chart" r:id="rId4"/>
          </a:graphicData>
        </a:graphic>
      </p:graphicFrame>
      <p:sp>
        <p:nvSpPr>
          <p:cNvPr id="44" name="TextBox 43"/>
          <p:cNvSpPr txBox="1"/>
          <p:nvPr/>
        </p:nvSpPr>
        <p:spPr>
          <a:xfrm>
            <a:off x="6263640" y="4526280"/>
            <a:ext cx="5029200" cy="1737360"/>
          </a:xfrm>
          <a:prstGeom prst="rect">
            <a:avLst/>
          </a:prstGeom>
          <a:noFill/>
        </p:spPr>
        <p:txBody>
          <a:bodyPr wrap="square" anchor="t" lIns="36576" rIns="36576" tIns="18288" bIns="18288">
            <a:spAutoFit/>
          </a:bodyPr>
          <a:lstStyle/>
          <a:p>
            <a:pPr algn="l" marL="171450" indent="-171450">
              <a:spcAft>
                <a:spcPts val="400"/>
              </a:spcAft>
              <a:buFont typeface="Arial"/>
              <a:buChar char="•"/>
            </a:pPr>
            <a:r>
              <a:rPr sz="1200" b="0">
                <a:solidFill>
                  <a:srgbClr val="36393B"/>
                </a:solidFill>
              </a:rPr>
              <a:t>Promised 0.33, delivered -0.02; worse on 6 of 7 stocks</a:t>
            </a:r>
          </a:p>
          <a:p>
            <a:pPr algn="l" marL="171450" indent="-171450">
              <a:spcAft>
                <a:spcPts val="400"/>
              </a:spcAft>
              <a:buFont typeface="Arial"/>
              <a:buChar char="•"/>
            </a:pPr>
            <a:r>
              <a:rPr sz="1200" b="0">
                <a:solidFill>
                  <a:srgbClr val="36393B"/>
                </a:solidFill>
              </a:rPr>
              <a:t>The untuned rule fell as far (0.12 → -0.35): a regime change, not just overfitting</a:t>
            </a:r>
          </a:p>
          <a:p>
            <a:pPr algn="l" marL="171450" indent="-171450">
              <a:spcAft>
                <a:spcPts val="400"/>
              </a:spcAft>
              <a:buFont typeface="Arial"/>
              <a:buChar char="•"/>
            </a:pPr>
            <a:r>
              <a:rPr sz="1200" b="0">
                <a:solidFill>
                  <a:srgbClr val="36393B"/>
                </a:solidFill>
              </a:rPr>
              <a:t>No hot hand: 51% wins after 3 wins vs 53% overall (z = -0.3)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Anchoring adds months of risk; patterns match their base rates</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Ayushi</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Anchoring sample = Strategy B losers (n = 129); survivorship flatters the breakeven anchor. Shefrin &amp; Statman (1985); Tversky &amp; Kahneman (1974)</a:t>
            </a:r>
          </a:p>
        </p:txBody>
      </p:sp>
      <p:sp>
        <p:nvSpPr>
          <p:cNvPr id="39" name="TextBox 38"/>
          <p:cNvSpPr txBox="1"/>
          <p:nvPr/>
        </p:nvSpPr>
        <p:spPr>
          <a:xfrm>
            <a:off x="850392" y="1325880"/>
            <a:ext cx="5029200" cy="274320"/>
          </a:xfrm>
          <a:prstGeom prst="rect">
            <a:avLst/>
          </a:prstGeom>
          <a:noFill/>
        </p:spPr>
        <p:txBody>
          <a:bodyPr wrap="square" anchor="t" lIns="36576" rIns="36576" tIns="18288" bIns="18288">
            <a:spAutoFit/>
          </a:bodyPr>
          <a:lstStyle/>
          <a:p>
            <a:pPr algn="l">
              <a:spcAft>
                <a:spcPts val="300"/>
              </a:spcAft>
            </a:pPr>
            <a:r>
              <a:rPr sz="1100" b="0">
                <a:solidFill>
                  <a:srgbClr val="0E8C74"/>
                </a:solidFill>
                <a:latin typeface="+mj-lt"/>
              </a:rPr>
              <a:t>ANCHORING</a:t>
            </a:r>
          </a:p>
        </p:txBody>
      </p:sp>
      <p:graphicFrame>
        <p:nvGraphicFramePr>
          <p:cNvPr id="40" name="Chart 39"/>
          <p:cNvGraphicFramePr>
            <a:graphicFrameLocks noGrp="1"/>
          </p:cNvGraphicFramePr>
          <p:nvPr/>
        </p:nvGraphicFramePr>
        <p:xfrm>
          <a:off x="777240" y="1600200"/>
          <a:ext cx="5212080" cy="3017520"/>
        </p:xfrm>
        <a:graphic>
          <a:graphicData uri="http://schemas.openxmlformats.org/drawingml/2006/chart">
            <c:chart xmlns:c="http://schemas.openxmlformats.org/drawingml/2006/chart" r:id="rId3"/>
          </a:graphicData>
        </a:graphic>
      </p:graphicFrame>
      <p:sp>
        <p:nvSpPr>
          <p:cNvPr id="41" name="TextBox 40"/>
          <p:cNvSpPr txBox="1"/>
          <p:nvPr/>
        </p:nvSpPr>
        <p:spPr>
          <a:xfrm>
            <a:off x="850392" y="4754880"/>
            <a:ext cx="5074920" cy="1508760"/>
          </a:xfrm>
          <a:prstGeom prst="rect">
            <a:avLst/>
          </a:prstGeom>
          <a:noFill/>
        </p:spPr>
        <p:txBody>
          <a:bodyPr wrap="square" anchor="t" lIns="36576" rIns="36576" tIns="18288" bIns="18288">
            <a:spAutoFit/>
          </a:bodyPr>
          <a:lstStyle/>
          <a:p>
            <a:pPr algn="l" marL="171450" indent="-171450">
              <a:spcAft>
                <a:spcPts val="400"/>
              </a:spcAft>
              <a:buFont typeface="Arial"/>
              <a:buChar char="•"/>
            </a:pPr>
            <a:r>
              <a:rPr sz="1200" b="0">
                <a:solidFill>
                  <a:srgbClr val="36393B"/>
                </a:solidFill>
              </a:rPr>
              <a:t>+67 sessions held per trade, about 4.5× the horizon</a:t>
            </a:r>
          </a:p>
          <a:p>
            <a:pPr algn="l" marL="171450" indent="-171450">
              <a:spcAft>
                <a:spcPts val="400"/>
              </a:spcAft>
              <a:buFont typeface="Arial"/>
              <a:buChar char="•"/>
            </a:pPr>
            <a:r>
              <a:rPr sz="1200" b="0">
                <a:solidFill>
                  <a:srgbClr val="36393B"/>
                </a:solidFill>
              </a:rPr>
              <a:t>15% never recovered within a year</a:t>
            </a:r>
          </a:p>
          <a:p>
            <a:pPr algn="l" marL="171450" indent="-171450">
              <a:spcAft>
                <a:spcPts val="400"/>
              </a:spcAft>
              <a:buFont typeface="Arial"/>
              <a:buChar char="•"/>
            </a:pPr>
            <a:r>
              <a:rPr sz="1200" b="0">
                <a:solidFill>
                  <a:srgbClr val="36393B"/>
                </a:solidFill>
              </a:rPr>
              <a:t>Pine: Bias Lab mode 3 shades the 'disposition zone'</a:t>
            </a:r>
          </a:p>
        </p:txBody>
      </p:sp>
      <p:sp>
        <p:nvSpPr>
          <p:cNvPr id="42" name="TextBox 41"/>
          <p:cNvSpPr txBox="1"/>
          <p:nvPr/>
        </p:nvSpPr>
        <p:spPr>
          <a:xfrm>
            <a:off x="6263640" y="1325880"/>
            <a:ext cx="5029200" cy="274320"/>
          </a:xfrm>
          <a:prstGeom prst="rect">
            <a:avLst/>
          </a:prstGeom>
          <a:noFill/>
        </p:spPr>
        <p:txBody>
          <a:bodyPr wrap="square" anchor="t" lIns="36576" rIns="36576" tIns="18288" bIns="18288">
            <a:spAutoFit/>
          </a:bodyPr>
          <a:lstStyle/>
          <a:p>
            <a:pPr algn="l">
              <a:spcAft>
                <a:spcPts val="300"/>
              </a:spcAft>
            </a:pPr>
            <a:r>
              <a:rPr sz="1100" b="0">
                <a:solidFill>
                  <a:srgbClr val="0E8C74"/>
                </a:solidFill>
                <a:latin typeface="+mj-lt"/>
              </a:rPr>
              <a:t>REPRESENTATIVENESS</a:t>
            </a:r>
          </a:p>
        </p:txBody>
      </p:sp>
      <p:graphicFrame>
        <p:nvGraphicFramePr>
          <p:cNvPr id="43" name="Chart 42"/>
          <p:cNvGraphicFramePr>
            <a:graphicFrameLocks noGrp="1"/>
          </p:cNvGraphicFramePr>
          <p:nvPr/>
        </p:nvGraphicFramePr>
        <p:xfrm>
          <a:off x="6172200" y="1600200"/>
          <a:ext cx="5166360" cy="3017520"/>
        </p:xfrm>
        <a:graphic>
          <a:graphicData uri="http://schemas.openxmlformats.org/drawingml/2006/chart">
            <c:chart xmlns:c="http://schemas.openxmlformats.org/drawingml/2006/chart" r:id="rId4"/>
          </a:graphicData>
        </a:graphic>
      </p:graphicFrame>
      <p:sp>
        <p:nvSpPr>
          <p:cNvPr id="44" name="TextBox 43"/>
          <p:cNvSpPr txBox="1"/>
          <p:nvPr/>
        </p:nvSpPr>
        <p:spPr>
          <a:xfrm>
            <a:off x="6263640" y="4754880"/>
            <a:ext cx="5029200" cy="1508760"/>
          </a:xfrm>
          <a:prstGeom prst="rect">
            <a:avLst/>
          </a:prstGeom>
          <a:noFill/>
        </p:spPr>
        <p:txBody>
          <a:bodyPr wrap="square" anchor="t" lIns="36576" rIns="36576" tIns="18288" bIns="18288">
            <a:spAutoFit/>
          </a:bodyPr>
          <a:lstStyle/>
          <a:p>
            <a:pPr algn="l" marL="171450" indent="-171450">
              <a:spcAft>
                <a:spcPts val="400"/>
              </a:spcAft>
              <a:buFont typeface="Arial"/>
              <a:buChar char="•"/>
            </a:pPr>
            <a:r>
              <a:rPr sz="1200" b="0">
                <a:solidFill>
                  <a:srgbClr val="36393B"/>
                </a:solidFill>
              </a:rPr>
              <a:t>t vs base rate: 0.6, 0.5 and -1.4: none significant</a:t>
            </a:r>
          </a:p>
          <a:p>
            <a:pPr algn="l" marL="171450" indent="-171450">
              <a:spcAft>
                <a:spcPts val="400"/>
              </a:spcAft>
              <a:buFont typeface="Arial"/>
              <a:buChar char="•"/>
            </a:pPr>
            <a:r>
              <a:rPr sz="1200" b="0">
                <a:solidFill>
                  <a:srgbClr val="36393B"/>
                </a:solidFill>
              </a:rPr>
              <a:t>Strategy C's first 5 trades overstated its win rate on 5 of 7 stocks</a:t>
            </a:r>
          </a:p>
          <a:p>
            <a:pPr algn="l" marL="171450" indent="-171450">
              <a:spcAft>
                <a:spcPts val="400"/>
              </a:spcAft>
              <a:buFont typeface="Arial"/>
              <a:buChar char="•"/>
            </a:pPr>
            <a:r>
              <a:rPr sz="1200" b="0">
                <a:solidFill>
                  <a:srgbClr val="36393B"/>
                </a:solidFill>
              </a:rPr>
              <a:t>Pine: Bias Lab mode 4 prints the base rate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Chasing winners was a coin toss; slow rules sold near the bottom</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Ayushi</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Recency: monthly switch on trailing 3-month return. Conservatism: averages over the pre-COVID peaks of the 5–6 stocks still bullish at the peak (one event). Greenwood &amp; Shleifer (2014); Edwards (1968)</a:t>
            </a:r>
          </a:p>
        </p:txBody>
      </p:sp>
      <p:sp>
        <p:nvSpPr>
          <p:cNvPr id="39" name="TextBox 38"/>
          <p:cNvSpPr txBox="1"/>
          <p:nvPr/>
        </p:nvSpPr>
        <p:spPr>
          <a:xfrm>
            <a:off x="850392" y="1325880"/>
            <a:ext cx="5029200" cy="274320"/>
          </a:xfrm>
          <a:prstGeom prst="rect">
            <a:avLst/>
          </a:prstGeom>
          <a:noFill/>
        </p:spPr>
        <p:txBody>
          <a:bodyPr wrap="square" anchor="t" lIns="36576" rIns="36576" tIns="18288" bIns="18288">
            <a:spAutoFit/>
          </a:bodyPr>
          <a:lstStyle/>
          <a:p>
            <a:pPr algn="l">
              <a:spcAft>
                <a:spcPts val="300"/>
              </a:spcAft>
            </a:pPr>
            <a:r>
              <a:rPr sz="1100" b="0">
                <a:solidFill>
                  <a:srgbClr val="0E8C74"/>
                </a:solidFill>
                <a:latin typeface="+mj-lt"/>
              </a:rPr>
              <a:t>RECENCY (EVIDENCE: MIXED)</a:t>
            </a:r>
          </a:p>
        </p:txBody>
      </p:sp>
      <p:graphicFrame>
        <p:nvGraphicFramePr>
          <p:cNvPr id="40" name="Chart 39"/>
          <p:cNvGraphicFramePr>
            <a:graphicFrameLocks noGrp="1"/>
          </p:cNvGraphicFramePr>
          <p:nvPr/>
        </p:nvGraphicFramePr>
        <p:xfrm>
          <a:off x="777240" y="1600200"/>
          <a:ext cx="5212080" cy="3017520"/>
        </p:xfrm>
        <a:graphic>
          <a:graphicData uri="http://schemas.openxmlformats.org/drawingml/2006/chart">
            <c:chart xmlns:c="http://schemas.openxmlformats.org/drawingml/2006/chart" r:id="rId3"/>
          </a:graphicData>
        </a:graphic>
      </p:graphicFrame>
      <p:sp>
        <p:nvSpPr>
          <p:cNvPr id="41" name="TextBox 40"/>
          <p:cNvSpPr txBox="1"/>
          <p:nvPr/>
        </p:nvSpPr>
        <p:spPr>
          <a:xfrm>
            <a:off x="850392" y="4754880"/>
            <a:ext cx="5074920" cy="1508760"/>
          </a:xfrm>
          <a:prstGeom prst="rect">
            <a:avLst/>
          </a:prstGeom>
          <a:noFill/>
        </p:spPr>
        <p:txBody>
          <a:bodyPr wrap="square" anchor="t" lIns="36576" rIns="36576" tIns="18288" bIns="18288">
            <a:spAutoFit/>
          </a:bodyPr>
          <a:lstStyle/>
          <a:p>
            <a:pPr algn="l" marL="171450" indent="-171450">
              <a:spcAft>
                <a:spcPts val="400"/>
              </a:spcAft>
              <a:buFont typeface="Arial"/>
              <a:buChar char="•"/>
            </a:pPr>
            <a:r>
              <a:rPr sz="1200" b="0">
                <a:solidFill>
                  <a:srgbClr val="36393B"/>
                </a:solidFill>
              </a:rPr>
              <a:t>Chasing lowered excess Sharpe on 4 of 7 stocks: no consistent effect</a:t>
            </a:r>
          </a:p>
          <a:p>
            <a:pPr algn="l" marL="171450" indent="-171450">
              <a:spcAft>
                <a:spcPts val="400"/>
              </a:spcAft>
              <a:buFont typeface="Arial"/>
              <a:buChar char="•"/>
            </a:pPr>
            <a:r>
              <a:rPr sz="1200" b="0">
                <a:solidFill>
                  <a:srgbClr val="36393B"/>
                </a:solidFill>
              </a:rPr>
              <a:t>Short look-backs whipsaw: EMA 5/10 crosses 21× a year; each round trip costs 0.3%</a:t>
            </a:r>
          </a:p>
          <a:p>
            <a:pPr algn="l" marL="171450" indent="-171450">
              <a:spcAft>
                <a:spcPts val="400"/>
              </a:spcAft>
              <a:buFont typeface="Arial"/>
              <a:buChar char="•"/>
            </a:pPr>
            <a:r>
              <a:rPr sz="1200" b="0">
                <a:solidFill>
                  <a:srgbClr val="36393B"/>
                </a:solidFill>
              </a:rPr>
              <a:t>Pine: Bias Lab mode 5</a:t>
            </a:r>
          </a:p>
        </p:txBody>
      </p:sp>
      <p:sp>
        <p:nvSpPr>
          <p:cNvPr id="42" name="TextBox 41"/>
          <p:cNvSpPr txBox="1"/>
          <p:nvPr/>
        </p:nvSpPr>
        <p:spPr>
          <a:xfrm>
            <a:off x="6263640" y="1325880"/>
            <a:ext cx="5029200" cy="274320"/>
          </a:xfrm>
          <a:prstGeom prst="rect">
            <a:avLst/>
          </a:prstGeom>
          <a:noFill/>
        </p:spPr>
        <p:txBody>
          <a:bodyPr wrap="square" anchor="t" lIns="36576" rIns="36576" tIns="18288" bIns="18288">
            <a:spAutoFit/>
          </a:bodyPr>
          <a:lstStyle/>
          <a:p>
            <a:pPr algn="l">
              <a:spcAft>
                <a:spcPts val="300"/>
              </a:spcAft>
            </a:pPr>
            <a:r>
              <a:rPr sz="1100" b="0">
                <a:solidFill>
                  <a:srgbClr val="0E8C74"/>
                </a:solidFill>
                <a:latin typeface="+mj-lt"/>
              </a:rPr>
              <a:t>CONSERVATISM (EVIDENCE: SUGGESTIVE)</a:t>
            </a:r>
          </a:p>
        </p:txBody>
      </p:sp>
      <p:graphicFrame>
        <p:nvGraphicFramePr>
          <p:cNvPr id="43" name="Chart 42"/>
          <p:cNvGraphicFramePr>
            <a:graphicFrameLocks noGrp="1"/>
          </p:cNvGraphicFramePr>
          <p:nvPr/>
        </p:nvGraphicFramePr>
        <p:xfrm>
          <a:off x="6172200" y="1600200"/>
          <a:ext cx="5166360" cy="3017520"/>
        </p:xfrm>
        <a:graphic>
          <a:graphicData uri="http://schemas.openxmlformats.org/drawingml/2006/chart">
            <c:chart xmlns:c="http://schemas.openxmlformats.org/drawingml/2006/chart" r:id="rId4"/>
          </a:graphicData>
        </a:graphic>
      </p:graphicFrame>
      <p:sp>
        <p:nvSpPr>
          <p:cNvPr id="44" name="TextBox 43"/>
          <p:cNvSpPr txBox="1"/>
          <p:nvPr/>
        </p:nvSpPr>
        <p:spPr>
          <a:xfrm>
            <a:off x="6263640" y="4754880"/>
            <a:ext cx="5029200" cy="1508760"/>
          </a:xfrm>
          <a:prstGeom prst="rect">
            <a:avLst/>
          </a:prstGeom>
          <a:noFill/>
        </p:spPr>
        <p:txBody>
          <a:bodyPr wrap="square" anchor="t" lIns="36576" rIns="36576" tIns="18288" bIns="18288">
            <a:spAutoFit/>
          </a:bodyPr>
          <a:lstStyle/>
          <a:p>
            <a:pPr algn="l" marL="171450" indent="-171450">
              <a:spcAft>
                <a:spcPts val="400"/>
              </a:spcAft>
              <a:buFont typeface="Arial"/>
              <a:buChar char="•"/>
            </a:pPr>
            <a:r>
              <a:rPr sz="1200" b="0">
                <a:solidFill>
                  <a:srgbClr val="36393B"/>
                </a:solidFill>
              </a:rPr>
              <a:t>Fast rules: within about a week, ~5–7% down</a:t>
            </a:r>
          </a:p>
          <a:p>
            <a:pPr algn="l" marL="171450" indent="-171450">
              <a:spcAft>
                <a:spcPts val="400"/>
              </a:spcAft>
              <a:buFont typeface="Arial"/>
              <a:buChar char="•"/>
            </a:pPr>
            <a:r>
              <a:rPr sz="1200" b="0">
                <a:solidFill>
                  <a:srgbClr val="36393B"/>
                </a:solidFill>
              </a:rPr>
              <a:t>Death cross: 38 sessions, 34% down: near the bottom</a:t>
            </a:r>
          </a:p>
          <a:p>
            <a:pPr algn="l" marL="171450" indent="-171450">
              <a:spcAft>
                <a:spcPts val="400"/>
              </a:spcAft>
              <a:buFont typeface="Arial"/>
              <a:buChar char="•"/>
            </a:pPr>
            <a:r>
              <a:rPr sz="1200" b="0">
                <a:solidFill>
                  <a:srgbClr val="36393B"/>
                </a:solidFill>
              </a:rPr>
              <a:t>Pine: Bias Lab mode 6 shades the lag zone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Visible breakouts lag; late entry hurt, but not significantly</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Ayushi</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Volume spike = volume &gt; 2× 20-day average with a gain &gt; 3%. Welch t vs the average day. Bikhchandani et al. (1992); Przybylski et al. (2013)</a:t>
            </a:r>
          </a:p>
        </p:txBody>
      </p:sp>
      <p:sp>
        <p:nvSpPr>
          <p:cNvPr id="39" name="TextBox 38"/>
          <p:cNvSpPr txBox="1"/>
          <p:nvPr/>
        </p:nvSpPr>
        <p:spPr>
          <a:xfrm>
            <a:off x="850392" y="1325880"/>
            <a:ext cx="5029200" cy="274320"/>
          </a:xfrm>
          <a:prstGeom prst="rect">
            <a:avLst/>
          </a:prstGeom>
          <a:noFill/>
        </p:spPr>
        <p:txBody>
          <a:bodyPr wrap="square" anchor="t" lIns="36576" rIns="36576" tIns="18288" bIns="18288">
            <a:spAutoFit/>
          </a:bodyPr>
          <a:lstStyle/>
          <a:p>
            <a:pPr algn="l">
              <a:spcAft>
                <a:spcPts val="300"/>
              </a:spcAft>
            </a:pPr>
            <a:r>
              <a:rPr sz="1100" b="0">
                <a:solidFill>
                  <a:srgbClr val="0E8C74"/>
                </a:solidFill>
                <a:latin typeface="+mj-lt"/>
              </a:rPr>
              <a:t>HERDING (EVIDENCE: SUGGESTIVE)</a:t>
            </a:r>
          </a:p>
        </p:txBody>
      </p:sp>
      <p:graphicFrame>
        <p:nvGraphicFramePr>
          <p:cNvPr id="40" name="Chart 39"/>
          <p:cNvGraphicFramePr>
            <a:graphicFrameLocks noGrp="1"/>
          </p:cNvGraphicFramePr>
          <p:nvPr/>
        </p:nvGraphicFramePr>
        <p:xfrm>
          <a:off x="777240" y="1600200"/>
          <a:ext cx="5212080" cy="3017520"/>
        </p:xfrm>
        <a:graphic>
          <a:graphicData uri="http://schemas.openxmlformats.org/drawingml/2006/chart">
            <c:chart xmlns:c="http://schemas.openxmlformats.org/drawingml/2006/chart" r:id="rId3"/>
          </a:graphicData>
        </a:graphic>
      </p:graphicFrame>
      <p:sp>
        <p:nvSpPr>
          <p:cNvPr id="41" name="TextBox 40"/>
          <p:cNvSpPr txBox="1"/>
          <p:nvPr/>
        </p:nvSpPr>
        <p:spPr>
          <a:xfrm>
            <a:off x="850392" y="4754880"/>
            <a:ext cx="5074920" cy="1508760"/>
          </a:xfrm>
          <a:prstGeom prst="rect">
            <a:avLst/>
          </a:prstGeom>
          <a:noFill/>
        </p:spPr>
        <p:txBody>
          <a:bodyPr wrap="square" anchor="t" lIns="36576" rIns="36576" tIns="18288" bIns="18288">
            <a:spAutoFit/>
          </a:bodyPr>
          <a:lstStyle/>
          <a:p>
            <a:pPr algn="l" marL="171450" indent="-171450">
              <a:spcAft>
                <a:spcPts val="400"/>
              </a:spcAft>
              <a:buFont typeface="Arial"/>
              <a:buChar char="•"/>
            </a:pPr>
            <a:r>
              <a:rPr sz="1200" b="0">
                <a:solidFill>
                  <a:srgbClr val="36393B"/>
                </a:solidFill>
              </a:rPr>
              <a:t>Donchian breakout vs any day: t = -2.2 at 10 days (n = 987)</a:t>
            </a:r>
          </a:p>
          <a:p>
            <a:pPr algn="l" marL="171450" indent="-171450">
              <a:spcAft>
                <a:spcPts val="400"/>
              </a:spcAft>
              <a:buFont typeface="Arial"/>
              <a:buChar char="•"/>
            </a:pPr>
            <a:r>
              <a:rPr sz="1200" b="0">
                <a:solidFill>
                  <a:srgbClr val="36393B"/>
                </a:solidFill>
              </a:rPr>
              <a:t>5 / 20 days: t = -1.5 / -0.9; volume spikes t = -1.8 / -0.8</a:t>
            </a:r>
          </a:p>
          <a:p>
            <a:pPr algn="l" marL="171450" indent="-171450">
              <a:spcAft>
                <a:spcPts val="400"/>
              </a:spcAft>
              <a:buFont typeface="Arial"/>
              <a:buChar char="•"/>
            </a:pPr>
            <a:r>
              <a:rPr sz="1200" b="0">
                <a:solidFill>
                  <a:srgbClr val="36393B"/>
                </a:solidFill>
              </a:rPr>
              <a:t>Pine: Bias Lab mode 7 counts 7-stock breadth</a:t>
            </a:r>
          </a:p>
        </p:txBody>
      </p:sp>
      <p:sp>
        <p:nvSpPr>
          <p:cNvPr id="42" name="TextBox 41"/>
          <p:cNvSpPr txBox="1"/>
          <p:nvPr/>
        </p:nvSpPr>
        <p:spPr>
          <a:xfrm>
            <a:off x="6263640" y="1325880"/>
            <a:ext cx="5029200" cy="274320"/>
          </a:xfrm>
          <a:prstGeom prst="rect">
            <a:avLst/>
          </a:prstGeom>
          <a:noFill/>
        </p:spPr>
        <p:txBody>
          <a:bodyPr wrap="square" anchor="t" lIns="36576" rIns="36576" tIns="18288" bIns="18288">
            <a:spAutoFit/>
          </a:bodyPr>
          <a:lstStyle/>
          <a:p>
            <a:pPr algn="l">
              <a:spcAft>
                <a:spcPts val="300"/>
              </a:spcAft>
            </a:pPr>
            <a:r>
              <a:rPr sz="1100" b="0">
                <a:solidFill>
                  <a:srgbClr val="0E8C74"/>
                </a:solidFill>
                <a:latin typeface="+mj-lt"/>
              </a:rPr>
              <a:t>FOMO (EVIDENCE: NOT SUPPORTED)</a:t>
            </a:r>
          </a:p>
        </p:txBody>
      </p:sp>
      <p:graphicFrame>
        <p:nvGraphicFramePr>
          <p:cNvPr id="43" name="Chart 42"/>
          <p:cNvGraphicFramePr>
            <a:graphicFrameLocks noGrp="1"/>
          </p:cNvGraphicFramePr>
          <p:nvPr/>
        </p:nvGraphicFramePr>
        <p:xfrm>
          <a:off x="6172200" y="1600200"/>
          <a:ext cx="5166360" cy="3017520"/>
        </p:xfrm>
        <a:graphic>
          <a:graphicData uri="http://schemas.openxmlformats.org/drawingml/2006/chart">
            <c:chart xmlns:c="http://schemas.openxmlformats.org/drawingml/2006/chart" r:id="rId4"/>
          </a:graphicData>
        </a:graphic>
      </p:graphicFrame>
      <p:sp>
        <p:nvSpPr>
          <p:cNvPr id="44" name="TextBox 43"/>
          <p:cNvSpPr txBox="1"/>
          <p:nvPr/>
        </p:nvSpPr>
        <p:spPr>
          <a:xfrm>
            <a:off x="6263640" y="4754880"/>
            <a:ext cx="5029200" cy="1508760"/>
          </a:xfrm>
          <a:prstGeom prst="rect">
            <a:avLst/>
          </a:prstGeom>
          <a:noFill/>
        </p:spPr>
        <p:txBody>
          <a:bodyPr wrap="square" anchor="t" lIns="36576" rIns="36576" tIns="18288" bIns="18288">
            <a:spAutoFit/>
          </a:bodyPr>
          <a:lstStyle/>
          <a:p>
            <a:pPr algn="l" marL="171450" indent="-171450">
              <a:spcAft>
                <a:spcPts val="400"/>
              </a:spcAft>
              <a:buFont typeface="Arial"/>
              <a:buChar char="•"/>
            </a:pPr>
            <a:r>
              <a:rPr sz="1200" b="0">
                <a:solidFill>
                  <a:srgbClr val="36393B"/>
                </a:solidFill>
              </a:rPr>
              <a:t>10 days late: −39% per trade, but t = 0.6 on 80 trades</a:t>
            </a:r>
          </a:p>
          <a:p>
            <a:pPr algn="l" marL="171450" indent="-171450">
              <a:spcAft>
                <a:spcPts val="400"/>
              </a:spcAft>
              <a:buFont typeface="Arial"/>
              <a:buChar char="•"/>
            </a:pPr>
            <a:r>
              <a:rPr sz="1200" b="0">
                <a:solidFill>
                  <a:srgbClr val="36393B"/>
                </a:solidFill>
              </a:rPr>
              <a:t>Extended entries (&gt; 1.5 ATR or RSI &gt; 70) did no worse</a:t>
            </a:r>
          </a:p>
          <a:p>
            <a:pPr algn="l" marL="171450" indent="-171450">
              <a:spcAft>
                <a:spcPts val="400"/>
              </a:spcAft>
              <a:buFont typeface="Arial"/>
              <a:buChar char="•"/>
            </a:pPr>
            <a:r>
              <a:rPr sz="1200" b="0">
                <a:solidFill>
                  <a:srgbClr val="36393B"/>
                </a:solidFill>
              </a:rPr>
              <a:t>Pine: Bias Lab mode 8 draws the 'chase 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Out-of-sample, the 60-day rule alone beat every combination</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Ayushi</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Out-of-sample = Jan 2022 – Sep 2026; rules chosen on 2015–21 only. Excess Sharpe ± one standard error. Pine file 18 reproduces the choice</a:t>
            </a:r>
          </a:p>
        </p:txBody>
      </p:sp>
      <p:graphicFrame>
        <p:nvGraphicFramePr>
          <p:cNvPr id="39" name="Table 38"/>
          <p:cNvGraphicFramePr>
            <a:graphicFrameLocks noGrp="1"/>
          </p:cNvGraphicFramePr>
          <p:nvPr/>
        </p:nvGraphicFramePr>
        <p:xfrm>
          <a:off x="850392" y="1371600"/>
          <a:ext cx="4434840" cy="3383280"/>
        </p:xfrm>
        <a:graphic>
          <a:graphicData uri="http://schemas.openxmlformats.org/drawingml/2006/table">
            <a:tbl>
              <a:tblPr firstRow="1" bandRow="0">
                <a:tableStyleId>{5C22544A-7EE6-4342-B048-85BDC9FD1C3A}</a:tableStyleId>
              </a:tblPr>
              <a:tblGrid>
                <a:gridCol w="1600200"/>
                <a:gridCol w="2834640"/>
              </a:tblGrid>
              <a:tr h="338328">
                <a:tc>
                  <a:txBody>
                    <a:bodyPr wrap="square"/>
                    <a:lstStyle/>
                    <a:p>
                      <a:pPr algn="l"/>
                      <a:r>
                        <a:rPr sz="950">
                          <a:solidFill>
                            <a:srgbClr val="36393B"/>
                          </a:solidFill>
                          <a:latin typeface="+mj-lt"/>
                        </a:rPr>
                        <a:t>BIAS</a:t>
                      </a:r>
                    </a:p>
                  </a:txBody>
                  <a:tcPr marL="45720" marR="45720" marT="18288" marB="18288" anchor="ctr">
                    <a:solidFill>
                      <a:srgbClr val="2BB399"/>
                    </a:solidFill>
                  </a:tcPr>
                </a:tc>
                <a:tc>
                  <a:txBody>
                    <a:bodyPr wrap="square"/>
                    <a:lstStyle/>
                    <a:p>
                      <a:pPr algn="l"/>
                      <a:r>
                        <a:rPr sz="950">
                          <a:solidFill>
                            <a:srgbClr val="36393B"/>
                          </a:solidFill>
                          <a:latin typeface="+mj-lt"/>
                        </a:rPr>
                        <a:t>RULE WRITTEN INTO CODE (FILE 18)</a:t>
                      </a:r>
                    </a:p>
                  </a:txBody>
                  <a:tcPr marL="45720" marR="45720" marT="18288" marB="18288" anchor="ctr">
                    <a:solidFill>
                      <a:srgbClr val="2BB399"/>
                    </a:solidFill>
                  </a:tcPr>
                </a:tc>
              </a:tr>
              <a:tr h="338328">
                <a:tc>
                  <a:txBody>
                    <a:bodyPr wrap="square"/>
                    <a:lstStyle/>
                    <a:p>
                      <a:pPr algn="l"/>
                      <a:r>
                        <a:rPr sz="1200" b="1">
                          <a:solidFill>
                            <a:srgbClr val="36393B"/>
                          </a:solidFill>
                        </a:rPr>
                        <a:t>Confirmation</a:t>
                      </a:r>
                    </a:p>
                  </a:txBody>
                  <a:tcPr marL="45720" marR="45720" marT="18288" marB="18288" anchor="ctr">
                    <a:solidFill>
                      <a:srgbClr val="FFFFFF"/>
                    </a:solidFill>
                  </a:tcPr>
                </a:tc>
                <a:tc>
                  <a:txBody>
                    <a:bodyPr wrap="square"/>
                    <a:lstStyle/>
                    <a:p>
                      <a:pPr algn="l"/>
                      <a:r>
                        <a:rPr sz="1200" b="0">
                          <a:solidFill>
                            <a:srgbClr val="36393B"/>
                          </a:solidFill>
                        </a:rPr>
                        <a:t>Confirm only with volume</a:t>
                      </a:r>
                    </a:p>
                  </a:txBody>
                  <a:tcPr marL="45720" marR="45720" marT="18288" marB="18288" anchor="ctr">
                    <a:solidFill>
                      <a:srgbClr val="FFFFFF"/>
                    </a:solidFill>
                  </a:tcPr>
                </a:tc>
              </a:tr>
              <a:tr h="338328">
                <a:tc>
                  <a:txBody>
                    <a:bodyPr wrap="square"/>
                    <a:lstStyle/>
                    <a:p>
                      <a:pPr algn="l"/>
                      <a:r>
                        <a:rPr sz="1200" b="1">
                          <a:solidFill>
                            <a:srgbClr val="36393B"/>
                          </a:solidFill>
                        </a:rPr>
                        <a:t>Overconfidence</a:t>
                      </a:r>
                    </a:p>
                  </a:txBody>
                  <a:tcPr marL="45720" marR="45720" marT="18288" marB="18288" anchor="ctr">
                    <a:solidFill>
                      <a:srgbClr val="F4FEFB"/>
                    </a:solidFill>
                  </a:tcPr>
                </a:tc>
                <a:tc>
                  <a:txBody>
                    <a:bodyPr wrap="square"/>
                    <a:lstStyle/>
                    <a:p>
                      <a:pPr algn="l"/>
                      <a:r>
                        <a:rPr sz="1200" b="0">
                          <a:solidFill>
                            <a:srgbClr val="36393B"/>
                          </a:solidFill>
                        </a:rPr>
                        <a:t>Fixed inputs; IS / OOS scorecard</a:t>
                      </a:r>
                    </a:p>
                  </a:txBody>
                  <a:tcPr marL="45720" marR="45720" marT="18288" marB="18288" anchor="ctr">
                    <a:solidFill>
                      <a:srgbClr val="F4FEFB"/>
                    </a:solidFill>
                  </a:tcPr>
                </a:tc>
              </a:tr>
              <a:tr h="338328">
                <a:tc>
                  <a:txBody>
                    <a:bodyPr wrap="square"/>
                    <a:lstStyle/>
                    <a:p>
                      <a:pPr algn="l"/>
                      <a:r>
                        <a:rPr sz="1200" b="1">
                          <a:solidFill>
                            <a:srgbClr val="36393B"/>
                          </a:solidFill>
                        </a:rPr>
                        <a:t>Anchoring</a:t>
                      </a:r>
                    </a:p>
                  </a:txBody>
                  <a:tcPr marL="45720" marR="45720" marT="18288" marB="18288" anchor="ctr">
                    <a:solidFill>
                      <a:srgbClr val="FFFFFF"/>
                    </a:solidFill>
                  </a:tcPr>
                </a:tc>
                <a:tc>
                  <a:txBody>
                    <a:bodyPr wrap="square"/>
                    <a:lstStyle/>
                    <a:p>
                      <a:pPr algn="l"/>
                      <a:r>
                        <a:rPr sz="1200" b="0">
                          <a:solidFill>
                            <a:srgbClr val="36393B"/>
                          </a:solidFill>
                        </a:rPr>
                        <a:t>Time exit + ATR stop</a:t>
                      </a:r>
                    </a:p>
                  </a:txBody>
                  <a:tcPr marL="45720" marR="45720" marT="18288" marB="18288" anchor="ctr">
                    <a:solidFill>
                      <a:srgbClr val="FFFFFF"/>
                    </a:solidFill>
                  </a:tcPr>
                </a:tc>
              </a:tr>
              <a:tr h="338328">
                <a:tc>
                  <a:txBody>
                    <a:bodyPr wrap="square"/>
                    <a:lstStyle/>
                    <a:p>
                      <a:pPr algn="l"/>
                      <a:r>
                        <a:rPr sz="1200" b="1">
                          <a:solidFill>
                            <a:srgbClr val="36393B"/>
                          </a:solidFill>
                        </a:rPr>
                        <a:t>Representativeness</a:t>
                      </a:r>
                    </a:p>
                  </a:txBody>
                  <a:tcPr marL="45720" marR="45720" marT="18288" marB="18288" anchor="ctr">
                    <a:solidFill>
                      <a:srgbClr val="F4FEFB"/>
                    </a:solidFill>
                  </a:tcPr>
                </a:tc>
                <a:tc>
                  <a:txBody>
                    <a:bodyPr wrap="square"/>
                    <a:lstStyle/>
                    <a:p>
                      <a:pPr algn="l"/>
                      <a:r>
                        <a:rPr sz="1200" b="0">
                          <a:solidFill>
                            <a:srgbClr val="36393B"/>
                          </a:solidFill>
                        </a:rPr>
                        <a:t>Base rate beside every pattern</a:t>
                      </a:r>
                    </a:p>
                  </a:txBody>
                  <a:tcPr marL="45720" marR="45720" marT="18288" marB="18288" anchor="ctr">
                    <a:solidFill>
                      <a:srgbClr val="F4FEFB"/>
                    </a:solidFill>
                  </a:tcPr>
                </a:tc>
              </a:tr>
              <a:tr h="338328">
                <a:tc>
                  <a:txBody>
                    <a:bodyPr wrap="square"/>
                    <a:lstStyle/>
                    <a:p>
                      <a:pPr algn="l"/>
                      <a:r>
                        <a:rPr sz="1200" b="1">
                          <a:solidFill>
                            <a:srgbClr val="36393B"/>
                          </a:solidFill>
                        </a:rPr>
                        <a:t>Recency</a:t>
                      </a:r>
                    </a:p>
                  </a:txBody>
                  <a:tcPr marL="45720" marR="45720" marT="18288" marB="18288" anchor="ctr">
                    <a:solidFill>
                      <a:srgbClr val="FFFFFF"/>
                    </a:solidFill>
                  </a:tcPr>
                </a:tc>
                <a:tc>
                  <a:txBody>
                    <a:bodyPr wrap="square"/>
                    <a:lstStyle/>
                    <a:p>
                      <a:pPr algn="l"/>
                      <a:r>
                        <a:rPr sz="1200" b="0">
                          <a:solidFill>
                            <a:srgbClr val="36393B"/>
                          </a:solidFill>
                        </a:rPr>
                        <a:t>No switching on recent results</a:t>
                      </a:r>
                    </a:p>
                  </a:txBody>
                  <a:tcPr marL="45720" marR="45720" marT="18288" marB="18288" anchor="ctr">
                    <a:solidFill>
                      <a:srgbClr val="FFFFFF"/>
                    </a:solidFill>
                  </a:tcPr>
                </a:tc>
              </a:tr>
              <a:tr h="338328">
                <a:tc>
                  <a:txBody>
                    <a:bodyPr wrap="square"/>
                    <a:lstStyle/>
                    <a:p>
                      <a:pPr algn="l"/>
                      <a:r>
                        <a:rPr sz="1200" b="1">
                          <a:solidFill>
                            <a:srgbClr val="36393B"/>
                          </a:solidFill>
                        </a:rPr>
                        <a:t>Conservatism</a:t>
                      </a:r>
                    </a:p>
                  </a:txBody>
                  <a:tcPr marL="45720" marR="45720" marT="18288" marB="18288" anchor="ctr">
                    <a:solidFill>
                      <a:srgbClr val="F4FEFB"/>
                    </a:solidFill>
                  </a:tcPr>
                </a:tc>
                <a:tc>
                  <a:txBody>
                    <a:bodyPr wrap="square"/>
                    <a:lstStyle/>
                    <a:p>
                      <a:pPr algn="l"/>
                      <a:r>
                        <a:rPr sz="1200" b="0">
                          <a:solidFill>
                            <a:srgbClr val="36393B"/>
                          </a:solidFill>
                        </a:rPr>
                        <a:t>Speed fixed per horizon + stop</a:t>
                      </a:r>
                    </a:p>
                  </a:txBody>
                  <a:tcPr marL="45720" marR="45720" marT="18288" marB="18288" anchor="ctr">
                    <a:solidFill>
                      <a:srgbClr val="F4FEFB"/>
                    </a:solidFill>
                  </a:tcPr>
                </a:tc>
              </a:tr>
              <a:tr h="338328">
                <a:tc>
                  <a:txBody>
                    <a:bodyPr wrap="square"/>
                    <a:lstStyle/>
                    <a:p>
                      <a:pPr algn="l"/>
                      <a:r>
                        <a:rPr sz="1200" b="1">
                          <a:solidFill>
                            <a:srgbClr val="36393B"/>
                          </a:solidFill>
                        </a:rPr>
                        <a:t>Herding</a:t>
                      </a:r>
                    </a:p>
                  </a:txBody>
                  <a:tcPr marL="45720" marR="45720" marT="18288" marB="18288" anchor="ctr">
                    <a:solidFill>
                      <a:srgbClr val="FFFFFF"/>
                    </a:solidFill>
                  </a:tcPr>
                </a:tc>
                <a:tc>
                  <a:txBody>
                    <a:bodyPr wrap="square"/>
                    <a:lstStyle/>
                    <a:p>
                      <a:pPr algn="l"/>
                      <a:r>
                        <a:rPr sz="1200" b="0">
                          <a:solidFill>
                            <a:srgbClr val="36393B"/>
                          </a:solidFill>
                        </a:rPr>
                        <a:t>Breadth and breakouts as warnings</a:t>
                      </a:r>
                    </a:p>
                  </a:txBody>
                  <a:tcPr marL="45720" marR="45720" marT="18288" marB="18288" anchor="ctr">
                    <a:solidFill>
                      <a:srgbClr val="FFFFFF"/>
                    </a:solidFill>
                  </a:tcPr>
                </a:tc>
              </a:tr>
              <a:tr h="338328">
                <a:tc>
                  <a:txBody>
                    <a:bodyPr wrap="square"/>
                    <a:lstStyle/>
                    <a:p>
                      <a:pPr algn="l"/>
                      <a:r>
                        <a:rPr sz="1200" b="1">
                          <a:solidFill>
                            <a:srgbClr val="36393B"/>
                          </a:solidFill>
                        </a:rPr>
                        <a:t>FOMO</a:t>
                      </a:r>
                    </a:p>
                  </a:txBody>
                  <a:tcPr marL="45720" marR="45720" marT="18288" marB="18288" anchor="ctr">
                    <a:solidFill>
                      <a:srgbClr val="F4FEFB"/>
                    </a:solidFill>
                  </a:tcPr>
                </a:tc>
                <a:tc>
                  <a:txBody>
                    <a:bodyPr wrap="square"/>
                    <a:lstStyle/>
                    <a:p>
                      <a:pPr algn="l"/>
                      <a:r>
                        <a:rPr sz="1200" b="0">
                          <a:solidFill>
                            <a:srgbClr val="36393B"/>
                          </a:solidFill>
                        </a:rPr>
                        <a:t>Skip if &gt; 1.5 ATR extended</a:t>
                      </a:r>
                    </a:p>
                  </a:txBody>
                  <a:tcPr marL="45720" marR="45720" marT="18288" marB="18288" anchor="ctr">
                    <a:solidFill>
                      <a:srgbClr val="F4FEFB"/>
                    </a:solidFill>
                  </a:tcPr>
                </a:tc>
              </a:tr>
              <a:tr h="338328">
                <a:tc>
                  <a:txBody>
                    <a:bodyPr wrap="square"/>
                    <a:lstStyle/>
                    <a:p>
                      <a:pPr algn="l"/>
                      <a:r>
                        <a:rPr sz="1200" b="1">
                          <a:solidFill>
                            <a:srgbClr val="36393B"/>
                          </a:solidFill>
                        </a:rPr>
                        <a:t>All</a:t>
                      </a:r>
                    </a:p>
                  </a:txBody>
                  <a:tcPr marL="45720" marR="45720" marT="18288" marB="18288" anchor="ctr">
                    <a:solidFill>
                      <a:srgbClr val="FFF1CC"/>
                    </a:solidFill>
                  </a:tcPr>
                </a:tc>
                <a:tc>
                  <a:txBody>
                    <a:bodyPr wrap="square"/>
                    <a:lstStyle/>
                    <a:p>
                      <a:pPr algn="l"/>
                      <a:r>
                        <a:rPr sz="1200" b="0">
                          <a:solidFill>
                            <a:srgbClr val="36393B"/>
                          </a:solidFill>
                        </a:rPr>
                        <a:t>Must beat T-bills after costs</a:t>
                      </a:r>
                    </a:p>
                  </a:txBody>
                  <a:tcPr marL="45720" marR="45720" marT="18288" marB="18288" anchor="ctr">
                    <a:solidFill>
                      <a:srgbClr val="FFF1CC"/>
                    </a:solidFill>
                  </a:tcPr>
                </a:tc>
              </a:tr>
            </a:tbl>
          </a:graphicData>
        </a:graphic>
      </p:graphicFrame>
      <p:sp>
        <p:nvSpPr>
          <p:cNvPr id="40" name="TextBox 39"/>
          <p:cNvSpPr txBox="1"/>
          <p:nvPr/>
        </p:nvSpPr>
        <p:spPr>
          <a:xfrm>
            <a:off x="850392" y="4892040"/>
            <a:ext cx="4434840" cy="1371600"/>
          </a:xfrm>
          <a:prstGeom prst="rect">
            <a:avLst/>
          </a:prstGeom>
          <a:noFill/>
        </p:spPr>
        <p:txBody>
          <a:bodyPr wrap="square" anchor="t" lIns="36576" rIns="36576" tIns="18288" bIns="18288">
            <a:spAutoFit/>
          </a:bodyPr>
          <a:lstStyle/>
          <a:p>
            <a:pPr algn="l">
              <a:spcAft>
                <a:spcPts val="300"/>
              </a:spcAft>
            </a:pPr>
            <a:r>
              <a:rPr sz="1200" b="1">
                <a:solidFill>
                  <a:srgbClr val="5F6266"/>
                </a:solidFill>
              </a:rPr>
              <a:t>Chosen on 2015–21: </a:t>
            </a:r>
            <a:r>
              <a:rPr sz="1200" b="0">
                <a:solidFill>
                  <a:srgbClr val="5F6266"/>
                </a:solidFill>
              </a:rPr>
              <a:t>A as built; B + ATR stop; C as built. Supertrend trailing exit rejected for all three (C out-of-sample: 0.42 → 0.33).</a:t>
            </a:r>
          </a:p>
        </p:txBody>
      </p:sp>
      <p:graphicFrame>
        <p:nvGraphicFramePr>
          <p:cNvPr id="41" name="Chart 40"/>
          <p:cNvGraphicFramePr>
            <a:graphicFrameLocks noGrp="1"/>
          </p:cNvGraphicFramePr>
          <p:nvPr/>
        </p:nvGraphicFramePr>
        <p:xfrm>
          <a:off x="5577840" y="1325880"/>
          <a:ext cx="5760720" cy="3291840"/>
        </p:xfrm>
        <a:graphic>
          <a:graphicData uri="http://schemas.openxmlformats.org/drawingml/2006/chart">
            <c:chart xmlns:c="http://schemas.openxmlformats.org/drawingml/2006/chart" r:id="rId3"/>
          </a:graphicData>
        </a:graphic>
      </p:graphicFrame>
      <p:graphicFrame>
        <p:nvGraphicFramePr>
          <p:cNvPr id="42" name="Table 41"/>
          <p:cNvGraphicFramePr>
            <a:graphicFrameLocks noGrp="1"/>
          </p:cNvGraphicFramePr>
          <p:nvPr/>
        </p:nvGraphicFramePr>
        <p:xfrm>
          <a:off x="5669280" y="4709160"/>
          <a:ext cx="5623560" cy="1316736"/>
        </p:xfrm>
        <a:graphic>
          <a:graphicData uri="http://schemas.openxmlformats.org/drawingml/2006/table">
            <a:tbl>
              <a:tblPr firstRow="1" bandRow="0">
                <a:tableStyleId>{5C22544A-7EE6-4342-B048-85BDC9FD1C3A}</a:tableStyleId>
              </a:tblPr>
              <a:tblGrid>
                <a:gridCol w="2377440"/>
                <a:gridCol w="1188720"/>
                <a:gridCol w="1005840"/>
                <a:gridCol w="1051560"/>
              </a:tblGrid>
              <a:tr h="329184">
                <a:tc>
                  <a:txBody>
                    <a:bodyPr wrap="square"/>
                    <a:lstStyle/>
                    <a:p>
                      <a:pPr algn="l"/>
                      <a:r>
                        <a:rPr sz="900">
                          <a:solidFill>
                            <a:srgbClr val="36393B"/>
                          </a:solidFill>
                          <a:latin typeface="+mj-lt"/>
                        </a:rPr>
                        <a:t>OUT-OF-SAMPLE</a:t>
                      </a:r>
                    </a:p>
                  </a:txBody>
                  <a:tcPr marL="45720" marR="45720" marT="18288" marB="18288" anchor="ctr">
                    <a:solidFill>
                      <a:srgbClr val="2BB399"/>
                    </a:solidFill>
                  </a:tcPr>
                </a:tc>
                <a:tc>
                  <a:txBody>
                    <a:bodyPr wrap="square"/>
                    <a:lstStyle/>
                    <a:p>
                      <a:pPr algn="ctr"/>
                      <a:r>
                        <a:rPr sz="900">
                          <a:solidFill>
                            <a:srgbClr val="36393B"/>
                          </a:solidFill>
                          <a:latin typeface="+mj-lt"/>
                        </a:rPr>
                        <a:t>SHARPE ± S.E.</a:t>
                      </a:r>
                    </a:p>
                  </a:txBody>
                  <a:tcPr marL="45720" marR="45720" marT="18288" marB="18288" anchor="ctr">
                    <a:solidFill>
                      <a:srgbClr val="2BB399"/>
                    </a:solidFill>
                  </a:tcPr>
                </a:tc>
                <a:tc>
                  <a:txBody>
                    <a:bodyPr wrap="square"/>
                    <a:lstStyle/>
                    <a:p>
                      <a:pPr algn="ctr"/>
                      <a:r>
                        <a:rPr sz="900">
                          <a:solidFill>
                            <a:srgbClr val="36393B"/>
                          </a:solidFill>
                          <a:latin typeface="+mj-lt"/>
                        </a:rPr>
                        <a:t>CAGR</a:t>
                      </a:r>
                    </a:p>
                  </a:txBody>
                  <a:tcPr marL="45720" marR="45720" marT="18288" marB="18288" anchor="ctr">
                    <a:solidFill>
                      <a:srgbClr val="2BB399"/>
                    </a:solidFill>
                  </a:tcPr>
                </a:tc>
                <a:tc>
                  <a:txBody>
                    <a:bodyPr wrap="square"/>
                    <a:lstStyle/>
                    <a:p>
                      <a:pPr algn="ctr"/>
                      <a:r>
                        <a:rPr sz="900">
                          <a:solidFill>
                            <a:srgbClr val="36393B"/>
                          </a:solidFill>
                          <a:latin typeface="+mj-lt"/>
                        </a:rPr>
                        <a:t>MAX DD</a:t>
                      </a:r>
                    </a:p>
                  </a:txBody>
                  <a:tcPr marL="45720" marR="45720" marT="18288" marB="18288" anchor="ctr">
                    <a:solidFill>
                      <a:srgbClr val="2BB399"/>
                    </a:solidFill>
                  </a:tcPr>
                </a:tc>
              </a:tr>
              <a:tr h="329184">
                <a:tc>
                  <a:txBody>
                    <a:bodyPr wrap="square"/>
                    <a:lstStyle/>
                    <a:p>
                      <a:pPr algn="l"/>
                      <a:r>
                        <a:rPr sz="1100" b="1">
                          <a:solidFill>
                            <a:srgbClr val="36393B"/>
                          </a:solidFill>
                        </a:rPr>
                        <a:t>60-day rule alone</a:t>
                      </a:r>
                    </a:p>
                  </a:txBody>
                  <a:tcPr marL="45720" marR="45720" marT="18288" marB="18288" anchor="ctr">
                    <a:solidFill>
                      <a:srgbClr val="C9F5EA"/>
                    </a:solidFill>
                  </a:tcPr>
                </a:tc>
                <a:tc>
                  <a:txBody>
                    <a:bodyPr wrap="square"/>
                    <a:lstStyle/>
                    <a:p>
                      <a:pPr algn="ctr"/>
                      <a:r>
                        <a:rPr sz="1100" b="0">
                          <a:solidFill>
                            <a:srgbClr val="36393B"/>
                          </a:solidFill>
                        </a:rPr>
                        <a:t>0.42 ± 0.48</a:t>
                      </a:r>
                    </a:p>
                  </a:txBody>
                  <a:tcPr marL="45720" marR="45720" marT="18288" marB="18288" anchor="ctr">
                    <a:solidFill>
                      <a:srgbClr val="C9F5EA"/>
                    </a:solidFill>
                  </a:tcPr>
                </a:tc>
                <a:tc>
                  <a:txBody>
                    <a:bodyPr wrap="square"/>
                    <a:lstStyle/>
                    <a:p>
                      <a:pPr algn="ctr"/>
                      <a:r>
                        <a:rPr sz="1100" b="0">
                          <a:solidFill>
                            <a:srgbClr val="36393B"/>
                          </a:solidFill>
                        </a:rPr>
                        <a:t>8.5%</a:t>
                      </a:r>
                    </a:p>
                  </a:txBody>
                  <a:tcPr marL="45720" marR="45720" marT="18288" marB="18288" anchor="ctr">
                    <a:solidFill>
                      <a:srgbClr val="C9F5EA"/>
                    </a:solidFill>
                  </a:tcPr>
                </a:tc>
                <a:tc>
                  <a:txBody>
                    <a:bodyPr wrap="square"/>
                    <a:lstStyle/>
                    <a:p>
                      <a:pPr algn="ctr"/>
                      <a:r>
                        <a:rPr sz="1100" b="0">
                          <a:solidFill>
                            <a:srgbClr val="36393B"/>
                          </a:solidFill>
                        </a:rPr>
                        <a:t>-7%</a:t>
                      </a:r>
                    </a:p>
                  </a:txBody>
                  <a:tcPr marL="45720" marR="45720" marT="18288" marB="18288" anchor="ctr">
                    <a:solidFill>
                      <a:srgbClr val="C9F5EA"/>
                    </a:solidFill>
                  </a:tcPr>
                </a:tc>
              </a:tr>
              <a:tr h="329184">
                <a:tc>
                  <a:txBody>
                    <a:bodyPr wrap="square"/>
                    <a:lstStyle/>
                    <a:p>
                      <a:pPr algn="l"/>
                      <a:r>
                        <a:rPr sz="1100" b="1">
                          <a:solidFill>
                            <a:srgbClr val="36393B"/>
                          </a:solidFill>
                        </a:rPr>
                        <a:t>Buy-and-hold</a:t>
                      </a:r>
                    </a:p>
                  </a:txBody>
                  <a:tcPr marL="45720" marR="45720" marT="18288" marB="18288" anchor="ctr">
                    <a:solidFill>
                      <a:srgbClr val="F4FEFB"/>
                    </a:solidFill>
                  </a:tcPr>
                </a:tc>
                <a:tc>
                  <a:txBody>
                    <a:bodyPr wrap="square"/>
                    <a:lstStyle/>
                    <a:p>
                      <a:pPr algn="ctr"/>
                      <a:r>
                        <a:rPr sz="1100" b="0">
                          <a:solidFill>
                            <a:srgbClr val="36393B"/>
                          </a:solidFill>
                        </a:rPr>
                        <a:t>0.14 ± 0.46</a:t>
                      </a:r>
                    </a:p>
                  </a:txBody>
                  <a:tcPr marL="45720" marR="45720" marT="18288" marB="18288" anchor="ctr">
                    <a:solidFill>
                      <a:srgbClr val="F4FEFB"/>
                    </a:solidFill>
                  </a:tcPr>
                </a:tc>
                <a:tc>
                  <a:txBody>
                    <a:bodyPr wrap="square"/>
                    <a:lstStyle/>
                    <a:p>
                      <a:pPr algn="ctr"/>
                      <a:r>
                        <a:rPr sz="1100" b="0">
                          <a:solidFill>
                            <a:srgbClr val="36393B"/>
                          </a:solidFill>
                        </a:rPr>
                        <a:t>7.1%</a:t>
                      </a:r>
                    </a:p>
                  </a:txBody>
                  <a:tcPr marL="45720" marR="45720" marT="18288" marB="18288" anchor="ctr">
                    <a:solidFill>
                      <a:srgbClr val="F4FEFB"/>
                    </a:solidFill>
                  </a:tcPr>
                </a:tc>
                <a:tc>
                  <a:txBody>
                    <a:bodyPr wrap="square"/>
                    <a:lstStyle/>
                    <a:p>
                      <a:pPr algn="ctr"/>
                      <a:r>
                        <a:rPr sz="1100" b="0">
                          <a:solidFill>
                            <a:srgbClr val="36393B"/>
                          </a:solidFill>
                        </a:rPr>
                        <a:t>-19%</a:t>
                      </a:r>
                    </a:p>
                  </a:txBody>
                  <a:tcPr marL="45720" marR="45720" marT="18288" marB="18288" anchor="ctr">
                    <a:solidFill>
                      <a:srgbClr val="F4FEFB"/>
                    </a:solidFill>
                  </a:tcPr>
                </a:tc>
              </a:tr>
              <a:tr h="329184">
                <a:tc>
                  <a:txBody>
                    <a:bodyPr wrap="square"/>
                    <a:lstStyle/>
                    <a:p>
                      <a:pPr algn="l"/>
                      <a:r>
                        <a:rPr sz="1100" b="1">
                          <a:solidFill>
                            <a:srgbClr val="36393B"/>
                          </a:solidFill>
                        </a:rPr>
                        <a:t>21 sleeves, disciplined</a:t>
                      </a:r>
                    </a:p>
                  </a:txBody>
                  <a:tcPr marL="45720" marR="45720" marT="18288" marB="18288" anchor="ctr">
                    <a:solidFill>
                      <a:srgbClr val="FFFFFF"/>
                    </a:solidFill>
                  </a:tcPr>
                </a:tc>
                <a:tc>
                  <a:txBody>
                    <a:bodyPr wrap="square"/>
                    <a:lstStyle/>
                    <a:p>
                      <a:pPr algn="ctr"/>
                      <a:r>
                        <a:rPr sz="1100" b="0">
                          <a:solidFill>
                            <a:srgbClr val="36393B"/>
                          </a:solidFill>
                        </a:rPr>
                        <a:t>-0.16 ± 0.46</a:t>
                      </a:r>
                    </a:p>
                  </a:txBody>
                  <a:tcPr marL="45720" marR="45720" marT="18288" marB="18288" anchor="ctr">
                    <a:solidFill>
                      <a:srgbClr val="FFFFFF"/>
                    </a:solidFill>
                  </a:tcPr>
                </a:tc>
                <a:tc>
                  <a:txBody>
                    <a:bodyPr wrap="square"/>
                    <a:lstStyle/>
                    <a:p>
                      <a:pPr algn="ctr"/>
                      <a:r>
                        <a:rPr sz="1100" b="0">
                          <a:solidFill>
                            <a:srgbClr val="36393B"/>
                          </a:solidFill>
                        </a:rPr>
                        <a:t>5.5%</a:t>
                      </a:r>
                    </a:p>
                  </a:txBody>
                  <a:tcPr marL="45720" marR="45720" marT="18288" marB="18288" anchor="ctr">
                    <a:solidFill>
                      <a:srgbClr val="FFFFFF"/>
                    </a:solidFill>
                  </a:tcPr>
                </a:tc>
                <a:tc>
                  <a:txBody>
                    <a:bodyPr wrap="square"/>
                    <a:lstStyle/>
                    <a:p>
                      <a:pPr algn="ctr"/>
                      <a:r>
                        <a:rPr sz="1100" b="0">
                          <a:solidFill>
                            <a:srgbClr val="36393B"/>
                          </a:solidFill>
                        </a:rPr>
                        <a:t>-4%</a:t>
                      </a:r>
                    </a:p>
                  </a:txBody>
                  <a:tcPr marL="45720" marR="45720" marT="18288" marB="18288"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The tools are weak, so the process decides the result</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Ayushi</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Full report, 18 Pine scripts and Python replication code submitted alongside</a:t>
            </a:r>
          </a:p>
        </p:txBody>
      </p:sp>
      <p:sp>
        <p:nvSpPr>
          <p:cNvPr id="39" name="TextBox 38"/>
          <p:cNvSpPr txBox="1"/>
          <p:nvPr/>
        </p:nvSpPr>
        <p:spPr>
          <a:xfrm>
            <a:off x="850392" y="1371600"/>
            <a:ext cx="548640" cy="731520"/>
          </a:xfrm>
          <a:prstGeom prst="rect">
            <a:avLst/>
          </a:prstGeom>
          <a:noFill/>
        </p:spPr>
        <p:txBody>
          <a:bodyPr wrap="square" anchor="t" lIns="36576" rIns="36576" tIns="18288" bIns="18288">
            <a:spAutoFit/>
          </a:bodyPr>
          <a:lstStyle/>
          <a:p>
            <a:pPr algn="l">
              <a:spcAft>
                <a:spcPts val="300"/>
              </a:spcAft>
            </a:pPr>
            <a:r>
              <a:rPr sz="3200" b="0">
                <a:solidFill>
                  <a:srgbClr val="0E8C74"/>
                </a:solidFill>
              </a:rPr>
              <a:t>1</a:t>
            </a:r>
          </a:p>
        </p:txBody>
      </p:sp>
      <p:sp>
        <p:nvSpPr>
          <p:cNvPr id="40" name="TextBox 39"/>
          <p:cNvSpPr txBox="1"/>
          <p:nvPr/>
        </p:nvSpPr>
        <p:spPr>
          <a:xfrm>
            <a:off x="1463040" y="1417320"/>
            <a:ext cx="4937760" cy="411480"/>
          </a:xfrm>
          <a:prstGeom prst="rect">
            <a:avLst/>
          </a:prstGeom>
          <a:noFill/>
        </p:spPr>
        <p:txBody>
          <a:bodyPr wrap="square" anchor="t" lIns="36576" rIns="36576" tIns="18288" bIns="18288">
            <a:spAutoFit/>
          </a:bodyPr>
          <a:lstStyle/>
          <a:p>
            <a:pPr algn="l">
              <a:spcAft>
                <a:spcPts val="300"/>
              </a:spcAft>
            </a:pPr>
            <a:r>
              <a:rPr sz="1600" b="1">
                <a:solidFill>
                  <a:srgbClr val="36393B"/>
                </a:solidFill>
              </a:rPr>
              <a:t>The tools are weak</a:t>
            </a:r>
          </a:p>
        </p:txBody>
      </p:sp>
      <p:sp>
        <p:nvSpPr>
          <p:cNvPr id="41" name="TextBox 40"/>
          <p:cNvSpPr txBox="1"/>
          <p:nvPr/>
        </p:nvSpPr>
        <p:spPr>
          <a:xfrm>
            <a:off x="1463040" y="1874519"/>
            <a:ext cx="4937760" cy="640080"/>
          </a:xfrm>
          <a:prstGeom prst="rect">
            <a:avLst/>
          </a:prstGeom>
          <a:noFill/>
        </p:spPr>
        <p:txBody>
          <a:bodyPr wrap="square" anchor="t" lIns="36576" rIns="36576" tIns="18288" bIns="18288">
            <a:spAutoFit/>
          </a:bodyPr>
          <a:lstStyle/>
          <a:p>
            <a:pPr algn="l">
              <a:spcAft>
                <a:spcPts val="300"/>
              </a:spcAft>
            </a:pPr>
            <a:r>
              <a:rPr sz="1200" b="0">
                <a:solidFill>
                  <a:srgbClr val="5F6266"/>
                </a:solidFill>
              </a:rPr>
              <a:t>No indicator beats an average day beyond chance; 8 → 12 indicators added labels, not information</a:t>
            </a:r>
          </a:p>
        </p:txBody>
      </p:sp>
      <p:cxnSp>
        <p:nvCxnSpPr>
          <p:cNvPr id="42" name="Connector 41"/>
          <p:cNvCxnSpPr/>
          <p:nvPr/>
        </p:nvCxnSpPr>
        <p:spPr>
          <a:xfrm>
            <a:off x="850392" y="2514600"/>
            <a:ext cx="5550408" cy="0"/>
          </a:xfrm>
          <a:prstGeom prst="line">
            <a:avLst/>
          </a:prstGeom>
          <a:ln w="9525">
            <a:solidFill>
              <a:srgbClr val="D5D8DB"/>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50392" y="2587752"/>
            <a:ext cx="548640" cy="731520"/>
          </a:xfrm>
          <a:prstGeom prst="rect">
            <a:avLst/>
          </a:prstGeom>
          <a:noFill/>
        </p:spPr>
        <p:txBody>
          <a:bodyPr wrap="square" anchor="t" lIns="36576" rIns="36576" tIns="18288" bIns="18288">
            <a:spAutoFit/>
          </a:bodyPr>
          <a:lstStyle/>
          <a:p>
            <a:pPr algn="l">
              <a:spcAft>
                <a:spcPts val="300"/>
              </a:spcAft>
            </a:pPr>
            <a:r>
              <a:rPr sz="3200" b="0">
                <a:solidFill>
                  <a:srgbClr val="0E8C74"/>
                </a:solidFill>
              </a:rPr>
              <a:t>2</a:t>
            </a:r>
          </a:p>
        </p:txBody>
      </p:sp>
      <p:sp>
        <p:nvSpPr>
          <p:cNvPr id="44" name="TextBox 43"/>
          <p:cNvSpPr txBox="1"/>
          <p:nvPr/>
        </p:nvSpPr>
        <p:spPr>
          <a:xfrm>
            <a:off x="1463040" y="2633472"/>
            <a:ext cx="4937760" cy="411480"/>
          </a:xfrm>
          <a:prstGeom prst="rect">
            <a:avLst/>
          </a:prstGeom>
          <a:noFill/>
        </p:spPr>
        <p:txBody>
          <a:bodyPr wrap="square" anchor="t" lIns="36576" rIns="36576" tIns="18288" bIns="18288">
            <a:spAutoFit/>
          </a:bodyPr>
          <a:lstStyle/>
          <a:p>
            <a:pPr algn="l">
              <a:spcAft>
                <a:spcPts val="300"/>
              </a:spcAft>
            </a:pPr>
            <a:r>
              <a:rPr sz="1600" b="1">
                <a:solidFill>
                  <a:srgbClr val="36393B"/>
                </a:solidFill>
              </a:rPr>
              <a:t>Costs and cash eliminate short horizons</a:t>
            </a:r>
          </a:p>
        </p:txBody>
      </p:sp>
      <p:sp>
        <p:nvSpPr>
          <p:cNvPr id="45" name="TextBox 44"/>
          <p:cNvSpPr txBox="1"/>
          <p:nvPr/>
        </p:nvSpPr>
        <p:spPr>
          <a:xfrm>
            <a:off x="1463040" y="3090672"/>
            <a:ext cx="4937760" cy="640080"/>
          </a:xfrm>
          <a:prstGeom prst="rect">
            <a:avLst/>
          </a:prstGeom>
          <a:noFill/>
        </p:spPr>
        <p:txBody>
          <a:bodyPr wrap="square" anchor="t" lIns="36576" rIns="36576" tIns="18288" bIns="18288">
            <a:spAutoFit/>
          </a:bodyPr>
          <a:lstStyle/>
          <a:p>
            <a:pPr algn="l">
              <a:spcAft>
                <a:spcPts val="300"/>
              </a:spcAft>
            </a:pPr>
            <a:r>
              <a:rPr sz="1200" b="0">
                <a:solidFill>
                  <a:srgbClr val="5F6266"/>
                </a:solidFill>
              </a:rPr>
              <a:t>A and B earn less than T-bills at 0.15% a side; C stays positive in every cost scenario</a:t>
            </a:r>
          </a:p>
        </p:txBody>
      </p:sp>
      <p:cxnSp>
        <p:nvCxnSpPr>
          <p:cNvPr id="46" name="Connector 45"/>
          <p:cNvCxnSpPr/>
          <p:nvPr/>
        </p:nvCxnSpPr>
        <p:spPr>
          <a:xfrm>
            <a:off x="850392" y="3730752"/>
            <a:ext cx="5550408" cy="0"/>
          </a:xfrm>
          <a:prstGeom prst="line">
            <a:avLst/>
          </a:prstGeom>
          <a:ln w="9525">
            <a:solidFill>
              <a:srgbClr val="D5D8DB"/>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50392" y="3803904"/>
            <a:ext cx="548640" cy="731520"/>
          </a:xfrm>
          <a:prstGeom prst="rect">
            <a:avLst/>
          </a:prstGeom>
          <a:noFill/>
        </p:spPr>
        <p:txBody>
          <a:bodyPr wrap="square" anchor="t" lIns="36576" rIns="36576" tIns="18288" bIns="18288">
            <a:spAutoFit/>
          </a:bodyPr>
          <a:lstStyle/>
          <a:p>
            <a:pPr algn="l">
              <a:spcAft>
                <a:spcPts val="300"/>
              </a:spcAft>
            </a:pPr>
            <a:r>
              <a:rPr sz="3200" b="0">
                <a:solidFill>
                  <a:srgbClr val="0E8C74"/>
                </a:solidFill>
              </a:rPr>
              <a:t>3</a:t>
            </a:r>
          </a:p>
        </p:txBody>
      </p:sp>
      <p:sp>
        <p:nvSpPr>
          <p:cNvPr id="48" name="TextBox 47"/>
          <p:cNvSpPr txBox="1"/>
          <p:nvPr/>
        </p:nvSpPr>
        <p:spPr>
          <a:xfrm>
            <a:off x="1463040" y="3849624"/>
            <a:ext cx="4937760" cy="411480"/>
          </a:xfrm>
          <a:prstGeom prst="rect">
            <a:avLst/>
          </a:prstGeom>
          <a:noFill/>
        </p:spPr>
        <p:txBody>
          <a:bodyPr wrap="square" anchor="t" lIns="36576" rIns="36576" tIns="18288" bIns="18288">
            <a:spAutoFit/>
          </a:bodyPr>
          <a:lstStyle/>
          <a:p>
            <a:pPr algn="l">
              <a:spcAft>
                <a:spcPts val="300"/>
              </a:spcAft>
            </a:pPr>
            <a:r>
              <a:rPr sz="1600" b="1">
                <a:solidFill>
                  <a:srgbClr val="36393B"/>
                </a:solidFill>
              </a:rPr>
              <a:t>The patient rule survived</a:t>
            </a:r>
          </a:p>
        </p:txBody>
      </p:sp>
      <p:sp>
        <p:nvSpPr>
          <p:cNvPr id="49" name="TextBox 48"/>
          <p:cNvSpPr txBox="1"/>
          <p:nvPr/>
        </p:nvSpPr>
        <p:spPr>
          <a:xfrm>
            <a:off x="1463040" y="4306824"/>
            <a:ext cx="4937760" cy="640080"/>
          </a:xfrm>
          <a:prstGeom prst="rect">
            <a:avLst/>
          </a:prstGeom>
          <a:noFill/>
        </p:spPr>
        <p:txBody>
          <a:bodyPr wrap="square" anchor="t" lIns="36576" rIns="36576" tIns="18288" bIns="18288">
            <a:spAutoFit/>
          </a:bodyPr>
          <a:lstStyle/>
          <a:p>
            <a:pPr algn="l">
              <a:spcAft>
                <a:spcPts val="300"/>
              </a:spcAft>
            </a:pPr>
            <a:r>
              <a:rPr sz="1200" b="0">
                <a:solidFill>
                  <a:srgbClr val="5F6266"/>
                </a:solidFill>
              </a:rPr>
              <a:t>60-day trend: level with buy-and-hold on Sharpe, a third of the drawdown, ahead out-of-sample (within error)</a:t>
            </a:r>
          </a:p>
        </p:txBody>
      </p:sp>
      <p:cxnSp>
        <p:nvCxnSpPr>
          <p:cNvPr id="50" name="Connector 49"/>
          <p:cNvCxnSpPr/>
          <p:nvPr/>
        </p:nvCxnSpPr>
        <p:spPr>
          <a:xfrm>
            <a:off x="850392" y="4946904"/>
            <a:ext cx="5550408" cy="0"/>
          </a:xfrm>
          <a:prstGeom prst="line">
            <a:avLst/>
          </a:prstGeom>
          <a:ln w="9525">
            <a:solidFill>
              <a:srgbClr val="D5D8DB"/>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50392" y="5020056"/>
            <a:ext cx="548640" cy="731520"/>
          </a:xfrm>
          <a:prstGeom prst="rect">
            <a:avLst/>
          </a:prstGeom>
          <a:noFill/>
        </p:spPr>
        <p:txBody>
          <a:bodyPr wrap="square" anchor="t" lIns="36576" rIns="36576" tIns="18288" bIns="18288">
            <a:spAutoFit/>
          </a:bodyPr>
          <a:lstStyle/>
          <a:p>
            <a:pPr algn="l">
              <a:spcAft>
                <a:spcPts val="300"/>
              </a:spcAft>
            </a:pPr>
            <a:r>
              <a:rPr sz="3200" b="0">
                <a:solidFill>
                  <a:srgbClr val="0E8C74"/>
                </a:solidFill>
              </a:rPr>
              <a:t>4</a:t>
            </a:r>
          </a:p>
        </p:txBody>
      </p:sp>
      <p:sp>
        <p:nvSpPr>
          <p:cNvPr id="52" name="TextBox 51"/>
          <p:cNvSpPr txBox="1"/>
          <p:nvPr/>
        </p:nvSpPr>
        <p:spPr>
          <a:xfrm>
            <a:off x="1463040" y="5065776"/>
            <a:ext cx="4937760" cy="411480"/>
          </a:xfrm>
          <a:prstGeom prst="rect">
            <a:avLst/>
          </a:prstGeom>
          <a:noFill/>
        </p:spPr>
        <p:txBody>
          <a:bodyPr wrap="square" anchor="t" lIns="36576" rIns="36576" tIns="18288" bIns="18288">
            <a:spAutoFit/>
          </a:bodyPr>
          <a:lstStyle/>
          <a:p>
            <a:pPr algn="l">
              <a:spcAft>
                <a:spcPts val="300"/>
              </a:spcAft>
            </a:pPr>
            <a:r>
              <a:rPr sz="1600" b="1">
                <a:solidFill>
                  <a:srgbClr val="36393B"/>
                </a:solidFill>
              </a:rPr>
              <a:t>Biases decide the outcome</a:t>
            </a:r>
          </a:p>
        </p:txBody>
      </p:sp>
      <p:sp>
        <p:nvSpPr>
          <p:cNvPr id="53" name="TextBox 52"/>
          <p:cNvSpPr txBox="1"/>
          <p:nvPr/>
        </p:nvSpPr>
        <p:spPr>
          <a:xfrm>
            <a:off x="1463040" y="5522976"/>
            <a:ext cx="4937760" cy="640080"/>
          </a:xfrm>
          <a:prstGeom prst="rect">
            <a:avLst/>
          </a:prstGeom>
          <a:noFill/>
        </p:spPr>
        <p:txBody>
          <a:bodyPr wrap="square" anchor="t" lIns="36576" rIns="36576" tIns="18288" bIns="18288">
            <a:spAutoFit/>
          </a:bodyPr>
          <a:lstStyle/>
          <a:p>
            <a:pPr algn="l">
              <a:spcAft>
                <a:spcPts val="300"/>
              </a:spcAft>
            </a:pPr>
            <a:r>
              <a:rPr sz="1200" b="0">
                <a:solidFill>
                  <a:srgbClr val="5F6266"/>
                </a:solidFill>
              </a:rPr>
              <a:t>Clear costs: confirmation, overconfidence, anchoring, representativeness</a:t>
            </a:r>
          </a:p>
        </p:txBody>
      </p:sp>
      <p:sp>
        <p:nvSpPr>
          <p:cNvPr id="54" name="Rectangle 53"/>
          <p:cNvSpPr/>
          <p:nvPr/>
        </p:nvSpPr>
        <p:spPr>
          <a:xfrm>
            <a:off x="6858000" y="1371600"/>
            <a:ext cx="4434840" cy="48920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22592" y="1481328"/>
            <a:ext cx="4114800" cy="274320"/>
          </a:xfrm>
          <a:prstGeom prst="rect">
            <a:avLst/>
          </a:prstGeom>
          <a:noFill/>
        </p:spPr>
        <p:txBody>
          <a:bodyPr wrap="square" anchor="t" lIns="36576" rIns="36576" tIns="18288" bIns="18288">
            <a:spAutoFit/>
          </a:bodyPr>
          <a:lstStyle/>
          <a:p>
            <a:pPr algn="l">
              <a:spcAft>
                <a:spcPts val="300"/>
              </a:spcAft>
            </a:pPr>
            <a:r>
              <a:rPr sz="1100" b="0">
                <a:solidFill>
                  <a:srgbClr val="36393B"/>
                </a:solidFill>
                <a:latin typeface="+mj-lt"/>
              </a:rPr>
              <a:t>RECOMMENDATION: BROKER OR ROBO-ADVISOR</a:t>
            </a:r>
          </a:p>
        </p:txBody>
      </p:sp>
      <p:sp>
        <p:nvSpPr>
          <p:cNvPr id="56" name="TextBox 55"/>
          <p:cNvSpPr txBox="1"/>
          <p:nvPr/>
        </p:nvSpPr>
        <p:spPr>
          <a:xfrm>
            <a:off x="7022592" y="1828800"/>
            <a:ext cx="4160520" cy="3108960"/>
          </a:xfrm>
          <a:prstGeom prst="rect">
            <a:avLst/>
          </a:prstGeom>
          <a:noFill/>
        </p:spPr>
        <p:txBody>
          <a:bodyPr wrap="square" anchor="t" lIns="36576" rIns="36576" tIns="18288" bIns="18288">
            <a:spAutoFit/>
          </a:bodyPr>
          <a:lstStyle/>
          <a:p>
            <a:pPr algn="l" marL="171450" indent="-171450">
              <a:spcAft>
                <a:spcPts val="800"/>
              </a:spcAft>
              <a:buFont typeface="Arial"/>
              <a:buChar char="•"/>
            </a:pPr>
            <a:r>
              <a:rPr sz="1300" b="0">
                <a:solidFill>
                  <a:srgbClr val="36393B"/>
                </a:solidFill>
              </a:rPr>
              <a:t>Default rule-based users to long horizons</a:t>
            </a:r>
          </a:p>
          <a:p>
            <a:pPr algn="l" marL="171450" indent="-171450">
              <a:spcAft>
                <a:spcPts val="800"/>
              </a:spcAft>
              <a:buFont typeface="Arial"/>
              <a:buChar char="•"/>
            </a:pPr>
            <a:r>
              <a:rPr sz="1300" b="0">
                <a:solidFill>
                  <a:srgbClr val="36393B"/>
                </a:solidFill>
              </a:rPr>
              <a:t>Show the all-in cost (≈0.3% a round trip) and the T-bill hurdle before every order</a:t>
            </a:r>
          </a:p>
          <a:p>
            <a:pPr algn="l" marL="171450" indent="-171450">
              <a:spcAft>
                <a:spcPts val="800"/>
              </a:spcAft>
              <a:buFont typeface="Arial"/>
              <a:buChar char="•"/>
            </a:pPr>
            <a:r>
              <a:rPr sz="1300" b="0">
                <a:solidFill>
                  <a:srgbClr val="36393B"/>
                </a:solidFill>
              </a:rPr>
              <a:t>Print the base rate and sample size beside every chart-pattern alert</a:t>
            </a:r>
          </a:p>
          <a:p>
            <a:pPr algn="l" marL="171450" indent="-171450">
              <a:spcAft>
                <a:spcPts val="800"/>
              </a:spcAft>
              <a:buFont typeface="Arial"/>
              <a:buChar char="•"/>
            </a:pPr>
            <a:r>
              <a:rPr sz="1300" b="0">
                <a:solidFill>
                  <a:srgbClr val="36393B"/>
                </a:solidFill>
              </a:rPr>
              <a:t>Never show an optimised backtest without its out-of-sample record</a:t>
            </a:r>
          </a:p>
          <a:p>
            <a:pPr algn="l" marL="171450" indent="-171450">
              <a:spcAft>
                <a:spcPts val="800"/>
              </a:spcAft>
              <a:buFont typeface="Arial"/>
              <a:buChar char="•"/>
            </a:pPr>
            <a:r>
              <a:rPr sz="1300" b="0">
                <a:solidFill>
                  <a:srgbClr val="36393B"/>
                </a:solidFill>
              </a:rPr>
              <a:t>Regulator: extend F&amp;O-style risk disclosure to high-turnover cash trading</a:t>
            </a:r>
          </a:p>
        </p:txBody>
      </p:sp>
      <p:sp>
        <p:nvSpPr>
          <p:cNvPr id="57" name="TextBox 56"/>
          <p:cNvSpPr txBox="1"/>
          <p:nvPr/>
        </p:nvSpPr>
        <p:spPr>
          <a:xfrm>
            <a:off x="7022592" y="5074920"/>
            <a:ext cx="4160520" cy="1143000"/>
          </a:xfrm>
          <a:prstGeom prst="rect">
            <a:avLst/>
          </a:prstGeom>
          <a:noFill/>
        </p:spPr>
        <p:txBody>
          <a:bodyPr wrap="square" anchor="t" lIns="36576" rIns="36576" tIns="18288" bIns="18288">
            <a:spAutoFit/>
          </a:bodyPr>
          <a:lstStyle/>
          <a:p>
            <a:pPr algn="l">
              <a:spcAft>
                <a:spcPts val="300"/>
              </a:spcAft>
            </a:pPr>
            <a:r>
              <a:rPr sz="1100" b="1">
                <a:solidFill>
                  <a:srgbClr val="5F6266"/>
                </a:solidFill>
              </a:rPr>
              <a:t>Limits: </a:t>
            </a:r>
            <a:r>
              <a:rPr sz="1100" b="0">
                <a:solidFill>
                  <a:srgbClr val="5F6266"/>
                </a:solidFill>
              </a:rPr>
              <a:t>survivorship (today's large caps), small samples (C: 80 trades), one crash for conservatism, and bias costs measured, not bias prevalence.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Backup B1: indicator set and excess return by stock</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Backup</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Excess 10-day return after each buy signal vs the same stock's average day, pp. Source: team analysis</a:t>
            </a:r>
          </a:p>
        </p:txBody>
      </p:sp>
      <p:graphicFrame>
        <p:nvGraphicFramePr>
          <p:cNvPr id="39" name="Table 38"/>
          <p:cNvGraphicFramePr>
            <a:graphicFrameLocks noGrp="1"/>
          </p:cNvGraphicFramePr>
          <p:nvPr/>
        </p:nvGraphicFramePr>
        <p:xfrm>
          <a:off x="850392" y="1371600"/>
          <a:ext cx="6675116" cy="4754880"/>
        </p:xfrm>
        <a:graphic>
          <a:graphicData uri="http://schemas.openxmlformats.org/drawingml/2006/table">
            <a:tbl>
              <a:tblPr firstRow="1" bandRow="0">
                <a:tableStyleId>{5C22544A-7EE6-4342-B048-85BDC9FD1C3A}</a:tableStyleId>
              </a:tblPr>
              <a:tblGrid>
                <a:gridCol w="1283676"/>
                <a:gridCol w="599049"/>
                <a:gridCol w="599049"/>
                <a:gridCol w="599049"/>
                <a:gridCol w="599049"/>
                <a:gridCol w="599049"/>
                <a:gridCol w="599049"/>
                <a:gridCol w="599049"/>
                <a:gridCol w="684627"/>
                <a:gridCol w="513470"/>
              </a:tblGrid>
              <a:tr h="365760">
                <a:tc>
                  <a:txBody>
                    <a:bodyPr wrap="square"/>
                    <a:lstStyle/>
                    <a:p>
                      <a:pPr algn="l"/>
                      <a:r>
                        <a:rPr sz="800">
                          <a:solidFill>
                            <a:srgbClr val="36393B"/>
                          </a:solidFill>
                          <a:latin typeface="+mj-lt"/>
                        </a:rPr>
                        <a:t>SIGNAL</a:t>
                      </a:r>
                    </a:p>
                  </a:txBody>
                  <a:tcPr marL="45720" marR="45720" marT="18288" marB="18288" anchor="ctr">
                    <a:solidFill>
                      <a:srgbClr val="2BB399"/>
                    </a:solidFill>
                  </a:tcPr>
                </a:tc>
                <a:tc>
                  <a:txBody>
                    <a:bodyPr wrap="square"/>
                    <a:lstStyle/>
                    <a:p>
                      <a:pPr algn="ctr"/>
                      <a:r>
                        <a:rPr sz="800">
                          <a:solidFill>
                            <a:srgbClr val="36393B"/>
                          </a:solidFill>
                          <a:latin typeface="+mj-lt"/>
                        </a:rPr>
                        <a:t>RELIANCE</a:t>
                      </a:r>
                    </a:p>
                  </a:txBody>
                  <a:tcPr marL="45720" marR="45720" marT="18288" marB="18288" anchor="ctr">
                    <a:solidFill>
                      <a:srgbClr val="2BB399"/>
                    </a:solidFill>
                  </a:tcPr>
                </a:tc>
                <a:tc>
                  <a:txBody>
                    <a:bodyPr wrap="square"/>
                    <a:lstStyle/>
                    <a:p>
                      <a:pPr algn="ctr"/>
                      <a:r>
                        <a:rPr sz="800">
                          <a:solidFill>
                            <a:srgbClr val="36393B"/>
                          </a:solidFill>
                          <a:latin typeface="+mj-lt"/>
                        </a:rPr>
                        <a:t>HDFCBANK</a:t>
                      </a:r>
                    </a:p>
                  </a:txBody>
                  <a:tcPr marL="45720" marR="45720" marT="18288" marB="18288" anchor="ctr">
                    <a:solidFill>
                      <a:srgbClr val="2BB399"/>
                    </a:solidFill>
                  </a:tcPr>
                </a:tc>
                <a:tc>
                  <a:txBody>
                    <a:bodyPr wrap="square"/>
                    <a:lstStyle/>
                    <a:p>
                      <a:pPr algn="ctr"/>
                      <a:r>
                        <a:rPr sz="800">
                          <a:solidFill>
                            <a:srgbClr val="36393B"/>
                          </a:solidFill>
                          <a:latin typeface="+mj-lt"/>
                        </a:rPr>
                        <a:t>INFY</a:t>
                      </a:r>
                    </a:p>
                  </a:txBody>
                  <a:tcPr marL="45720" marR="45720" marT="18288" marB="18288" anchor="ctr">
                    <a:solidFill>
                      <a:srgbClr val="2BB399"/>
                    </a:solidFill>
                  </a:tcPr>
                </a:tc>
                <a:tc>
                  <a:txBody>
                    <a:bodyPr wrap="square"/>
                    <a:lstStyle/>
                    <a:p>
                      <a:pPr algn="ctr"/>
                      <a:r>
                        <a:rPr sz="800">
                          <a:solidFill>
                            <a:srgbClr val="36393B"/>
                          </a:solidFill>
                          <a:latin typeface="+mj-lt"/>
                        </a:rPr>
                        <a:t>ITC</a:t>
                      </a:r>
                    </a:p>
                  </a:txBody>
                  <a:tcPr marL="45720" marR="45720" marT="18288" marB="18288" anchor="ctr">
                    <a:solidFill>
                      <a:srgbClr val="2BB399"/>
                    </a:solidFill>
                  </a:tcPr>
                </a:tc>
                <a:tc>
                  <a:txBody>
                    <a:bodyPr wrap="square"/>
                    <a:lstStyle/>
                    <a:p>
                      <a:pPr algn="ctr"/>
                      <a:r>
                        <a:rPr sz="800">
                          <a:solidFill>
                            <a:srgbClr val="36393B"/>
                          </a:solidFill>
                          <a:latin typeface="+mj-lt"/>
                        </a:rPr>
                        <a:t>MARUTI</a:t>
                      </a:r>
                    </a:p>
                  </a:txBody>
                  <a:tcPr marL="45720" marR="45720" marT="18288" marB="18288" anchor="ctr">
                    <a:solidFill>
                      <a:srgbClr val="2BB399"/>
                    </a:solidFill>
                  </a:tcPr>
                </a:tc>
                <a:tc>
                  <a:txBody>
                    <a:bodyPr wrap="square"/>
                    <a:lstStyle/>
                    <a:p>
                      <a:pPr algn="ctr"/>
                      <a:r>
                        <a:rPr sz="800">
                          <a:solidFill>
                            <a:srgbClr val="36393B"/>
                          </a:solidFill>
                          <a:latin typeface="+mj-lt"/>
                        </a:rPr>
                        <a:t>SUNPH</a:t>
                      </a:r>
                    </a:p>
                  </a:txBody>
                  <a:tcPr marL="45720" marR="45720" marT="18288" marB="18288" anchor="ctr">
                    <a:solidFill>
                      <a:srgbClr val="2BB399"/>
                    </a:solidFill>
                  </a:tcPr>
                </a:tc>
                <a:tc>
                  <a:txBody>
                    <a:bodyPr wrap="square"/>
                    <a:lstStyle/>
                    <a:p>
                      <a:pPr algn="ctr"/>
                      <a:r>
                        <a:rPr sz="800">
                          <a:solidFill>
                            <a:srgbClr val="36393B"/>
                          </a:solidFill>
                          <a:latin typeface="+mj-lt"/>
                        </a:rPr>
                        <a:t>LT</a:t>
                      </a:r>
                    </a:p>
                  </a:txBody>
                  <a:tcPr marL="45720" marR="45720" marT="18288" marB="18288" anchor="ctr">
                    <a:solidFill>
                      <a:srgbClr val="2BB399"/>
                    </a:solidFill>
                  </a:tcPr>
                </a:tc>
                <a:tc>
                  <a:txBody>
                    <a:bodyPr wrap="square"/>
                    <a:lstStyle/>
                    <a:p>
                      <a:pPr algn="ctr"/>
                      <a:r>
                        <a:rPr sz="800">
                          <a:solidFill>
                            <a:srgbClr val="36393B"/>
                          </a:solidFill>
                          <a:latin typeface="+mj-lt"/>
                        </a:rPr>
                        <a:t>POOLED</a:t>
                      </a:r>
                    </a:p>
                  </a:txBody>
                  <a:tcPr marL="45720" marR="45720" marT="18288" marB="18288" anchor="ctr">
                    <a:solidFill>
                      <a:srgbClr val="2BB399"/>
                    </a:solidFill>
                  </a:tcPr>
                </a:tc>
                <a:tc>
                  <a:txBody>
                    <a:bodyPr wrap="square"/>
                    <a:lstStyle/>
                    <a:p>
                      <a:pPr algn="ctr"/>
                      <a:r>
                        <a:rPr sz="800">
                          <a:solidFill>
                            <a:srgbClr val="36393B"/>
                          </a:solidFill>
                          <a:latin typeface="+mj-lt"/>
                        </a:rPr>
                        <a:t>T</a:t>
                      </a:r>
                    </a:p>
                  </a:txBody>
                  <a:tcPr marL="45720" marR="45720" marT="18288" marB="18288" anchor="ctr">
                    <a:solidFill>
                      <a:srgbClr val="2BB399"/>
                    </a:solidFill>
                  </a:tcPr>
                </a:tc>
              </a:tr>
              <a:tr h="365760">
                <a:tc>
                  <a:txBody>
                    <a:bodyPr wrap="square"/>
                    <a:lstStyle/>
                    <a:p>
                      <a:pPr algn="l"/>
                      <a:r>
                        <a:rPr sz="1100" b="1">
                          <a:solidFill>
                            <a:srgbClr val="36393B"/>
                          </a:solidFill>
                        </a:rPr>
                        <a:t>SMA cross</a:t>
                      </a:r>
                    </a:p>
                  </a:txBody>
                  <a:tcPr marL="45720" marR="45720" marT="18288" marB="18288" anchor="ctr">
                    <a:solidFill>
                      <a:srgbClr val="FFFFFF"/>
                    </a:solidFill>
                  </a:tcPr>
                </a:tc>
                <a:tc>
                  <a:txBody>
                    <a:bodyPr wrap="square"/>
                    <a:lstStyle/>
                    <a:p>
                      <a:pPr algn="ctr"/>
                      <a:r>
                        <a:rPr sz="1100" b="0">
                          <a:solidFill>
                            <a:srgbClr val="36393B"/>
                          </a:solidFill>
                        </a:rPr>
                        <a:t>-0.1</a:t>
                      </a:r>
                    </a:p>
                  </a:txBody>
                  <a:tcPr marL="45720" marR="45720" marT="18288" marB="18288" anchor="ctr">
                    <a:solidFill>
                      <a:srgbClr val="FFFAF7"/>
                    </a:solidFill>
                  </a:tcPr>
                </a:tc>
                <a:tc>
                  <a:txBody>
                    <a:bodyPr wrap="square"/>
                    <a:lstStyle/>
                    <a:p>
                      <a:pPr algn="ctr"/>
                      <a:r>
                        <a:rPr sz="1100" b="0">
                          <a:solidFill>
                            <a:srgbClr val="36393B"/>
                          </a:solidFill>
                        </a:rPr>
                        <a:t>+0.3</a:t>
                      </a:r>
                    </a:p>
                  </a:txBody>
                  <a:tcPr marL="45720" marR="45720" marT="18288" marB="18288" anchor="ctr">
                    <a:solidFill>
                      <a:srgbClr val="EAF7F4"/>
                    </a:solidFill>
                  </a:tcPr>
                </a:tc>
                <a:tc>
                  <a:txBody>
                    <a:bodyPr wrap="square"/>
                    <a:lstStyle/>
                    <a:p>
                      <a:pPr algn="ctr"/>
                      <a:r>
                        <a:rPr sz="1100" b="0">
                          <a:solidFill>
                            <a:srgbClr val="36393B"/>
                          </a:solidFill>
                        </a:rPr>
                        <a:t>+0.4</a:t>
                      </a:r>
                    </a:p>
                  </a:txBody>
                  <a:tcPr marL="45720" marR="45720" marT="18288" marB="18288" anchor="ctr">
                    <a:solidFill>
                      <a:srgbClr val="E3F4F0"/>
                    </a:solidFill>
                  </a:tcPr>
                </a:tc>
                <a:tc>
                  <a:txBody>
                    <a:bodyPr wrap="square"/>
                    <a:lstStyle/>
                    <a:p>
                      <a:pPr algn="ctr"/>
                      <a:r>
                        <a:rPr sz="1100" b="0">
                          <a:solidFill>
                            <a:srgbClr val="36393B"/>
                          </a:solidFill>
                        </a:rPr>
                        <a:t>+0.1</a:t>
                      </a:r>
                    </a:p>
                  </a:txBody>
                  <a:tcPr marL="45720" marR="45720" marT="18288" marB="18288" anchor="ctr">
                    <a:solidFill>
                      <a:srgbClr val="F8FCFB"/>
                    </a:solidFill>
                  </a:tcPr>
                </a:tc>
                <a:tc>
                  <a:txBody>
                    <a:bodyPr wrap="square"/>
                    <a:lstStyle/>
                    <a:p>
                      <a:pPr algn="ctr"/>
                      <a:r>
                        <a:rPr sz="1100" b="0">
                          <a:solidFill>
                            <a:srgbClr val="36393B"/>
                          </a:solidFill>
                        </a:rPr>
                        <a:t>+0.0</a:t>
                      </a:r>
                    </a:p>
                  </a:txBody>
                  <a:tcPr marL="45720" marR="45720" marT="18288" marB="18288" anchor="ctr">
                    <a:solidFill>
                      <a:srgbClr val="FFFFFF"/>
                    </a:solidFill>
                  </a:tcPr>
                </a:tc>
                <a:tc>
                  <a:txBody>
                    <a:bodyPr wrap="square"/>
                    <a:lstStyle/>
                    <a:p>
                      <a:pPr algn="ctr"/>
                      <a:r>
                        <a:rPr sz="1100" b="0">
                          <a:solidFill>
                            <a:srgbClr val="36393B"/>
                          </a:solidFill>
                        </a:rPr>
                        <a:t>+1.4</a:t>
                      </a:r>
                    </a:p>
                  </a:txBody>
                  <a:tcPr marL="45720" marR="45720" marT="18288" marB="18288" anchor="ctr">
                    <a:solidFill>
                      <a:srgbClr val="9BD8CC"/>
                    </a:solidFill>
                  </a:tcPr>
                </a:tc>
                <a:tc>
                  <a:txBody>
                    <a:bodyPr wrap="square"/>
                    <a:lstStyle/>
                    <a:p>
                      <a:pPr algn="ctr"/>
                      <a:r>
                        <a:rPr sz="1100" b="0">
                          <a:solidFill>
                            <a:srgbClr val="36393B"/>
                          </a:solidFill>
                        </a:rPr>
                        <a:t>-0.2</a:t>
                      </a:r>
                    </a:p>
                  </a:txBody>
                  <a:tcPr marL="45720" marR="45720" marT="18288" marB="18288" anchor="ctr">
                    <a:solidFill>
                      <a:srgbClr val="FFF4F0"/>
                    </a:solidFill>
                  </a:tcPr>
                </a:tc>
                <a:tc>
                  <a:txBody>
                    <a:bodyPr wrap="square"/>
                    <a:lstStyle/>
                    <a:p>
                      <a:pPr algn="ctr"/>
                      <a:r>
                        <a:rPr sz="1100" b="0">
                          <a:solidFill>
                            <a:srgbClr val="36393B"/>
                          </a:solidFill>
                        </a:rPr>
                        <a:t>+0.25</a:t>
                      </a:r>
                    </a:p>
                  </a:txBody>
                  <a:tcPr marL="45720" marR="45720" marT="18288" marB="18288" anchor="ctr">
                    <a:solidFill>
                      <a:srgbClr val="C7E9E2"/>
                    </a:solidFill>
                  </a:tcPr>
                </a:tc>
                <a:tc>
                  <a:txBody>
                    <a:bodyPr wrap="square"/>
                    <a:lstStyle/>
                    <a:p>
                      <a:pPr algn="ctr"/>
                      <a:r>
                        <a:rPr sz="1100" b="0">
                          <a:solidFill>
                            <a:srgbClr val="36393B"/>
                          </a:solidFill>
                        </a:rPr>
                        <a:t>0.78</a:t>
                      </a:r>
                    </a:p>
                  </a:txBody>
                  <a:tcPr marL="45720" marR="45720" marT="18288" marB="18288" anchor="ctr">
                    <a:solidFill>
                      <a:srgbClr val="FFFFFF"/>
                    </a:solidFill>
                  </a:tcPr>
                </a:tc>
              </a:tr>
              <a:tr h="365760">
                <a:tc>
                  <a:txBody>
                    <a:bodyPr wrap="square"/>
                    <a:lstStyle/>
                    <a:p>
                      <a:pPr algn="l"/>
                      <a:r>
                        <a:rPr sz="1100" b="1">
                          <a:solidFill>
                            <a:srgbClr val="36393B"/>
                          </a:solidFill>
                        </a:rPr>
                        <a:t>EMA cross</a:t>
                      </a:r>
                    </a:p>
                  </a:txBody>
                  <a:tcPr marL="45720" marR="45720" marT="18288" marB="18288" anchor="ctr">
                    <a:solidFill>
                      <a:srgbClr val="F4FEFB"/>
                    </a:solidFill>
                  </a:tcPr>
                </a:tc>
                <a:tc>
                  <a:txBody>
                    <a:bodyPr wrap="square"/>
                    <a:lstStyle/>
                    <a:p>
                      <a:pPr algn="ctr"/>
                      <a:r>
                        <a:rPr sz="1100" b="0">
                          <a:solidFill>
                            <a:srgbClr val="36393B"/>
                          </a:solidFill>
                        </a:rPr>
                        <a:t>-0.2</a:t>
                      </a:r>
                    </a:p>
                  </a:txBody>
                  <a:tcPr marL="45720" marR="45720" marT="18288" marB="18288" anchor="ctr">
                    <a:solidFill>
                      <a:srgbClr val="FFF4F0"/>
                    </a:solidFill>
                  </a:tcPr>
                </a:tc>
                <a:tc>
                  <a:txBody>
                    <a:bodyPr wrap="square"/>
                    <a:lstStyle/>
                    <a:p>
                      <a:pPr algn="ctr"/>
                      <a:r>
                        <a:rPr sz="1100" b="0">
                          <a:solidFill>
                            <a:srgbClr val="36393B"/>
                          </a:solidFill>
                        </a:rPr>
                        <a:t>+0.3</a:t>
                      </a:r>
                    </a:p>
                  </a:txBody>
                  <a:tcPr marL="45720" marR="45720" marT="18288" marB="18288" anchor="ctr">
                    <a:solidFill>
                      <a:srgbClr val="EAF7F4"/>
                    </a:solidFill>
                  </a:tcPr>
                </a:tc>
                <a:tc>
                  <a:txBody>
                    <a:bodyPr wrap="square"/>
                    <a:lstStyle/>
                    <a:p>
                      <a:pPr algn="ctr"/>
                      <a:r>
                        <a:rPr sz="1100" b="0">
                          <a:solidFill>
                            <a:srgbClr val="36393B"/>
                          </a:solidFill>
                        </a:rPr>
                        <a:t>-0.2</a:t>
                      </a:r>
                    </a:p>
                  </a:txBody>
                  <a:tcPr marL="45720" marR="45720" marT="18288" marB="18288" anchor="ctr">
                    <a:solidFill>
                      <a:srgbClr val="FFF4F0"/>
                    </a:solidFill>
                  </a:tcPr>
                </a:tc>
                <a:tc>
                  <a:txBody>
                    <a:bodyPr wrap="square"/>
                    <a:lstStyle/>
                    <a:p>
                      <a:pPr algn="ctr"/>
                      <a:r>
                        <a:rPr sz="1100" b="0">
                          <a:solidFill>
                            <a:srgbClr val="36393B"/>
                          </a:solidFill>
                        </a:rPr>
                        <a:t>-0.1</a:t>
                      </a:r>
                    </a:p>
                  </a:txBody>
                  <a:tcPr marL="45720" marR="45720" marT="18288" marB="18288" anchor="ctr">
                    <a:solidFill>
                      <a:srgbClr val="FFFAF7"/>
                    </a:solidFill>
                  </a:tcPr>
                </a:tc>
                <a:tc>
                  <a:txBody>
                    <a:bodyPr wrap="square"/>
                    <a:lstStyle/>
                    <a:p>
                      <a:pPr algn="ctr"/>
                      <a:r>
                        <a:rPr sz="1100" b="0">
                          <a:solidFill>
                            <a:srgbClr val="36393B"/>
                          </a:solidFill>
                        </a:rPr>
                        <a:t>+0.0</a:t>
                      </a:r>
                    </a:p>
                  </a:txBody>
                  <a:tcPr marL="45720" marR="45720" marT="18288" marB="18288" anchor="ctr">
                    <a:solidFill>
                      <a:srgbClr val="FFFFFF"/>
                    </a:solidFill>
                  </a:tcPr>
                </a:tc>
                <a:tc>
                  <a:txBody>
                    <a:bodyPr wrap="square"/>
                    <a:lstStyle/>
                    <a:p>
                      <a:pPr algn="ctr"/>
                      <a:r>
                        <a:rPr sz="1100" b="0">
                          <a:solidFill>
                            <a:srgbClr val="36393B"/>
                          </a:solidFill>
                        </a:rPr>
                        <a:t>+0.1</a:t>
                      </a:r>
                    </a:p>
                  </a:txBody>
                  <a:tcPr marL="45720" marR="45720" marT="18288" marB="18288" anchor="ctr">
                    <a:solidFill>
                      <a:srgbClr val="F8FCFB"/>
                    </a:solidFill>
                  </a:tcPr>
                </a:tc>
                <a:tc>
                  <a:txBody>
                    <a:bodyPr wrap="square"/>
                    <a:lstStyle/>
                    <a:p>
                      <a:pPr algn="ctr"/>
                      <a:r>
                        <a:rPr sz="1100" b="0">
                          <a:solidFill>
                            <a:srgbClr val="36393B"/>
                          </a:solidFill>
                        </a:rPr>
                        <a:t>-0.4</a:t>
                      </a:r>
                    </a:p>
                  </a:txBody>
                  <a:tcPr marL="45720" marR="45720" marT="18288" marB="18288" anchor="ctr">
                    <a:solidFill>
                      <a:srgbClr val="FFEAE0"/>
                    </a:solidFill>
                  </a:tcPr>
                </a:tc>
                <a:tc>
                  <a:txBody>
                    <a:bodyPr wrap="square"/>
                    <a:lstStyle/>
                    <a:p>
                      <a:pPr algn="ctr"/>
                      <a:r>
                        <a:rPr sz="1100" b="0">
                          <a:solidFill>
                            <a:srgbClr val="36393B"/>
                          </a:solidFill>
                        </a:rPr>
                        <a:t>-0.05</a:t>
                      </a:r>
                    </a:p>
                  </a:txBody>
                  <a:tcPr marL="45720" marR="45720" marT="18288" marB="18288" anchor="ctr">
                    <a:solidFill>
                      <a:srgbClr val="FFF7F3"/>
                    </a:solidFill>
                  </a:tcPr>
                </a:tc>
                <a:tc>
                  <a:txBody>
                    <a:bodyPr wrap="square"/>
                    <a:lstStyle/>
                    <a:p>
                      <a:pPr algn="ctr"/>
                      <a:r>
                        <a:rPr sz="1100" b="0">
                          <a:solidFill>
                            <a:srgbClr val="36393B"/>
                          </a:solidFill>
                        </a:rPr>
                        <a:t>-0.21</a:t>
                      </a:r>
                    </a:p>
                  </a:txBody>
                  <a:tcPr marL="45720" marR="45720" marT="18288" marB="18288" anchor="ctr">
                    <a:solidFill>
                      <a:srgbClr val="F4FEFB"/>
                    </a:solidFill>
                  </a:tcPr>
                </a:tc>
              </a:tr>
              <a:tr h="365760">
                <a:tc>
                  <a:txBody>
                    <a:bodyPr wrap="square"/>
                    <a:lstStyle/>
                    <a:p>
                      <a:pPr algn="l"/>
                      <a:r>
                        <a:rPr sz="1100" b="1">
                          <a:solidFill>
                            <a:srgbClr val="36393B"/>
                          </a:solidFill>
                        </a:rPr>
                        <a:t>RSI up 30</a:t>
                      </a:r>
                    </a:p>
                  </a:txBody>
                  <a:tcPr marL="45720" marR="45720" marT="18288" marB="18288" anchor="ctr">
                    <a:solidFill>
                      <a:srgbClr val="FFFFFF"/>
                    </a:solidFill>
                  </a:tcPr>
                </a:tc>
                <a:tc>
                  <a:txBody>
                    <a:bodyPr wrap="square"/>
                    <a:lstStyle/>
                    <a:p>
                      <a:pPr algn="ctr"/>
                      <a:r>
                        <a:rPr sz="1100" b="0">
                          <a:solidFill>
                            <a:srgbClr val="36393B"/>
                          </a:solidFill>
                        </a:rPr>
                        <a:t>+0.7</a:t>
                      </a:r>
                    </a:p>
                  </a:txBody>
                  <a:tcPr marL="45720" marR="45720" marT="18288" marB="18288" anchor="ctr">
                    <a:solidFill>
                      <a:srgbClr val="CDECE5"/>
                    </a:solidFill>
                  </a:tcPr>
                </a:tc>
                <a:tc>
                  <a:txBody>
                    <a:bodyPr wrap="square"/>
                    <a:lstStyle/>
                    <a:p>
                      <a:pPr algn="ctr"/>
                      <a:r>
                        <a:rPr sz="1100" b="0">
                          <a:solidFill>
                            <a:srgbClr val="36393B"/>
                          </a:solidFill>
                        </a:rPr>
                        <a:t>+0.2</a:t>
                      </a:r>
                    </a:p>
                  </a:txBody>
                  <a:tcPr marL="45720" marR="45720" marT="18288" marB="18288" anchor="ctr">
                    <a:solidFill>
                      <a:srgbClr val="F1F9F8"/>
                    </a:solidFill>
                  </a:tcPr>
                </a:tc>
                <a:tc>
                  <a:txBody>
                    <a:bodyPr wrap="square"/>
                    <a:lstStyle/>
                    <a:p>
                      <a:pPr algn="ctr"/>
                      <a:r>
                        <a:rPr sz="1100" b="0">
                          <a:solidFill>
                            <a:srgbClr val="36393B"/>
                          </a:solidFill>
                        </a:rPr>
                        <a:t>-0.6</a:t>
                      </a:r>
                    </a:p>
                  </a:txBody>
                  <a:tcPr marL="45720" marR="45720" marT="18288" marB="18288" anchor="ctr">
                    <a:solidFill>
                      <a:srgbClr val="FFDFD1"/>
                    </a:solidFill>
                  </a:tcPr>
                </a:tc>
                <a:tc>
                  <a:txBody>
                    <a:bodyPr wrap="square"/>
                    <a:lstStyle/>
                    <a:p>
                      <a:pPr algn="ctr"/>
                      <a:r>
                        <a:rPr sz="1100" b="0">
                          <a:solidFill>
                            <a:srgbClr val="36393B"/>
                          </a:solidFill>
                        </a:rPr>
                        <a:t>+0.2</a:t>
                      </a:r>
                    </a:p>
                  </a:txBody>
                  <a:tcPr marL="45720" marR="45720" marT="18288" marB="18288" anchor="ctr">
                    <a:solidFill>
                      <a:srgbClr val="F1F9F8"/>
                    </a:solidFill>
                  </a:tcPr>
                </a:tc>
                <a:tc>
                  <a:txBody>
                    <a:bodyPr wrap="square"/>
                    <a:lstStyle/>
                    <a:p>
                      <a:pPr algn="ctr"/>
                      <a:r>
                        <a:rPr sz="1100" b="0">
                          <a:solidFill>
                            <a:srgbClr val="36393B"/>
                          </a:solidFill>
                        </a:rPr>
                        <a:t>-2.1</a:t>
                      </a:r>
                    </a:p>
                  </a:txBody>
                  <a:tcPr marL="45720" marR="45720" marT="18288" marB="18288" anchor="ctr">
                    <a:solidFill>
                      <a:srgbClr val="FE8E5E"/>
                    </a:solidFill>
                  </a:tcPr>
                </a:tc>
                <a:tc>
                  <a:txBody>
                    <a:bodyPr wrap="square"/>
                    <a:lstStyle/>
                    <a:p>
                      <a:pPr algn="ctr"/>
                      <a:r>
                        <a:rPr sz="1100" b="0">
                          <a:solidFill>
                            <a:srgbClr val="36393B"/>
                          </a:solidFill>
                        </a:rPr>
                        <a:t>+2.5</a:t>
                      </a:r>
                    </a:p>
                  </a:txBody>
                  <a:tcPr marL="45720" marR="45720" marT="18288" marB="18288" anchor="ctr">
                    <a:solidFill>
                      <a:srgbClr val="4DBAA4"/>
                    </a:solidFill>
                  </a:tcPr>
                </a:tc>
                <a:tc>
                  <a:txBody>
                    <a:bodyPr wrap="square"/>
                    <a:lstStyle/>
                    <a:p>
                      <a:pPr algn="ctr"/>
                      <a:r>
                        <a:rPr sz="1100" b="0">
                          <a:solidFill>
                            <a:srgbClr val="36393B"/>
                          </a:solidFill>
                        </a:rPr>
                        <a:t>-0.3</a:t>
                      </a:r>
                    </a:p>
                  </a:txBody>
                  <a:tcPr marL="45720" marR="45720" marT="18288" marB="18288" anchor="ctr">
                    <a:solidFill>
                      <a:srgbClr val="FFEFE8"/>
                    </a:solidFill>
                  </a:tcPr>
                </a:tc>
                <a:tc>
                  <a:txBody>
                    <a:bodyPr wrap="square"/>
                    <a:lstStyle/>
                    <a:p>
                      <a:pPr algn="ctr"/>
                      <a:r>
                        <a:rPr sz="1100" b="0">
                          <a:solidFill>
                            <a:srgbClr val="36393B"/>
                          </a:solidFill>
                        </a:rPr>
                        <a:t>+0.05</a:t>
                      </a:r>
                    </a:p>
                  </a:txBody>
                  <a:tcPr marL="45720" marR="45720" marT="18288" marB="18288" anchor="ctr">
                    <a:solidFill>
                      <a:srgbClr val="F4FBF9"/>
                    </a:solidFill>
                  </a:tcPr>
                </a:tc>
                <a:tc>
                  <a:txBody>
                    <a:bodyPr wrap="square"/>
                    <a:lstStyle/>
                    <a:p>
                      <a:pPr algn="ctr"/>
                      <a:r>
                        <a:rPr sz="1100" b="0">
                          <a:solidFill>
                            <a:srgbClr val="36393B"/>
                          </a:solidFill>
                        </a:rPr>
                        <a:t>0.11</a:t>
                      </a:r>
                    </a:p>
                  </a:txBody>
                  <a:tcPr marL="45720" marR="45720" marT="18288" marB="18288" anchor="ctr">
                    <a:solidFill>
                      <a:srgbClr val="FFFFFF"/>
                    </a:solidFill>
                  </a:tcPr>
                </a:tc>
              </a:tr>
              <a:tr h="365760">
                <a:tc>
                  <a:txBody>
                    <a:bodyPr wrap="square"/>
                    <a:lstStyle/>
                    <a:p>
                      <a:pPr algn="l"/>
                      <a:r>
                        <a:rPr sz="1100" b="1">
                          <a:solidFill>
                            <a:srgbClr val="36393B"/>
                          </a:solidFill>
                        </a:rPr>
                        <a:t>MACD cross</a:t>
                      </a:r>
                    </a:p>
                  </a:txBody>
                  <a:tcPr marL="45720" marR="45720" marT="18288" marB="18288" anchor="ctr">
                    <a:solidFill>
                      <a:srgbClr val="F4FEFB"/>
                    </a:solidFill>
                  </a:tcPr>
                </a:tc>
                <a:tc>
                  <a:txBody>
                    <a:bodyPr wrap="square"/>
                    <a:lstStyle/>
                    <a:p>
                      <a:pPr algn="ctr"/>
                      <a:r>
                        <a:rPr sz="1100" b="0">
                          <a:solidFill>
                            <a:srgbClr val="36393B"/>
                          </a:solidFill>
                        </a:rPr>
                        <a:t>-0.4</a:t>
                      </a:r>
                    </a:p>
                  </a:txBody>
                  <a:tcPr marL="45720" marR="45720" marT="18288" marB="18288" anchor="ctr">
                    <a:solidFill>
                      <a:srgbClr val="FFEAE0"/>
                    </a:solidFill>
                  </a:tcPr>
                </a:tc>
                <a:tc>
                  <a:txBody>
                    <a:bodyPr wrap="square"/>
                    <a:lstStyle/>
                    <a:p>
                      <a:pPr algn="ctr"/>
                      <a:r>
                        <a:rPr sz="1100" b="0">
                          <a:solidFill>
                            <a:srgbClr val="36393B"/>
                          </a:solidFill>
                        </a:rPr>
                        <a:t>-0.3</a:t>
                      </a:r>
                    </a:p>
                  </a:txBody>
                  <a:tcPr marL="45720" marR="45720" marT="18288" marB="18288" anchor="ctr">
                    <a:solidFill>
                      <a:srgbClr val="FFEFE8"/>
                    </a:solidFill>
                  </a:tcPr>
                </a:tc>
                <a:tc>
                  <a:txBody>
                    <a:bodyPr wrap="square"/>
                    <a:lstStyle/>
                    <a:p>
                      <a:pPr algn="ctr"/>
                      <a:r>
                        <a:rPr sz="1100" b="0">
                          <a:solidFill>
                            <a:srgbClr val="36393B"/>
                          </a:solidFill>
                        </a:rPr>
                        <a:t>-0.6</a:t>
                      </a:r>
                    </a:p>
                  </a:txBody>
                  <a:tcPr marL="45720" marR="45720" marT="18288" marB="18288" anchor="ctr">
                    <a:solidFill>
                      <a:srgbClr val="FFDFD1"/>
                    </a:solidFill>
                  </a:tcPr>
                </a:tc>
                <a:tc>
                  <a:txBody>
                    <a:bodyPr wrap="square"/>
                    <a:lstStyle/>
                    <a:p>
                      <a:pPr algn="ctr"/>
                      <a:r>
                        <a:rPr sz="1100" b="0">
                          <a:solidFill>
                            <a:srgbClr val="36393B"/>
                          </a:solidFill>
                        </a:rPr>
                        <a:t>-0.2</a:t>
                      </a:r>
                    </a:p>
                  </a:txBody>
                  <a:tcPr marL="45720" marR="45720" marT="18288" marB="18288" anchor="ctr">
                    <a:solidFill>
                      <a:srgbClr val="FFF4F0"/>
                    </a:solidFill>
                  </a:tcPr>
                </a:tc>
                <a:tc>
                  <a:txBody>
                    <a:bodyPr wrap="square"/>
                    <a:lstStyle/>
                    <a:p>
                      <a:pPr algn="ctr"/>
                      <a:r>
                        <a:rPr sz="1100" b="0">
                          <a:solidFill>
                            <a:srgbClr val="36393B"/>
                          </a:solidFill>
                        </a:rPr>
                        <a:t>+0.6</a:t>
                      </a:r>
                    </a:p>
                  </a:txBody>
                  <a:tcPr marL="45720" marR="45720" marT="18288" marB="18288" anchor="ctr">
                    <a:solidFill>
                      <a:srgbClr val="D4EEE9"/>
                    </a:solidFill>
                  </a:tcPr>
                </a:tc>
                <a:tc>
                  <a:txBody>
                    <a:bodyPr wrap="square"/>
                    <a:lstStyle/>
                    <a:p>
                      <a:pPr algn="ctr"/>
                      <a:r>
                        <a:rPr sz="1100" b="0">
                          <a:solidFill>
                            <a:srgbClr val="36393B"/>
                          </a:solidFill>
                        </a:rPr>
                        <a:t>-0.1</a:t>
                      </a:r>
                    </a:p>
                  </a:txBody>
                  <a:tcPr marL="45720" marR="45720" marT="18288" marB="18288" anchor="ctr">
                    <a:solidFill>
                      <a:srgbClr val="FFFAF7"/>
                    </a:solidFill>
                  </a:tcPr>
                </a:tc>
                <a:tc>
                  <a:txBody>
                    <a:bodyPr wrap="square"/>
                    <a:lstStyle/>
                    <a:p>
                      <a:pPr algn="ctr"/>
                      <a:r>
                        <a:rPr sz="1100" b="0">
                          <a:solidFill>
                            <a:srgbClr val="36393B"/>
                          </a:solidFill>
                        </a:rPr>
                        <a:t>-0.4</a:t>
                      </a:r>
                    </a:p>
                  </a:txBody>
                  <a:tcPr marL="45720" marR="45720" marT="18288" marB="18288" anchor="ctr">
                    <a:solidFill>
                      <a:srgbClr val="FFEAE0"/>
                    </a:solidFill>
                  </a:tcPr>
                </a:tc>
                <a:tc>
                  <a:txBody>
                    <a:bodyPr wrap="square"/>
                    <a:lstStyle/>
                    <a:p>
                      <a:pPr algn="ctr"/>
                      <a:r>
                        <a:rPr sz="1100" b="0">
                          <a:solidFill>
                            <a:srgbClr val="36393B"/>
                          </a:solidFill>
                        </a:rPr>
                        <a:t>-0.20</a:t>
                      </a:r>
                    </a:p>
                  </a:txBody>
                  <a:tcPr marL="45720" marR="45720" marT="18288" marB="18288" anchor="ctr">
                    <a:solidFill>
                      <a:srgbClr val="FFDDCF"/>
                    </a:solidFill>
                  </a:tcPr>
                </a:tc>
                <a:tc>
                  <a:txBody>
                    <a:bodyPr wrap="square"/>
                    <a:lstStyle/>
                    <a:p>
                      <a:pPr algn="ctr"/>
                      <a:r>
                        <a:rPr sz="1100" b="0">
                          <a:solidFill>
                            <a:srgbClr val="36393B"/>
                          </a:solidFill>
                        </a:rPr>
                        <a:t>-1.12</a:t>
                      </a:r>
                    </a:p>
                  </a:txBody>
                  <a:tcPr marL="45720" marR="45720" marT="18288" marB="18288" anchor="ctr">
                    <a:solidFill>
                      <a:srgbClr val="F4FEFB"/>
                    </a:solidFill>
                  </a:tcPr>
                </a:tc>
              </a:tr>
              <a:tr h="365760">
                <a:tc>
                  <a:txBody>
                    <a:bodyPr wrap="square"/>
                    <a:lstStyle/>
                    <a:p>
                      <a:pPr algn="l"/>
                      <a:r>
                        <a:rPr sz="1100" b="1">
                          <a:solidFill>
                            <a:srgbClr val="36393B"/>
                          </a:solidFill>
                        </a:rPr>
                        <a:t>BB re-entry</a:t>
                      </a:r>
                    </a:p>
                  </a:txBody>
                  <a:tcPr marL="45720" marR="45720" marT="18288" marB="18288" anchor="ctr">
                    <a:solidFill>
                      <a:srgbClr val="FFFFFF"/>
                    </a:solidFill>
                  </a:tcPr>
                </a:tc>
                <a:tc>
                  <a:txBody>
                    <a:bodyPr wrap="square"/>
                    <a:lstStyle/>
                    <a:p>
                      <a:pPr algn="ctr"/>
                      <a:r>
                        <a:rPr sz="1100" b="0">
                          <a:solidFill>
                            <a:srgbClr val="36393B"/>
                          </a:solidFill>
                        </a:rPr>
                        <a:t>+0.4</a:t>
                      </a:r>
                    </a:p>
                  </a:txBody>
                  <a:tcPr marL="45720" marR="45720" marT="18288" marB="18288" anchor="ctr">
                    <a:solidFill>
                      <a:srgbClr val="E3F4F0"/>
                    </a:solidFill>
                  </a:tcPr>
                </a:tc>
                <a:tc>
                  <a:txBody>
                    <a:bodyPr wrap="square"/>
                    <a:lstStyle/>
                    <a:p>
                      <a:pPr algn="ctr"/>
                      <a:r>
                        <a:rPr sz="1100" b="0">
                          <a:solidFill>
                            <a:srgbClr val="36393B"/>
                          </a:solidFill>
                        </a:rPr>
                        <a:t>-0.2</a:t>
                      </a:r>
                    </a:p>
                  </a:txBody>
                  <a:tcPr marL="45720" marR="45720" marT="18288" marB="18288" anchor="ctr">
                    <a:solidFill>
                      <a:srgbClr val="FFF4F0"/>
                    </a:solidFill>
                  </a:tcPr>
                </a:tc>
                <a:tc>
                  <a:txBody>
                    <a:bodyPr wrap="square"/>
                    <a:lstStyle/>
                    <a:p>
                      <a:pPr algn="ctr"/>
                      <a:r>
                        <a:rPr sz="1100" b="0">
                          <a:solidFill>
                            <a:srgbClr val="36393B"/>
                          </a:solidFill>
                        </a:rPr>
                        <a:t>-1.5</a:t>
                      </a:r>
                    </a:p>
                  </a:txBody>
                  <a:tcPr marL="45720" marR="45720" marT="18288" marB="18288" anchor="ctr">
                    <a:solidFill>
                      <a:srgbClr val="FEAE8C"/>
                    </a:solidFill>
                  </a:tcPr>
                </a:tc>
                <a:tc>
                  <a:txBody>
                    <a:bodyPr wrap="square"/>
                    <a:lstStyle/>
                    <a:p>
                      <a:pPr algn="ctr"/>
                      <a:r>
                        <a:rPr sz="1100" b="0">
                          <a:solidFill>
                            <a:srgbClr val="36393B"/>
                          </a:solidFill>
                        </a:rPr>
                        <a:t>-0.4</a:t>
                      </a:r>
                    </a:p>
                  </a:txBody>
                  <a:tcPr marL="45720" marR="45720" marT="18288" marB="18288" anchor="ctr">
                    <a:solidFill>
                      <a:srgbClr val="FFEAE0"/>
                    </a:solidFill>
                  </a:tcPr>
                </a:tc>
                <a:tc>
                  <a:txBody>
                    <a:bodyPr wrap="square"/>
                    <a:lstStyle/>
                    <a:p>
                      <a:pPr algn="ctr"/>
                      <a:r>
                        <a:rPr sz="1100" b="0">
                          <a:solidFill>
                            <a:srgbClr val="36393B"/>
                          </a:solidFill>
                        </a:rPr>
                        <a:t>-1.5</a:t>
                      </a:r>
                    </a:p>
                  </a:txBody>
                  <a:tcPr marL="45720" marR="45720" marT="18288" marB="18288" anchor="ctr">
                    <a:solidFill>
                      <a:srgbClr val="FEAE8C"/>
                    </a:solidFill>
                  </a:tcPr>
                </a:tc>
                <a:tc>
                  <a:txBody>
                    <a:bodyPr wrap="square"/>
                    <a:lstStyle/>
                    <a:p>
                      <a:pPr algn="ctr"/>
                      <a:r>
                        <a:rPr sz="1100" b="0">
                          <a:solidFill>
                            <a:srgbClr val="36393B"/>
                          </a:solidFill>
                        </a:rPr>
                        <a:t>+0.2</a:t>
                      </a:r>
                    </a:p>
                  </a:txBody>
                  <a:tcPr marL="45720" marR="45720" marT="18288" marB="18288" anchor="ctr">
                    <a:solidFill>
                      <a:srgbClr val="F1F9F8"/>
                    </a:solidFill>
                  </a:tcPr>
                </a:tc>
                <a:tc>
                  <a:txBody>
                    <a:bodyPr wrap="square"/>
                    <a:lstStyle/>
                    <a:p>
                      <a:pPr algn="ctr"/>
                      <a:r>
                        <a:rPr sz="1100" b="0">
                          <a:solidFill>
                            <a:srgbClr val="36393B"/>
                          </a:solidFill>
                        </a:rPr>
                        <a:t>-0.8</a:t>
                      </a:r>
                    </a:p>
                  </a:txBody>
                  <a:tcPr marL="45720" marR="45720" marT="18288" marB="18288" anchor="ctr">
                    <a:solidFill>
                      <a:srgbClr val="FFD4C2"/>
                    </a:solidFill>
                  </a:tcPr>
                </a:tc>
                <a:tc>
                  <a:txBody>
                    <a:bodyPr wrap="square"/>
                    <a:lstStyle/>
                    <a:p>
                      <a:pPr algn="ctr"/>
                      <a:r>
                        <a:rPr sz="1100" b="0">
                          <a:solidFill>
                            <a:srgbClr val="36393B"/>
                          </a:solidFill>
                        </a:rPr>
                        <a:t>-0.49</a:t>
                      </a:r>
                    </a:p>
                  </a:txBody>
                  <a:tcPr marL="45720" marR="45720" marT="18288" marB="18288" anchor="ctr">
                    <a:solidFill>
                      <a:srgbClr val="FEAD8A"/>
                    </a:solidFill>
                  </a:tcPr>
                </a:tc>
                <a:tc>
                  <a:txBody>
                    <a:bodyPr wrap="square"/>
                    <a:lstStyle/>
                    <a:p>
                      <a:pPr algn="ctr"/>
                      <a:r>
                        <a:rPr sz="1100" b="0">
                          <a:solidFill>
                            <a:srgbClr val="36393B"/>
                          </a:solidFill>
                        </a:rPr>
                        <a:t>-1.69</a:t>
                      </a:r>
                    </a:p>
                  </a:txBody>
                  <a:tcPr marL="45720" marR="45720" marT="18288" marB="18288" anchor="ctr">
                    <a:solidFill>
                      <a:srgbClr val="FFFFFF"/>
                    </a:solidFill>
                  </a:tcPr>
                </a:tc>
              </a:tr>
              <a:tr h="365760">
                <a:tc>
                  <a:txBody>
                    <a:bodyPr wrap="square"/>
                    <a:lstStyle/>
                    <a:p>
                      <a:pPr algn="l"/>
                      <a:r>
                        <a:rPr sz="1100" b="1">
                          <a:solidFill>
                            <a:srgbClr val="36393B"/>
                          </a:solidFill>
                        </a:rPr>
                        <a:t>Stoch &lt;20</a:t>
                      </a:r>
                    </a:p>
                  </a:txBody>
                  <a:tcPr marL="45720" marR="45720" marT="18288" marB="18288" anchor="ctr">
                    <a:solidFill>
                      <a:srgbClr val="F4FEFB"/>
                    </a:solidFill>
                  </a:tcPr>
                </a:tc>
                <a:tc>
                  <a:txBody>
                    <a:bodyPr wrap="square"/>
                    <a:lstStyle/>
                    <a:p>
                      <a:pPr algn="ctr"/>
                      <a:r>
                        <a:rPr sz="1100" b="0">
                          <a:solidFill>
                            <a:srgbClr val="36393B"/>
                          </a:solidFill>
                        </a:rPr>
                        <a:t>+0.1</a:t>
                      </a:r>
                    </a:p>
                  </a:txBody>
                  <a:tcPr marL="45720" marR="45720" marT="18288" marB="18288" anchor="ctr">
                    <a:solidFill>
                      <a:srgbClr val="F8FCFB"/>
                    </a:solidFill>
                  </a:tcPr>
                </a:tc>
                <a:tc>
                  <a:txBody>
                    <a:bodyPr wrap="square"/>
                    <a:lstStyle/>
                    <a:p>
                      <a:pPr algn="ctr"/>
                      <a:r>
                        <a:rPr sz="1100" b="0">
                          <a:solidFill>
                            <a:srgbClr val="36393B"/>
                          </a:solidFill>
                        </a:rPr>
                        <a:t>-0.2</a:t>
                      </a:r>
                    </a:p>
                  </a:txBody>
                  <a:tcPr marL="45720" marR="45720" marT="18288" marB="18288" anchor="ctr">
                    <a:solidFill>
                      <a:srgbClr val="FFF4F0"/>
                    </a:solidFill>
                  </a:tcPr>
                </a:tc>
                <a:tc>
                  <a:txBody>
                    <a:bodyPr wrap="square"/>
                    <a:lstStyle/>
                    <a:p>
                      <a:pPr algn="ctr"/>
                      <a:r>
                        <a:rPr sz="1100" b="0">
                          <a:solidFill>
                            <a:srgbClr val="36393B"/>
                          </a:solidFill>
                        </a:rPr>
                        <a:t>-0.6</a:t>
                      </a:r>
                    </a:p>
                  </a:txBody>
                  <a:tcPr marL="45720" marR="45720" marT="18288" marB="18288" anchor="ctr">
                    <a:solidFill>
                      <a:srgbClr val="FFDFD1"/>
                    </a:solidFill>
                  </a:tcPr>
                </a:tc>
                <a:tc>
                  <a:txBody>
                    <a:bodyPr wrap="square"/>
                    <a:lstStyle/>
                    <a:p>
                      <a:pPr algn="ctr"/>
                      <a:r>
                        <a:rPr sz="1100" b="0">
                          <a:solidFill>
                            <a:srgbClr val="36393B"/>
                          </a:solidFill>
                        </a:rPr>
                        <a:t>-0.4</a:t>
                      </a:r>
                    </a:p>
                  </a:txBody>
                  <a:tcPr marL="45720" marR="45720" marT="18288" marB="18288" anchor="ctr">
                    <a:solidFill>
                      <a:srgbClr val="FFEAE0"/>
                    </a:solidFill>
                  </a:tcPr>
                </a:tc>
                <a:tc>
                  <a:txBody>
                    <a:bodyPr wrap="square"/>
                    <a:lstStyle/>
                    <a:p>
                      <a:pPr algn="ctr"/>
                      <a:r>
                        <a:rPr sz="1100" b="0">
                          <a:solidFill>
                            <a:srgbClr val="36393B"/>
                          </a:solidFill>
                        </a:rPr>
                        <a:t>-0.1</a:t>
                      </a:r>
                    </a:p>
                  </a:txBody>
                  <a:tcPr marL="45720" marR="45720" marT="18288" marB="18288" anchor="ctr">
                    <a:solidFill>
                      <a:srgbClr val="FFFAF7"/>
                    </a:solidFill>
                  </a:tcPr>
                </a:tc>
                <a:tc>
                  <a:txBody>
                    <a:bodyPr wrap="square"/>
                    <a:lstStyle/>
                    <a:p>
                      <a:pPr algn="ctr"/>
                      <a:r>
                        <a:rPr sz="1100" b="0">
                          <a:solidFill>
                            <a:srgbClr val="36393B"/>
                          </a:solidFill>
                        </a:rPr>
                        <a:t>+1.0</a:t>
                      </a:r>
                    </a:p>
                  </a:txBody>
                  <a:tcPr marL="45720" marR="45720" marT="18288" marB="18288" anchor="ctr">
                    <a:solidFill>
                      <a:srgbClr val="B8E3DA"/>
                    </a:solidFill>
                  </a:tcPr>
                </a:tc>
                <a:tc>
                  <a:txBody>
                    <a:bodyPr wrap="square"/>
                    <a:lstStyle/>
                    <a:p>
                      <a:pPr algn="ctr"/>
                      <a:r>
                        <a:rPr sz="1100" b="0">
                          <a:solidFill>
                            <a:srgbClr val="36393B"/>
                          </a:solidFill>
                        </a:rPr>
                        <a:t>-0.1</a:t>
                      </a:r>
                    </a:p>
                  </a:txBody>
                  <a:tcPr marL="45720" marR="45720" marT="18288" marB="18288" anchor="ctr">
                    <a:solidFill>
                      <a:srgbClr val="FFFAF7"/>
                    </a:solidFill>
                  </a:tcPr>
                </a:tc>
                <a:tc>
                  <a:txBody>
                    <a:bodyPr wrap="square"/>
                    <a:lstStyle/>
                    <a:p>
                      <a:pPr algn="ctr"/>
                      <a:r>
                        <a:rPr sz="1100" b="0">
                          <a:solidFill>
                            <a:srgbClr val="36393B"/>
                          </a:solidFill>
                        </a:rPr>
                        <a:t>-0.06</a:t>
                      </a:r>
                    </a:p>
                  </a:txBody>
                  <a:tcPr marL="45720" marR="45720" marT="18288" marB="18288" anchor="ctr">
                    <a:solidFill>
                      <a:srgbClr val="FFF5F1"/>
                    </a:solidFill>
                  </a:tcPr>
                </a:tc>
                <a:tc>
                  <a:txBody>
                    <a:bodyPr wrap="square"/>
                    <a:lstStyle/>
                    <a:p>
                      <a:pPr algn="ctr"/>
                      <a:r>
                        <a:rPr sz="1100" b="0">
                          <a:solidFill>
                            <a:srgbClr val="36393B"/>
                          </a:solidFill>
                        </a:rPr>
                        <a:t>-0.26</a:t>
                      </a:r>
                    </a:p>
                  </a:txBody>
                  <a:tcPr marL="45720" marR="45720" marT="18288" marB="18288" anchor="ctr">
                    <a:solidFill>
                      <a:srgbClr val="F4FEFB"/>
                    </a:solidFill>
                  </a:tcPr>
                </a:tc>
              </a:tr>
              <a:tr h="365760">
                <a:tc>
                  <a:txBody>
                    <a:bodyPr wrap="square"/>
                    <a:lstStyle/>
                    <a:p>
                      <a:pPr algn="l"/>
                      <a:r>
                        <a:rPr sz="1100" b="1">
                          <a:solidFill>
                            <a:srgbClr val="36393B"/>
                          </a:solidFill>
                        </a:rPr>
                        <a:t>ADX/DMI</a:t>
                      </a:r>
                    </a:p>
                  </a:txBody>
                  <a:tcPr marL="45720" marR="45720" marT="18288" marB="18288" anchor="ctr">
                    <a:solidFill>
                      <a:srgbClr val="FFFFFF"/>
                    </a:solidFill>
                  </a:tcPr>
                </a:tc>
                <a:tc>
                  <a:txBody>
                    <a:bodyPr wrap="square"/>
                    <a:lstStyle/>
                    <a:p>
                      <a:pPr algn="ctr"/>
                      <a:r>
                        <a:rPr sz="1100" b="0">
                          <a:solidFill>
                            <a:srgbClr val="36393B"/>
                          </a:solidFill>
                        </a:rPr>
                        <a:t>-0.3</a:t>
                      </a:r>
                    </a:p>
                  </a:txBody>
                  <a:tcPr marL="45720" marR="45720" marT="18288" marB="18288" anchor="ctr">
                    <a:solidFill>
                      <a:srgbClr val="FFEFE8"/>
                    </a:solidFill>
                  </a:tcPr>
                </a:tc>
                <a:tc>
                  <a:txBody>
                    <a:bodyPr wrap="square"/>
                    <a:lstStyle/>
                    <a:p>
                      <a:pPr algn="ctr"/>
                      <a:r>
                        <a:rPr sz="1100" b="0">
                          <a:solidFill>
                            <a:srgbClr val="36393B"/>
                          </a:solidFill>
                        </a:rPr>
                        <a:t>-0.1</a:t>
                      </a:r>
                    </a:p>
                  </a:txBody>
                  <a:tcPr marL="45720" marR="45720" marT="18288" marB="18288" anchor="ctr">
                    <a:solidFill>
                      <a:srgbClr val="FFFAF7"/>
                    </a:solidFill>
                  </a:tcPr>
                </a:tc>
                <a:tc>
                  <a:txBody>
                    <a:bodyPr wrap="square"/>
                    <a:lstStyle/>
                    <a:p>
                      <a:pPr algn="ctr"/>
                      <a:r>
                        <a:rPr sz="1100" b="0">
                          <a:solidFill>
                            <a:srgbClr val="36393B"/>
                          </a:solidFill>
                        </a:rPr>
                        <a:t>-0.9</a:t>
                      </a:r>
                    </a:p>
                  </a:txBody>
                  <a:tcPr marL="45720" marR="45720" marT="18288" marB="18288" anchor="ctr">
                    <a:solidFill>
                      <a:srgbClr val="FECFBA"/>
                    </a:solidFill>
                  </a:tcPr>
                </a:tc>
                <a:tc>
                  <a:txBody>
                    <a:bodyPr wrap="square"/>
                    <a:lstStyle/>
                    <a:p>
                      <a:pPr algn="ctr"/>
                      <a:r>
                        <a:rPr sz="1100" b="0">
                          <a:solidFill>
                            <a:srgbClr val="36393B"/>
                          </a:solidFill>
                        </a:rPr>
                        <a:t>-2.0</a:t>
                      </a:r>
                    </a:p>
                  </a:txBody>
                  <a:tcPr marL="45720" marR="45720" marT="18288" marB="18288" anchor="ctr">
                    <a:solidFill>
                      <a:srgbClr val="FE9466"/>
                    </a:solidFill>
                  </a:tcPr>
                </a:tc>
                <a:tc>
                  <a:txBody>
                    <a:bodyPr wrap="square"/>
                    <a:lstStyle/>
                    <a:p>
                      <a:pPr algn="ctr"/>
                      <a:r>
                        <a:rPr sz="1100" b="0">
                          <a:solidFill>
                            <a:srgbClr val="36393B"/>
                          </a:solidFill>
                        </a:rPr>
                        <a:t>+0.1</a:t>
                      </a:r>
                    </a:p>
                  </a:txBody>
                  <a:tcPr marL="45720" marR="45720" marT="18288" marB="18288" anchor="ctr">
                    <a:solidFill>
                      <a:srgbClr val="F8FCFB"/>
                    </a:solidFill>
                  </a:tcPr>
                </a:tc>
                <a:tc>
                  <a:txBody>
                    <a:bodyPr wrap="square"/>
                    <a:lstStyle/>
                    <a:p>
                      <a:pPr algn="ctr"/>
                      <a:r>
                        <a:rPr sz="1100" b="0">
                          <a:solidFill>
                            <a:srgbClr val="36393B"/>
                          </a:solidFill>
                        </a:rPr>
                        <a:t>-0.1</a:t>
                      </a:r>
                    </a:p>
                  </a:txBody>
                  <a:tcPr marL="45720" marR="45720" marT="18288" marB="18288" anchor="ctr">
                    <a:solidFill>
                      <a:srgbClr val="FFFAF7"/>
                    </a:solidFill>
                  </a:tcPr>
                </a:tc>
                <a:tc>
                  <a:txBody>
                    <a:bodyPr wrap="square"/>
                    <a:lstStyle/>
                    <a:p>
                      <a:pPr algn="ctr"/>
                      <a:r>
                        <a:rPr sz="1100" b="0">
                          <a:solidFill>
                            <a:srgbClr val="36393B"/>
                          </a:solidFill>
                        </a:rPr>
                        <a:t>-0.0</a:t>
                      </a:r>
                    </a:p>
                  </a:txBody>
                  <a:tcPr marL="45720" marR="45720" marT="18288" marB="18288" anchor="ctr">
                    <a:solidFill>
                      <a:srgbClr val="FFFFFF"/>
                    </a:solidFill>
                  </a:tcPr>
                </a:tc>
                <a:tc>
                  <a:txBody>
                    <a:bodyPr wrap="square"/>
                    <a:lstStyle/>
                    <a:p>
                      <a:pPr algn="ctr"/>
                      <a:r>
                        <a:rPr sz="1100" b="0">
                          <a:solidFill>
                            <a:srgbClr val="36393B"/>
                          </a:solidFill>
                        </a:rPr>
                        <a:t>-0.43</a:t>
                      </a:r>
                    </a:p>
                  </a:txBody>
                  <a:tcPr marL="45720" marR="45720" marT="18288" marB="18288" anchor="ctr">
                    <a:solidFill>
                      <a:srgbClr val="FEB798"/>
                    </a:solidFill>
                  </a:tcPr>
                </a:tc>
                <a:tc>
                  <a:txBody>
                    <a:bodyPr wrap="square"/>
                    <a:lstStyle/>
                    <a:p>
                      <a:pPr algn="ctr"/>
                      <a:r>
                        <a:rPr sz="1100" b="0">
                          <a:solidFill>
                            <a:srgbClr val="36393B"/>
                          </a:solidFill>
                        </a:rPr>
                        <a:t>-1.07</a:t>
                      </a:r>
                    </a:p>
                  </a:txBody>
                  <a:tcPr marL="45720" marR="45720" marT="18288" marB="18288" anchor="ctr">
                    <a:solidFill>
                      <a:srgbClr val="FFFFFF"/>
                    </a:solidFill>
                  </a:tcPr>
                </a:tc>
              </a:tr>
              <a:tr h="365760">
                <a:tc>
                  <a:txBody>
                    <a:bodyPr wrap="square"/>
                    <a:lstStyle/>
                    <a:p>
                      <a:pPr algn="l"/>
                      <a:r>
                        <a:rPr sz="1100" b="1">
                          <a:solidFill>
                            <a:srgbClr val="36393B"/>
                          </a:solidFill>
                        </a:rPr>
                        <a:t>OBV cross</a:t>
                      </a:r>
                    </a:p>
                  </a:txBody>
                  <a:tcPr marL="45720" marR="45720" marT="18288" marB="18288" anchor="ctr">
                    <a:solidFill>
                      <a:srgbClr val="F4FEFB"/>
                    </a:solidFill>
                  </a:tcPr>
                </a:tc>
                <a:tc>
                  <a:txBody>
                    <a:bodyPr wrap="square"/>
                    <a:lstStyle/>
                    <a:p>
                      <a:pPr algn="ctr"/>
                      <a:r>
                        <a:rPr sz="1100" b="0">
                          <a:solidFill>
                            <a:srgbClr val="36393B"/>
                          </a:solidFill>
                        </a:rPr>
                        <a:t>+0.3</a:t>
                      </a:r>
                    </a:p>
                  </a:txBody>
                  <a:tcPr marL="45720" marR="45720" marT="18288" marB="18288" anchor="ctr">
                    <a:solidFill>
                      <a:srgbClr val="EAF7F4"/>
                    </a:solidFill>
                  </a:tcPr>
                </a:tc>
                <a:tc>
                  <a:txBody>
                    <a:bodyPr wrap="square"/>
                    <a:lstStyle/>
                    <a:p>
                      <a:pPr algn="ctr"/>
                      <a:r>
                        <a:rPr sz="1100" b="0">
                          <a:solidFill>
                            <a:srgbClr val="36393B"/>
                          </a:solidFill>
                        </a:rPr>
                        <a:t>-0.1</a:t>
                      </a:r>
                    </a:p>
                  </a:txBody>
                  <a:tcPr marL="45720" marR="45720" marT="18288" marB="18288" anchor="ctr">
                    <a:solidFill>
                      <a:srgbClr val="FFFAF7"/>
                    </a:solidFill>
                  </a:tcPr>
                </a:tc>
                <a:tc>
                  <a:txBody>
                    <a:bodyPr wrap="square"/>
                    <a:lstStyle/>
                    <a:p>
                      <a:pPr algn="ctr"/>
                      <a:r>
                        <a:rPr sz="1100" b="0">
                          <a:solidFill>
                            <a:srgbClr val="36393B"/>
                          </a:solidFill>
                        </a:rPr>
                        <a:t>-0.3</a:t>
                      </a:r>
                    </a:p>
                  </a:txBody>
                  <a:tcPr marL="45720" marR="45720" marT="18288" marB="18288" anchor="ctr">
                    <a:solidFill>
                      <a:srgbClr val="FFEFE8"/>
                    </a:solidFill>
                  </a:tcPr>
                </a:tc>
                <a:tc>
                  <a:txBody>
                    <a:bodyPr wrap="square"/>
                    <a:lstStyle/>
                    <a:p>
                      <a:pPr algn="ctr"/>
                      <a:r>
                        <a:rPr sz="1100" b="0">
                          <a:solidFill>
                            <a:srgbClr val="36393B"/>
                          </a:solidFill>
                        </a:rPr>
                        <a:t>+0.2</a:t>
                      </a:r>
                    </a:p>
                  </a:txBody>
                  <a:tcPr marL="45720" marR="45720" marT="18288" marB="18288" anchor="ctr">
                    <a:solidFill>
                      <a:srgbClr val="F1F9F8"/>
                    </a:solidFill>
                  </a:tcPr>
                </a:tc>
                <a:tc>
                  <a:txBody>
                    <a:bodyPr wrap="square"/>
                    <a:lstStyle/>
                    <a:p>
                      <a:pPr algn="ctr"/>
                      <a:r>
                        <a:rPr sz="1100" b="0">
                          <a:solidFill>
                            <a:srgbClr val="36393B"/>
                          </a:solidFill>
                        </a:rPr>
                        <a:t>+0.1</a:t>
                      </a:r>
                    </a:p>
                  </a:txBody>
                  <a:tcPr marL="45720" marR="45720" marT="18288" marB="18288" anchor="ctr">
                    <a:solidFill>
                      <a:srgbClr val="F8FCFB"/>
                    </a:solidFill>
                  </a:tcPr>
                </a:tc>
                <a:tc>
                  <a:txBody>
                    <a:bodyPr wrap="square"/>
                    <a:lstStyle/>
                    <a:p>
                      <a:pPr algn="ctr"/>
                      <a:r>
                        <a:rPr sz="1100" b="0">
                          <a:solidFill>
                            <a:srgbClr val="36393B"/>
                          </a:solidFill>
                        </a:rPr>
                        <a:t>-0.3</a:t>
                      </a:r>
                    </a:p>
                  </a:txBody>
                  <a:tcPr marL="45720" marR="45720" marT="18288" marB="18288" anchor="ctr">
                    <a:solidFill>
                      <a:srgbClr val="FFEFE8"/>
                    </a:solidFill>
                  </a:tcPr>
                </a:tc>
                <a:tc>
                  <a:txBody>
                    <a:bodyPr wrap="square"/>
                    <a:lstStyle/>
                    <a:p>
                      <a:pPr algn="ctr"/>
                      <a:r>
                        <a:rPr sz="1100" b="0">
                          <a:solidFill>
                            <a:srgbClr val="36393B"/>
                          </a:solidFill>
                        </a:rPr>
                        <a:t>+0.6</a:t>
                      </a:r>
                    </a:p>
                  </a:txBody>
                  <a:tcPr marL="45720" marR="45720" marT="18288" marB="18288" anchor="ctr">
                    <a:solidFill>
                      <a:srgbClr val="D4EEE9"/>
                    </a:solidFill>
                  </a:tcPr>
                </a:tc>
                <a:tc>
                  <a:txBody>
                    <a:bodyPr wrap="square"/>
                    <a:lstStyle/>
                    <a:p>
                      <a:pPr algn="ctr"/>
                      <a:r>
                        <a:rPr sz="1100" b="0">
                          <a:solidFill>
                            <a:srgbClr val="36393B"/>
                          </a:solidFill>
                        </a:rPr>
                        <a:t>+0.07</a:t>
                      </a:r>
                    </a:p>
                  </a:txBody>
                  <a:tcPr marL="45720" marR="45720" marT="18288" marB="18288" anchor="ctr">
                    <a:solidFill>
                      <a:srgbClr val="EFF9F7"/>
                    </a:solidFill>
                  </a:tcPr>
                </a:tc>
                <a:tc>
                  <a:txBody>
                    <a:bodyPr wrap="square"/>
                    <a:lstStyle/>
                    <a:p>
                      <a:pPr algn="ctr"/>
                      <a:r>
                        <a:rPr sz="1100" b="0">
                          <a:solidFill>
                            <a:srgbClr val="36393B"/>
                          </a:solidFill>
                        </a:rPr>
                        <a:t>0.50</a:t>
                      </a:r>
                    </a:p>
                  </a:txBody>
                  <a:tcPr marL="45720" marR="45720" marT="18288" marB="18288" anchor="ctr">
                    <a:solidFill>
                      <a:srgbClr val="F4FEFB"/>
                    </a:solidFill>
                  </a:tcPr>
                </a:tc>
              </a:tr>
              <a:tr h="365760">
                <a:tc>
                  <a:txBody>
                    <a:bodyPr wrap="square"/>
                    <a:lstStyle/>
                    <a:p>
                      <a:pPr algn="l"/>
                      <a:r>
                        <a:rPr sz="1100" b="1">
                          <a:solidFill>
                            <a:srgbClr val="36393B"/>
                          </a:solidFill>
                        </a:rPr>
                        <a:t>Supertrend</a:t>
                      </a:r>
                    </a:p>
                  </a:txBody>
                  <a:tcPr marL="45720" marR="45720" marT="18288" marB="18288" anchor="ctr">
                    <a:solidFill>
                      <a:srgbClr val="FFFFFF"/>
                    </a:solidFill>
                  </a:tcPr>
                </a:tc>
                <a:tc>
                  <a:txBody>
                    <a:bodyPr wrap="square"/>
                    <a:lstStyle/>
                    <a:p>
                      <a:pPr algn="ctr"/>
                      <a:r>
                        <a:rPr sz="1100" b="0">
                          <a:solidFill>
                            <a:srgbClr val="36393B"/>
                          </a:solidFill>
                        </a:rPr>
                        <a:t>+1.0</a:t>
                      </a:r>
                    </a:p>
                  </a:txBody>
                  <a:tcPr marL="45720" marR="45720" marT="18288" marB="18288" anchor="ctr">
                    <a:solidFill>
                      <a:srgbClr val="B8E3DA"/>
                    </a:solidFill>
                  </a:tcPr>
                </a:tc>
                <a:tc>
                  <a:txBody>
                    <a:bodyPr wrap="square"/>
                    <a:lstStyle/>
                    <a:p>
                      <a:pPr algn="ctr"/>
                      <a:r>
                        <a:rPr sz="1100" b="0">
                          <a:solidFill>
                            <a:srgbClr val="36393B"/>
                          </a:solidFill>
                        </a:rPr>
                        <a:t>-0.2</a:t>
                      </a:r>
                    </a:p>
                  </a:txBody>
                  <a:tcPr marL="45720" marR="45720" marT="18288" marB="18288" anchor="ctr">
                    <a:solidFill>
                      <a:srgbClr val="FFF4F0"/>
                    </a:solidFill>
                  </a:tcPr>
                </a:tc>
                <a:tc>
                  <a:txBody>
                    <a:bodyPr wrap="square"/>
                    <a:lstStyle/>
                    <a:p>
                      <a:pPr algn="ctr"/>
                      <a:r>
                        <a:rPr sz="1100" b="0">
                          <a:solidFill>
                            <a:srgbClr val="36393B"/>
                          </a:solidFill>
                        </a:rPr>
                        <a:t>-0.6</a:t>
                      </a:r>
                    </a:p>
                  </a:txBody>
                  <a:tcPr marL="45720" marR="45720" marT="18288" marB="18288" anchor="ctr">
                    <a:solidFill>
                      <a:srgbClr val="FFDFD1"/>
                    </a:solidFill>
                  </a:tcPr>
                </a:tc>
                <a:tc>
                  <a:txBody>
                    <a:bodyPr wrap="square"/>
                    <a:lstStyle/>
                    <a:p>
                      <a:pPr algn="ctr"/>
                      <a:r>
                        <a:rPr sz="1100" b="0">
                          <a:solidFill>
                            <a:srgbClr val="36393B"/>
                          </a:solidFill>
                        </a:rPr>
                        <a:t>-0.2</a:t>
                      </a:r>
                    </a:p>
                  </a:txBody>
                  <a:tcPr marL="45720" marR="45720" marT="18288" marB="18288" anchor="ctr">
                    <a:solidFill>
                      <a:srgbClr val="FFF4F0"/>
                    </a:solidFill>
                  </a:tcPr>
                </a:tc>
                <a:tc>
                  <a:txBody>
                    <a:bodyPr wrap="square"/>
                    <a:lstStyle/>
                    <a:p>
                      <a:pPr algn="ctr"/>
                      <a:r>
                        <a:rPr sz="1100" b="0">
                          <a:solidFill>
                            <a:srgbClr val="36393B"/>
                          </a:solidFill>
                        </a:rPr>
                        <a:t>-1.0</a:t>
                      </a:r>
                    </a:p>
                  </a:txBody>
                  <a:tcPr marL="45720" marR="45720" marT="18288" marB="18288" anchor="ctr">
                    <a:solidFill>
                      <a:srgbClr val="FEC9B2"/>
                    </a:solidFill>
                  </a:tcPr>
                </a:tc>
                <a:tc>
                  <a:txBody>
                    <a:bodyPr wrap="square"/>
                    <a:lstStyle/>
                    <a:p>
                      <a:pPr algn="ctr"/>
                      <a:r>
                        <a:rPr sz="1100" b="0">
                          <a:solidFill>
                            <a:srgbClr val="36393B"/>
                          </a:solidFill>
                        </a:rPr>
                        <a:t>-0.8</a:t>
                      </a:r>
                    </a:p>
                  </a:txBody>
                  <a:tcPr marL="45720" marR="45720" marT="18288" marB="18288" anchor="ctr">
                    <a:solidFill>
                      <a:srgbClr val="FFD4C2"/>
                    </a:solidFill>
                  </a:tcPr>
                </a:tc>
                <a:tc>
                  <a:txBody>
                    <a:bodyPr wrap="square"/>
                    <a:lstStyle/>
                    <a:p>
                      <a:pPr algn="ctr"/>
                      <a:r>
                        <a:rPr sz="1100" b="0">
                          <a:solidFill>
                            <a:srgbClr val="36393B"/>
                          </a:solidFill>
                        </a:rPr>
                        <a:t>-1.1</a:t>
                      </a:r>
                    </a:p>
                  </a:txBody>
                  <a:tcPr marL="45720" marR="45720" marT="18288" marB="18288" anchor="ctr">
                    <a:solidFill>
                      <a:srgbClr val="FEC4AB"/>
                    </a:solidFill>
                  </a:tcPr>
                </a:tc>
                <a:tc>
                  <a:txBody>
                    <a:bodyPr wrap="square"/>
                    <a:lstStyle/>
                    <a:p>
                      <a:pPr algn="ctr"/>
                      <a:r>
                        <a:rPr sz="1100" b="0">
                          <a:solidFill>
                            <a:srgbClr val="36393B"/>
                          </a:solidFill>
                        </a:rPr>
                        <a:t>-0.42</a:t>
                      </a:r>
                    </a:p>
                  </a:txBody>
                  <a:tcPr marL="45720" marR="45720" marT="18288" marB="18288" anchor="ctr">
                    <a:solidFill>
                      <a:srgbClr val="FEB99B"/>
                    </a:solidFill>
                  </a:tcPr>
                </a:tc>
                <a:tc>
                  <a:txBody>
                    <a:bodyPr wrap="square"/>
                    <a:lstStyle/>
                    <a:p>
                      <a:pPr algn="ctr"/>
                      <a:r>
                        <a:rPr sz="1100" b="0">
                          <a:solidFill>
                            <a:srgbClr val="36393B"/>
                          </a:solidFill>
                        </a:rPr>
                        <a:t>-1.40</a:t>
                      </a:r>
                    </a:p>
                  </a:txBody>
                  <a:tcPr marL="45720" marR="45720" marT="18288" marB="18288" anchor="ctr">
                    <a:solidFill>
                      <a:srgbClr val="FFFFFF"/>
                    </a:solidFill>
                  </a:tcPr>
                </a:tc>
              </a:tr>
              <a:tr h="365760">
                <a:tc>
                  <a:txBody>
                    <a:bodyPr wrap="square"/>
                    <a:lstStyle/>
                    <a:p>
                      <a:pPr algn="l"/>
                      <a:r>
                        <a:rPr sz="1100" b="1">
                          <a:solidFill>
                            <a:srgbClr val="36393B"/>
                          </a:solidFill>
                        </a:rPr>
                        <a:t>CCI up −100</a:t>
                      </a:r>
                    </a:p>
                  </a:txBody>
                  <a:tcPr marL="45720" marR="45720" marT="18288" marB="18288" anchor="ctr">
                    <a:solidFill>
                      <a:srgbClr val="F4FEFB"/>
                    </a:solidFill>
                  </a:tcPr>
                </a:tc>
                <a:tc>
                  <a:txBody>
                    <a:bodyPr wrap="square"/>
                    <a:lstStyle/>
                    <a:p>
                      <a:pPr algn="ctr"/>
                      <a:r>
                        <a:rPr sz="1100" b="0">
                          <a:solidFill>
                            <a:srgbClr val="36393B"/>
                          </a:solidFill>
                        </a:rPr>
                        <a:t>+0.5</a:t>
                      </a:r>
                    </a:p>
                  </a:txBody>
                  <a:tcPr marL="45720" marR="45720" marT="18288" marB="18288" anchor="ctr">
                    <a:solidFill>
                      <a:srgbClr val="DBF1ED"/>
                    </a:solidFill>
                  </a:tcPr>
                </a:tc>
                <a:tc>
                  <a:txBody>
                    <a:bodyPr wrap="square"/>
                    <a:lstStyle/>
                    <a:p>
                      <a:pPr algn="ctr"/>
                      <a:r>
                        <a:rPr sz="1100" b="0">
                          <a:solidFill>
                            <a:srgbClr val="36393B"/>
                          </a:solidFill>
                        </a:rPr>
                        <a:t>-0.4</a:t>
                      </a:r>
                    </a:p>
                  </a:txBody>
                  <a:tcPr marL="45720" marR="45720" marT="18288" marB="18288" anchor="ctr">
                    <a:solidFill>
                      <a:srgbClr val="FFEAE0"/>
                    </a:solidFill>
                  </a:tcPr>
                </a:tc>
                <a:tc>
                  <a:txBody>
                    <a:bodyPr wrap="square"/>
                    <a:lstStyle/>
                    <a:p>
                      <a:pPr algn="ctr"/>
                      <a:r>
                        <a:rPr sz="1100" b="0">
                          <a:solidFill>
                            <a:srgbClr val="36393B"/>
                          </a:solidFill>
                        </a:rPr>
                        <a:t>+0.0</a:t>
                      </a:r>
                    </a:p>
                  </a:txBody>
                  <a:tcPr marL="45720" marR="45720" marT="18288" marB="18288" anchor="ctr">
                    <a:solidFill>
                      <a:srgbClr val="FFFFFF"/>
                    </a:solidFill>
                  </a:tcPr>
                </a:tc>
                <a:tc>
                  <a:txBody>
                    <a:bodyPr wrap="square"/>
                    <a:lstStyle/>
                    <a:p>
                      <a:pPr algn="ctr"/>
                      <a:r>
                        <a:rPr sz="1100" b="0">
                          <a:solidFill>
                            <a:srgbClr val="36393B"/>
                          </a:solidFill>
                        </a:rPr>
                        <a:t>-0.0</a:t>
                      </a:r>
                    </a:p>
                  </a:txBody>
                  <a:tcPr marL="45720" marR="45720" marT="18288" marB="18288" anchor="ctr">
                    <a:solidFill>
                      <a:srgbClr val="FFFFFF"/>
                    </a:solidFill>
                  </a:tcPr>
                </a:tc>
                <a:tc>
                  <a:txBody>
                    <a:bodyPr wrap="square"/>
                    <a:lstStyle/>
                    <a:p>
                      <a:pPr algn="ctr"/>
                      <a:r>
                        <a:rPr sz="1100" b="0">
                          <a:solidFill>
                            <a:srgbClr val="36393B"/>
                          </a:solidFill>
                        </a:rPr>
                        <a:t>+0.1</a:t>
                      </a:r>
                    </a:p>
                  </a:txBody>
                  <a:tcPr marL="45720" marR="45720" marT="18288" marB="18288" anchor="ctr">
                    <a:solidFill>
                      <a:srgbClr val="F8FCFB"/>
                    </a:solidFill>
                  </a:tcPr>
                </a:tc>
                <a:tc>
                  <a:txBody>
                    <a:bodyPr wrap="square"/>
                    <a:lstStyle/>
                    <a:p>
                      <a:pPr algn="ctr"/>
                      <a:r>
                        <a:rPr sz="1100" b="0">
                          <a:solidFill>
                            <a:srgbClr val="36393B"/>
                          </a:solidFill>
                        </a:rPr>
                        <a:t>-0.2</a:t>
                      </a:r>
                    </a:p>
                  </a:txBody>
                  <a:tcPr marL="45720" marR="45720" marT="18288" marB="18288" anchor="ctr">
                    <a:solidFill>
                      <a:srgbClr val="FFF4F0"/>
                    </a:solidFill>
                  </a:tcPr>
                </a:tc>
                <a:tc>
                  <a:txBody>
                    <a:bodyPr wrap="square"/>
                    <a:lstStyle/>
                    <a:p>
                      <a:pPr algn="ctr"/>
                      <a:r>
                        <a:rPr sz="1100" b="0">
                          <a:solidFill>
                            <a:srgbClr val="36393B"/>
                          </a:solidFill>
                        </a:rPr>
                        <a:t>+0.5</a:t>
                      </a:r>
                    </a:p>
                  </a:txBody>
                  <a:tcPr marL="45720" marR="45720" marT="18288" marB="18288" anchor="ctr">
                    <a:solidFill>
                      <a:srgbClr val="DBF1ED"/>
                    </a:solidFill>
                  </a:tcPr>
                </a:tc>
                <a:tc>
                  <a:txBody>
                    <a:bodyPr wrap="square"/>
                    <a:lstStyle/>
                    <a:p>
                      <a:pPr algn="ctr"/>
                      <a:r>
                        <a:rPr sz="1100" b="0">
                          <a:solidFill>
                            <a:srgbClr val="36393B"/>
                          </a:solidFill>
                        </a:rPr>
                        <a:t>+0.06</a:t>
                      </a:r>
                    </a:p>
                  </a:txBody>
                  <a:tcPr marL="45720" marR="45720" marT="18288" marB="18288" anchor="ctr">
                    <a:solidFill>
                      <a:srgbClr val="F2FAF8"/>
                    </a:solidFill>
                  </a:tcPr>
                </a:tc>
                <a:tc>
                  <a:txBody>
                    <a:bodyPr wrap="square"/>
                    <a:lstStyle/>
                    <a:p>
                      <a:pPr algn="ctr"/>
                      <a:r>
                        <a:rPr sz="1100" b="0">
                          <a:solidFill>
                            <a:srgbClr val="36393B"/>
                          </a:solidFill>
                        </a:rPr>
                        <a:t>0.35</a:t>
                      </a:r>
                    </a:p>
                  </a:txBody>
                  <a:tcPr marL="45720" marR="45720" marT="18288" marB="18288" anchor="ctr">
                    <a:solidFill>
                      <a:srgbClr val="F4FEFB"/>
                    </a:solidFill>
                  </a:tcPr>
                </a:tc>
              </a:tr>
              <a:tr h="365760">
                <a:tc>
                  <a:txBody>
                    <a:bodyPr wrap="square"/>
                    <a:lstStyle/>
                    <a:p>
                      <a:pPr algn="l"/>
                      <a:r>
                        <a:rPr sz="1100" b="1">
                          <a:solidFill>
                            <a:srgbClr val="36393B"/>
                          </a:solidFill>
                        </a:rPr>
                        <a:t>MFI up 20</a:t>
                      </a:r>
                    </a:p>
                  </a:txBody>
                  <a:tcPr marL="45720" marR="45720" marT="18288" marB="18288" anchor="ctr">
                    <a:solidFill>
                      <a:srgbClr val="FFFFFF"/>
                    </a:solidFill>
                  </a:tcPr>
                </a:tc>
                <a:tc>
                  <a:txBody>
                    <a:bodyPr wrap="square"/>
                    <a:lstStyle/>
                    <a:p>
                      <a:pPr algn="ctr"/>
                      <a:r>
                        <a:rPr sz="1100" b="0">
                          <a:solidFill>
                            <a:srgbClr val="36393B"/>
                          </a:solidFill>
                        </a:rPr>
                        <a:t>-1.1</a:t>
                      </a:r>
                    </a:p>
                  </a:txBody>
                  <a:tcPr marL="45720" marR="45720" marT="18288" marB="18288" anchor="ctr">
                    <a:solidFill>
                      <a:srgbClr val="FEC4AB"/>
                    </a:solidFill>
                  </a:tcPr>
                </a:tc>
                <a:tc>
                  <a:txBody>
                    <a:bodyPr wrap="square"/>
                    <a:lstStyle/>
                    <a:p>
                      <a:pPr algn="ctr"/>
                      <a:r>
                        <a:rPr sz="1100" b="0">
                          <a:solidFill>
                            <a:srgbClr val="36393B"/>
                          </a:solidFill>
                        </a:rPr>
                        <a:t>-2.2</a:t>
                      </a:r>
                    </a:p>
                  </a:txBody>
                  <a:tcPr marL="45720" marR="45720" marT="18288" marB="18288" anchor="ctr">
                    <a:solidFill>
                      <a:srgbClr val="FE8957"/>
                    </a:solidFill>
                  </a:tcPr>
                </a:tc>
                <a:tc>
                  <a:txBody>
                    <a:bodyPr wrap="square"/>
                    <a:lstStyle/>
                    <a:p>
                      <a:pPr algn="ctr"/>
                      <a:r>
                        <a:rPr sz="1100" b="0">
                          <a:solidFill>
                            <a:srgbClr val="36393B"/>
                          </a:solidFill>
                        </a:rPr>
                        <a:t>-0.3</a:t>
                      </a:r>
                    </a:p>
                  </a:txBody>
                  <a:tcPr marL="45720" marR="45720" marT="18288" marB="18288" anchor="ctr">
                    <a:solidFill>
                      <a:srgbClr val="FFEFE8"/>
                    </a:solidFill>
                  </a:tcPr>
                </a:tc>
                <a:tc>
                  <a:txBody>
                    <a:bodyPr wrap="square"/>
                    <a:lstStyle/>
                    <a:p>
                      <a:pPr algn="ctr"/>
                      <a:r>
                        <a:rPr sz="1100" b="0">
                          <a:solidFill>
                            <a:srgbClr val="36393B"/>
                          </a:solidFill>
                        </a:rPr>
                        <a:t>+0.6</a:t>
                      </a:r>
                    </a:p>
                  </a:txBody>
                  <a:tcPr marL="45720" marR="45720" marT="18288" marB="18288" anchor="ctr">
                    <a:solidFill>
                      <a:srgbClr val="D4EEE9"/>
                    </a:solidFill>
                  </a:tcPr>
                </a:tc>
                <a:tc>
                  <a:txBody>
                    <a:bodyPr wrap="square"/>
                    <a:lstStyle/>
                    <a:p>
                      <a:pPr algn="ctr"/>
                      <a:r>
                        <a:rPr sz="1100" b="0">
                          <a:solidFill>
                            <a:srgbClr val="36393B"/>
                          </a:solidFill>
                        </a:rPr>
                        <a:t>-3.4</a:t>
                      </a:r>
                    </a:p>
                  </a:txBody>
                  <a:tcPr marL="45720" marR="45720" marT="18288" marB="18288" anchor="ctr">
                    <a:solidFill>
                      <a:srgbClr val="FE7940"/>
                    </a:solidFill>
                  </a:tcPr>
                </a:tc>
                <a:tc>
                  <a:txBody>
                    <a:bodyPr wrap="square"/>
                    <a:lstStyle/>
                    <a:p>
                      <a:pPr algn="ctr"/>
                      <a:r>
                        <a:rPr sz="1100" b="0">
                          <a:solidFill>
                            <a:srgbClr val="36393B"/>
                          </a:solidFill>
                        </a:rPr>
                        <a:t>+1.4</a:t>
                      </a:r>
                    </a:p>
                  </a:txBody>
                  <a:tcPr marL="45720" marR="45720" marT="18288" marB="18288" anchor="ctr">
                    <a:solidFill>
                      <a:srgbClr val="9BD8CC"/>
                    </a:solidFill>
                  </a:tcPr>
                </a:tc>
                <a:tc>
                  <a:txBody>
                    <a:bodyPr wrap="square"/>
                    <a:lstStyle/>
                    <a:p>
                      <a:pPr algn="ctr"/>
                      <a:r>
                        <a:rPr sz="1100" b="0">
                          <a:solidFill>
                            <a:srgbClr val="36393B"/>
                          </a:solidFill>
                        </a:rPr>
                        <a:t>-0.9</a:t>
                      </a:r>
                    </a:p>
                  </a:txBody>
                  <a:tcPr marL="45720" marR="45720" marT="18288" marB="18288" anchor="ctr">
                    <a:solidFill>
                      <a:srgbClr val="FECFBA"/>
                    </a:solidFill>
                  </a:tcPr>
                </a:tc>
                <a:tc>
                  <a:txBody>
                    <a:bodyPr wrap="square"/>
                    <a:lstStyle/>
                    <a:p>
                      <a:pPr algn="ctr"/>
                      <a:r>
                        <a:rPr sz="1100" b="0">
                          <a:solidFill>
                            <a:srgbClr val="36393B"/>
                          </a:solidFill>
                        </a:rPr>
                        <a:t>-1.00</a:t>
                      </a:r>
                    </a:p>
                  </a:txBody>
                  <a:tcPr marL="45720" marR="45720" marT="18288" marB="18288" anchor="ctr">
                    <a:solidFill>
                      <a:srgbClr val="FE7940"/>
                    </a:solidFill>
                  </a:tcPr>
                </a:tc>
                <a:tc>
                  <a:txBody>
                    <a:bodyPr wrap="square"/>
                    <a:lstStyle/>
                    <a:p>
                      <a:pPr algn="ctr"/>
                      <a:r>
                        <a:rPr sz="1100" b="0">
                          <a:solidFill>
                            <a:srgbClr val="36393B"/>
                          </a:solidFill>
                        </a:rPr>
                        <a:t>-2.19</a:t>
                      </a:r>
                    </a:p>
                  </a:txBody>
                  <a:tcPr marL="45720" marR="45720" marT="18288" marB="18288" anchor="ctr">
                    <a:solidFill>
                      <a:srgbClr val="FFFFFF"/>
                    </a:solidFill>
                  </a:tcPr>
                </a:tc>
              </a:tr>
              <a:tr h="365760">
                <a:tc>
                  <a:txBody>
                    <a:bodyPr wrap="square"/>
                    <a:lstStyle/>
                    <a:p>
                      <a:pPr algn="l"/>
                      <a:r>
                        <a:rPr sz="1100" b="1">
                          <a:solidFill>
                            <a:srgbClr val="36393B"/>
                          </a:solidFill>
                        </a:rPr>
                        <a:t>Donchian</a:t>
                      </a:r>
                    </a:p>
                  </a:txBody>
                  <a:tcPr marL="45720" marR="45720" marT="18288" marB="18288" anchor="ctr">
                    <a:solidFill>
                      <a:srgbClr val="F4FEFB"/>
                    </a:solidFill>
                  </a:tcPr>
                </a:tc>
                <a:tc>
                  <a:txBody>
                    <a:bodyPr wrap="square"/>
                    <a:lstStyle/>
                    <a:p>
                      <a:pPr algn="ctr"/>
                      <a:r>
                        <a:rPr sz="1100" b="0">
                          <a:solidFill>
                            <a:srgbClr val="36393B"/>
                          </a:solidFill>
                        </a:rPr>
                        <a:t>+0.1</a:t>
                      </a:r>
                    </a:p>
                  </a:txBody>
                  <a:tcPr marL="45720" marR="45720" marT="18288" marB="18288" anchor="ctr">
                    <a:solidFill>
                      <a:srgbClr val="F8FCFB"/>
                    </a:solidFill>
                  </a:tcPr>
                </a:tc>
                <a:tc>
                  <a:txBody>
                    <a:bodyPr wrap="square"/>
                    <a:lstStyle/>
                    <a:p>
                      <a:pPr algn="ctr"/>
                      <a:r>
                        <a:rPr sz="1100" b="0">
                          <a:solidFill>
                            <a:srgbClr val="36393B"/>
                          </a:solidFill>
                        </a:rPr>
                        <a:t>-0.7</a:t>
                      </a:r>
                    </a:p>
                  </a:txBody>
                  <a:tcPr marL="45720" marR="45720" marT="18288" marB="18288" anchor="ctr">
                    <a:solidFill>
                      <a:srgbClr val="FFD9C9"/>
                    </a:solidFill>
                  </a:tcPr>
                </a:tc>
                <a:tc>
                  <a:txBody>
                    <a:bodyPr wrap="square"/>
                    <a:lstStyle/>
                    <a:p>
                      <a:pPr algn="ctr"/>
                      <a:r>
                        <a:rPr sz="1100" b="0">
                          <a:solidFill>
                            <a:srgbClr val="36393B"/>
                          </a:solidFill>
                        </a:rPr>
                        <a:t>+0.1</a:t>
                      </a:r>
                    </a:p>
                  </a:txBody>
                  <a:tcPr marL="45720" marR="45720" marT="18288" marB="18288" anchor="ctr">
                    <a:solidFill>
                      <a:srgbClr val="F8FCFB"/>
                    </a:solidFill>
                  </a:tcPr>
                </a:tc>
                <a:tc>
                  <a:txBody>
                    <a:bodyPr wrap="square"/>
                    <a:lstStyle/>
                    <a:p>
                      <a:pPr algn="ctr"/>
                      <a:r>
                        <a:rPr sz="1100" b="0">
                          <a:solidFill>
                            <a:srgbClr val="36393B"/>
                          </a:solidFill>
                        </a:rPr>
                        <a:t>-0.1</a:t>
                      </a:r>
                    </a:p>
                  </a:txBody>
                  <a:tcPr marL="45720" marR="45720" marT="18288" marB="18288" anchor="ctr">
                    <a:solidFill>
                      <a:srgbClr val="FFFAF7"/>
                    </a:solidFill>
                  </a:tcPr>
                </a:tc>
                <a:tc>
                  <a:txBody>
                    <a:bodyPr wrap="square"/>
                    <a:lstStyle/>
                    <a:p>
                      <a:pPr algn="ctr"/>
                      <a:r>
                        <a:rPr sz="1100" b="0">
                          <a:solidFill>
                            <a:srgbClr val="36393B"/>
                          </a:solidFill>
                        </a:rPr>
                        <a:t>-0.3</a:t>
                      </a:r>
                    </a:p>
                  </a:txBody>
                  <a:tcPr marL="45720" marR="45720" marT="18288" marB="18288" anchor="ctr">
                    <a:solidFill>
                      <a:srgbClr val="FFEFE8"/>
                    </a:solidFill>
                  </a:tcPr>
                </a:tc>
                <a:tc>
                  <a:txBody>
                    <a:bodyPr wrap="square"/>
                    <a:lstStyle/>
                    <a:p>
                      <a:pPr algn="ctr"/>
                      <a:r>
                        <a:rPr sz="1100" b="0">
                          <a:solidFill>
                            <a:srgbClr val="36393B"/>
                          </a:solidFill>
                        </a:rPr>
                        <a:t>-0.4</a:t>
                      </a:r>
                    </a:p>
                  </a:txBody>
                  <a:tcPr marL="45720" marR="45720" marT="18288" marB="18288" anchor="ctr">
                    <a:solidFill>
                      <a:srgbClr val="FFEAE0"/>
                    </a:solidFill>
                  </a:tcPr>
                </a:tc>
                <a:tc>
                  <a:txBody>
                    <a:bodyPr wrap="square"/>
                    <a:lstStyle/>
                    <a:p>
                      <a:pPr algn="ctr"/>
                      <a:r>
                        <a:rPr sz="1100" b="0">
                          <a:solidFill>
                            <a:srgbClr val="36393B"/>
                          </a:solidFill>
                        </a:rPr>
                        <a:t>-1.0</a:t>
                      </a:r>
                    </a:p>
                  </a:txBody>
                  <a:tcPr marL="45720" marR="45720" marT="18288" marB="18288" anchor="ctr">
                    <a:solidFill>
                      <a:srgbClr val="FEC9B2"/>
                    </a:solidFill>
                  </a:tcPr>
                </a:tc>
                <a:tc>
                  <a:txBody>
                    <a:bodyPr wrap="square"/>
                    <a:lstStyle/>
                    <a:p>
                      <a:pPr algn="ctr"/>
                      <a:r>
                        <a:rPr sz="1100" b="0">
                          <a:solidFill>
                            <a:srgbClr val="36393B"/>
                          </a:solidFill>
                        </a:rPr>
                        <a:t>-0.32</a:t>
                      </a:r>
                    </a:p>
                  </a:txBody>
                  <a:tcPr marL="45720" marR="45720" marT="18288" marB="18288" anchor="ctr">
                    <a:solidFill>
                      <a:srgbClr val="FEC9B2"/>
                    </a:solidFill>
                  </a:tcPr>
                </a:tc>
                <a:tc>
                  <a:txBody>
                    <a:bodyPr wrap="square"/>
                    <a:lstStyle/>
                    <a:p>
                      <a:pPr algn="ctr"/>
                      <a:r>
                        <a:rPr sz="1100" b="0">
                          <a:solidFill>
                            <a:srgbClr val="36393B"/>
                          </a:solidFill>
                        </a:rPr>
                        <a:t>-2.20</a:t>
                      </a:r>
                    </a:p>
                  </a:txBody>
                  <a:tcPr marL="45720" marR="45720" marT="18288" marB="18288" anchor="ctr">
                    <a:solidFill>
                      <a:srgbClr val="F4FEFB"/>
                    </a:solidFill>
                  </a:tcPr>
                </a:tc>
              </a:tr>
            </a:tbl>
          </a:graphicData>
        </a:graphic>
      </p:graphicFrame>
      <p:graphicFrame>
        <p:nvGraphicFramePr>
          <p:cNvPr id="40" name="Table 39"/>
          <p:cNvGraphicFramePr>
            <a:graphicFrameLocks noGrp="1"/>
          </p:cNvGraphicFramePr>
          <p:nvPr/>
        </p:nvGraphicFramePr>
        <p:xfrm>
          <a:off x="7818120" y="1371600"/>
          <a:ext cx="3474720" cy="4754880"/>
        </p:xfrm>
        <a:graphic>
          <a:graphicData uri="http://schemas.openxmlformats.org/drawingml/2006/table">
            <a:tbl>
              <a:tblPr firstRow="1" bandRow="0">
                <a:tableStyleId>{5C22544A-7EE6-4342-B048-85BDC9FD1C3A}</a:tableStyleId>
              </a:tblPr>
              <a:tblGrid>
                <a:gridCol w="1828800"/>
                <a:gridCol w="1645920"/>
              </a:tblGrid>
              <a:tr h="365760">
                <a:tc>
                  <a:txBody>
                    <a:bodyPr wrap="square"/>
                    <a:lstStyle/>
                    <a:p>
                      <a:pPr algn="l"/>
                      <a:r>
                        <a:rPr sz="900">
                          <a:solidFill>
                            <a:srgbClr val="36393B"/>
                          </a:solidFill>
                          <a:latin typeface="+mj-lt"/>
                        </a:rPr>
                        <a:t>INDICATOR</a:t>
                      </a:r>
                    </a:p>
                  </a:txBody>
                  <a:tcPr marL="45720" marR="45720" marT="18288" marB="18288" anchor="ctr">
                    <a:solidFill>
                      <a:srgbClr val="2BB399"/>
                    </a:solidFill>
                  </a:tcPr>
                </a:tc>
                <a:tc>
                  <a:txBody>
                    <a:bodyPr wrap="square"/>
                    <a:lstStyle/>
                    <a:p>
                      <a:pPr algn="l"/>
                      <a:r>
                        <a:rPr sz="900">
                          <a:solidFill>
                            <a:srgbClr val="36393B"/>
                          </a:solidFill>
                          <a:latin typeface="+mj-lt"/>
                        </a:rPr>
                        <a:t>FAMILY</a:t>
                      </a:r>
                    </a:p>
                  </a:txBody>
                  <a:tcPr marL="45720" marR="45720" marT="18288" marB="18288" anchor="ctr">
                    <a:solidFill>
                      <a:srgbClr val="2BB399"/>
                    </a:solidFill>
                  </a:tcPr>
                </a:tc>
              </a:tr>
              <a:tr h="365760">
                <a:tc>
                  <a:txBody>
                    <a:bodyPr wrap="square"/>
                    <a:lstStyle/>
                    <a:p>
                      <a:pPr algn="l"/>
                      <a:r>
                        <a:rPr sz="1100" b="1">
                          <a:solidFill>
                            <a:srgbClr val="36393B"/>
                          </a:solidFill>
                        </a:rPr>
                        <a:t>SMA 20/50/200</a:t>
                      </a:r>
                    </a:p>
                  </a:txBody>
                  <a:tcPr marL="45720" marR="45720" marT="18288" marB="18288" anchor="ctr">
                    <a:solidFill>
                      <a:srgbClr val="FFFFFF"/>
                    </a:solidFill>
                  </a:tcPr>
                </a:tc>
                <a:tc>
                  <a:txBody>
                    <a:bodyPr wrap="square"/>
                    <a:lstStyle/>
                    <a:p>
                      <a:pPr algn="l"/>
                      <a:r>
                        <a:rPr sz="1100" b="0">
                          <a:solidFill>
                            <a:srgbClr val="36393B"/>
                          </a:solidFill>
                        </a:rPr>
                        <a:t>Trend</a:t>
                      </a:r>
                    </a:p>
                  </a:txBody>
                  <a:tcPr marL="45720" marR="45720" marT="18288" marB="18288" anchor="ctr">
                    <a:solidFill>
                      <a:srgbClr val="FFFFFF"/>
                    </a:solidFill>
                  </a:tcPr>
                </a:tc>
              </a:tr>
              <a:tr h="365760">
                <a:tc>
                  <a:txBody>
                    <a:bodyPr wrap="square"/>
                    <a:lstStyle/>
                    <a:p>
                      <a:pPr algn="l"/>
                      <a:r>
                        <a:rPr sz="1100" b="1">
                          <a:solidFill>
                            <a:srgbClr val="36393B"/>
                          </a:solidFill>
                        </a:rPr>
                        <a:t>EMA 9/21</a:t>
                      </a:r>
                    </a:p>
                  </a:txBody>
                  <a:tcPr marL="45720" marR="45720" marT="18288" marB="18288" anchor="ctr">
                    <a:solidFill>
                      <a:srgbClr val="F4FEFB"/>
                    </a:solidFill>
                  </a:tcPr>
                </a:tc>
                <a:tc>
                  <a:txBody>
                    <a:bodyPr wrap="square"/>
                    <a:lstStyle/>
                    <a:p>
                      <a:pPr algn="l"/>
                      <a:r>
                        <a:rPr sz="1100" b="0">
                          <a:solidFill>
                            <a:srgbClr val="36393B"/>
                          </a:solidFill>
                        </a:rPr>
                        <a:t>Trend</a:t>
                      </a:r>
                    </a:p>
                  </a:txBody>
                  <a:tcPr marL="45720" marR="45720" marT="18288" marB="18288" anchor="ctr">
                    <a:solidFill>
                      <a:srgbClr val="F4FEFB"/>
                    </a:solidFill>
                  </a:tcPr>
                </a:tc>
              </a:tr>
              <a:tr h="365760">
                <a:tc>
                  <a:txBody>
                    <a:bodyPr wrap="square"/>
                    <a:lstStyle/>
                    <a:p>
                      <a:pPr algn="l"/>
                      <a:r>
                        <a:rPr sz="1100" b="1">
                          <a:solidFill>
                            <a:srgbClr val="36393B"/>
                          </a:solidFill>
                        </a:rPr>
                        <a:t>RSI 14</a:t>
                      </a:r>
                    </a:p>
                  </a:txBody>
                  <a:tcPr marL="45720" marR="45720" marT="18288" marB="18288" anchor="ctr">
                    <a:solidFill>
                      <a:srgbClr val="FFFFFF"/>
                    </a:solidFill>
                  </a:tcPr>
                </a:tc>
                <a:tc>
                  <a:txBody>
                    <a:bodyPr wrap="square"/>
                    <a:lstStyle/>
                    <a:p>
                      <a:pPr algn="l"/>
                      <a:r>
                        <a:rPr sz="1100" b="0">
                          <a:solidFill>
                            <a:srgbClr val="36393B"/>
                          </a:solidFill>
                        </a:rPr>
                        <a:t>Momentum</a:t>
                      </a:r>
                    </a:p>
                  </a:txBody>
                  <a:tcPr marL="45720" marR="45720" marT="18288" marB="18288" anchor="ctr">
                    <a:solidFill>
                      <a:srgbClr val="FFFFFF"/>
                    </a:solidFill>
                  </a:tcPr>
                </a:tc>
              </a:tr>
              <a:tr h="365760">
                <a:tc>
                  <a:txBody>
                    <a:bodyPr wrap="square"/>
                    <a:lstStyle/>
                    <a:p>
                      <a:pPr algn="l"/>
                      <a:r>
                        <a:rPr sz="1100" b="1">
                          <a:solidFill>
                            <a:srgbClr val="36393B"/>
                          </a:solidFill>
                        </a:rPr>
                        <a:t>MACD 12/26/9</a:t>
                      </a:r>
                    </a:p>
                  </a:txBody>
                  <a:tcPr marL="45720" marR="45720" marT="18288" marB="18288" anchor="ctr">
                    <a:solidFill>
                      <a:srgbClr val="F4FEFB"/>
                    </a:solidFill>
                  </a:tcPr>
                </a:tc>
                <a:tc>
                  <a:txBody>
                    <a:bodyPr wrap="square"/>
                    <a:lstStyle/>
                    <a:p>
                      <a:pPr algn="l"/>
                      <a:r>
                        <a:rPr sz="1100" b="0">
                          <a:solidFill>
                            <a:srgbClr val="36393B"/>
                          </a:solidFill>
                        </a:rPr>
                        <a:t>Trend-momentum</a:t>
                      </a:r>
                    </a:p>
                  </a:txBody>
                  <a:tcPr marL="45720" marR="45720" marT="18288" marB="18288" anchor="ctr">
                    <a:solidFill>
                      <a:srgbClr val="F4FEFB"/>
                    </a:solidFill>
                  </a:tcPr>
                </a:tc>
              </a:tr>
              <a:tr h="365760">
                <a:tc>
                  <a:txBody>
                    <a:bodyPr wrap="square"/>
                    <a:lstStyle/>
                    <a:p>
                      <a:pPr algn="l"/>
                      <a:r>
                        <a:rPr sz="1100" b="1">
                          <a:solidFill>
                            <a:srgbClr val="36393B"/>
                          </a:solidFill>
                        </a:rPr>
                        <a:t>Bollinger 20, 2σ</a:t>
                      </a:r>
                    </a:p>
                  </a:txBody>
                  <a:tcPr marL="45720" marR="45720" marT="18288" marB="18288" anchor="ctr">
                    <a:solidFill>
                      <a:srgbClr val="FFFFFF"/>
                    </a:solidFill>
                  </a:tcPr>
                </a:tc>
                <a:tc>
                  <a:txBody>
                    <a:bodyPr wrap="square"/>
                    <a:lstStyle/>
                    <a:p>
                      <a:pPr algn="l"/>
                      <a:r>
                        <a:rPr sz="1100" b="0">
                          <a:solidFill>
                            <a:srgbClr val="36393B"/>
                          </a:solidFill>
                        </a:rPr>
                        <a:t>Volatility</a:t>
                      </a:r>
                    </a:p>
                  </a:txBody>
                  <a:tcPr marL="45720" marR="45720" marT="18288" marB="18288" anchor="ctr">
                    <a:solidFill>
                      <a:srgbClr val="FFFFFF"/>
                    </a:solidFill>
                  </a:tcPr>
                </a:tc>
              </a:tr>
              <a:tr h="365760">
                <a:tc>
                  <a:txBody>
                    <a:bodyPr wrap="square"/>
                    <a:lstStyle/>
                    <a:p>
                      <a:pPr algn="l"/>
                      <a:r>
                        <a:rPr sz="1100" b="1">
                          <a:solidFill>
                            <a:srgbClr val="36393B"/>
                          </a:solidFill>
                        </a:rPr>
                        <a:t>Stochastic 14/3/3</a:t>
                      </a:r>
                    </a:p>
                  </a:txBody>
                  <a:tcPr marL="45720" marR="45720" marT="18288" marB="18288" anchor="ctr">
                    <a:solidFill>
                      <a:srgbClr val="F4FEFB"/>
                    </a:solidFill>
                  </a:tcPr>
                </a:tc>
                <a:tc>
                  <a:txBody>
                    <a:bodyPr wrap="square"/>
                    <a:lstStyle/>
                    <a:p>
                      <a:pPr algn="l"/>
                      <a:r>
                        <a:rPr sz="1100" b="0">
                          <a:solidFill>
                            <a:srgbClr val="36393B"/>
                          </a:solidFill>
                        </a:rPr>
                        <a:t>Momentum</a:t>
                      </a:r>
                    </a:p>
                  </a:txBody>
                  <a:tcPr marL="45720" marR="45720" marT="18288" marB="18288" anchor="ctr">
                    <a:solidFill>
                      <a:srgbClr val="F4FEFB"/>
                    </a:solidFill>
                  </a:tcPr>
                </a:tc>
              </a:tr>
              <a:tr h="365760">
                <a:tc>
                  <a:txBody>
                    <a:bodyPr wrap="square"/>
                    <a:lstStyle/>
                    <a:p>
                      <a:pPr algn="l"/>
                      <a:r>
                        <a:rPr sz="1100" b="1">
                          <a:solidFill>
                            <a:srgbClr val="36393B"/>
                          </a:solidFill>
                        </a:rPr>
                        <a:t>ADX/DMI 14</a:t>
                      </a:r>
                    </a:p>
                  </a:txBody>
                  <a:tcPr marL="45720" marR="45720" marT="18288" marB="18288" anchor="ctr">
                    <a:solidFill>
                      <a:srgbClr val="FFFFFF"/>
                    </a:solidFill>
                  </a:tcPr>
                </a:tc>
                <a:tc>
                  <a:txBody>
                    <a:bodyPr wrap="square"/>
                    <a:lstStyle/>
                    <a:p>
                      <a:pPr algn="l"/>
                      <a:r>
                        <a:rPr sz="1100" b="0">
                          <a:solidFill>
                            <a:srgbClr val="36393B"/>
                          </a:solidFill>
                        </a:rPr>
                        <a:t>Trend strength</a:t>
                      </a:r>
                    </a:p>
                  </a:txBody>
                  <a:tcPr marL="45720" marR="45720" marT="18288" marB="18288" anchor="ctr">
                    <a:solidFill>
                      <a:srgbClr val="FFFFFF"/>
                    </a:solidFill>
                  </a:tcPr>
                </a:tc>
              </a:tr>
              <a:tr h="365760">
                <a:tc>
                  <a:txBody>
                    <a:bodyPr wrap="square"/>
                    <a:lstStyle/>
                    <a:p>
                      <a:pPr algn="l"/>
                      <a:r>
                        <a:rPr sz="1100" b="1">
                          <a:solidFill>
                            <a:srgbClr val="36393B"/>
                          </a:solidFill>
                        </a:rPr>
                        <a:t>OBV + EMA 20</a:t>
                      </a:r>
                    </a:p>
                  </a:txBody>
                  <a:tcPr marL="45720" marR="45720" marT="18288" marB="18288" anchor="ctr">
                    <a:solidFill>
                      <a:srgbClr val="F4FEFB"/>
                    </a:solidFill>
                  </a:tcPr>
                </a:tc>
                <a:tc>
                  <a:txBody>
                    <a:bodyPr wrap="square"/>
                    <a:lstStyle/>
                    <a:p>
                      <a:pPr algn="l"/>
                      <a:r>
                        <a:rPr sz="1100" b="0">
                          <a:solidFill>
                            <a:srgbClr val="36393B"/>
                          </a:solidFill>
                        </a:rPr>
                        <a:t>Volume</a:t>
                      </a:r>
                    </a:p>
                  </a:txBody>
                  <a:tcPr marL="45720" marR="45720" marT="18288" marB="18288" anchor="ctr">
                    <a:solidFill>
                      <a:srgbClr val="F4FEFB"/>
                    </a:solidFill>
                  </a:tcPr>
                </a:tc>
              </a:tr>
              <a:tr h="365760">
                <a:tc>
                  <a:txBody>
                    <a:bodyPr wrap="square"/>
                    <a:lstStyle/>
                    <a:p>
                      <a:pPr algn="l"/>
                      <a:r>
                        <a:rPr sz="1100" b="1">
                          <a:solidFill>
                            <a:srgbClr val="36393B"/>
                          </a:solidFill>
                        </a:rPr>
                        <a:t>Supertrend 10, 3</a:t>
                      </a:r>
                    </a:p>
                  </a:txBody>
                  <a:tcPr marL="45720" marR="45720" marT="18288" marB="18288" anchor="ctr">
                    <a:solidFill>
                      <a:srgbClr val="FFFFFF"/>
                    </a:solidFill>
                  </a:tcPr>
                </a:tc>
                <a:tc>
                  <a:txBody>
                    <a:bodyPr wrap="square"/>
                    <a:lstStyle/>
                    <a:p>
                      <a:pPr algn="l"/>
                      <a:r>
                        <a:rPr sz="1100" b="0">
                          <a:solidFill>
                            <a:srgbClr val="36393B"/>
                          </a:solidFill>
                        </a:rPr>
                        <a:t>Trend-volatility</a:t>
                      </a:r>
                    </a:p>
                  </a:txBody>
                  <a:tcPr marL="45720" marR="45720" marT="18288" marB="18288" anchor="ctr">
                    <a:solidFill>
                      <a:srgbClr val="FFFFFF"/>
                    </a:solidFill>
                  </a:tcPr>
                </a:tc>
              </a:tr>
              <a:tr h="365760">
                <a:tc>
                  <a:txBody>
                    <a:bodyPr wrap="square"/>
                    <a:lstStyle/>
                    <a:p>
                      <a:pPr algn="l"/>
                      <a:r>
                        <a:rPr sz="1100" b="1">
                          <a:solidFill>
                            <a:srgbClr val="36393B"/>
                          </a:solidFill>
                        </a:rPr>
                        <a:t>CCI 20</a:t>
                      </a:r>
                    </a:p>
                  </a:txBody>
                  <a:tcPr marL="45720" marR="45720" marT="18288" marB="18288" anchor="ctr">
                    <a:solidFill>
                      <a:srgbClr val="F4FEFB"/>
                    </a:solidFill>
                  </a:tcPr>
                </a:tc>
                <a:tc>
                  <a:txBody>
                    <a:bodyPr wrap="square"/>
                    <a:lstStyle/>
                    <a:p>
                      <a:pPr algn="l"/>
                      <a:r>
                        <a:rPr sz="1100" b="0">
                          <a:solidFill>
                            <a:srgbClr val="36393B"/>
                          </a:solidFill>
                        </a:rPr>
                        <a:t>Momentum</a:t>
                      </a:r>
                    </a:p>
                  </a:txBody>
                  <a:tcPr marL="45720" marR="45720" marT="18288" marB="18288" anchor="ctr">
                    <a:solidFill>
                      <a:srgbClr val="F4FEFB"/>
                    </a:solidFill>
                  </a:tcPr>
                </a:tc>
              </a:tr>
              <a:tr h="365760">
                <a:tc>
                  <a:txBody>
                    <a:bodyPr wrap="square"/>
                    <a:lstStyle/>
                    <a:p>
                      <a:pPr algn="l"/>
                      <a:r>
                        <a:rPr sz="1100" b="1">
                          <a:solidFill>
                            <a:srgbClr val="36393B"/>
                          </a:solidFill>
                        </a:rPr>
                        <a:t>MFI 14</a:t>
                      </a:r>
                    </a:p>
                  </a:txBody>
                  <a:tcPr marL="45720" marR="45720" marT="18288" marB="18288" anchor="ctr">
                    <a:solidFill>
                      <a:srgbClr val="FFFFFF"/>
                    </a:solidFill>
                  </a:tcPr>
                </a:tc>
                <a:tc>
                  <a:txBody>
                    <a:bodyPr wrap="square"/>
                    <a:lstStyle/>
                    <a:p>
                      <a:pPr algn="l"/>
                      <a:r>
                        <a:rPr sz="1100" b="0">
                          <a:solidFill>
                            <a:srgbClr val="36393B"/>
                          </a:solidFill>
                        </a:rPr>
                        <a:t>Volume</a:t>
                      </a:r>
                    </a:p>
                  </a:txBody>
                  <a:tcPr marL="45720" marR="45720" marT="18288" marB="18288" anchor="ctr">
                    <a:solidFill>
                      <a:srgbClr val="FFFFFF"/>
                    </a:solidFill>
                  </a:tcPr>
                </a:tc>
              </a:tr>
              <a:tr h="365760">
                <a:tc>
                  <a:txBody>
                    <a:bodyPr wrap="square"/>
                    <a:lstStyle/>
                    <a:p>
                      <a:pPr algn="l"/>
                      <a:r>
                        <a:rPr sz="1100" b="1">
                          <a:solidFill>
                            <a:srgbClr val="36393B"/>
                          </a:solidFill>
                        </a:rPr>
                        <a:t>Donchian 20</a:t>
                      </a:r>
                    </a:p>
                  </a:txBody>
                  <a:tcPr marL="45720" marR="45720" marT="18288" marB="18288" anchor="ctr">
                    <a:solidFill>
                      <a:srgbClr val="F4FEFB"/>
                    </a:solidFill>
                  </a:tcPr>
                </a:tc>
                <a:tc>
                  <a:txBody>
                    <a:bodyPr wrap="square"/>
                    <a:lstStyle/>
                    <a:p>
                      <a:pPr algn="l"/>
                      <a:r>
                        <a:rPr sz="1100" b="0">
                          <a:solidFill>
                            <a:srgbClr val="36393B"/>
                          </a:solidFill>
                        </a:rPr>
                        <a:t>Channel</a:t>
                      </a:r>
                    </a:p>
                  </a:txBody>
                  <a:tcPr marL="45720" marR="45720" marT="18288" marB="18288" anchor="ctr">
                    <a:solidFill>
                      <a:srgbClr val="F4FEFB"/>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50392" y="0"/>
            <a:ext cx="10122408" cy="1307592"/>
          </a:xfrm>
        </p:spPr>
        <p:txBody>
          <a:bodyPr/>
          <a:lstStyle/>
          <a:p>
            <a:r>
              <a:rPr sz="2400"/>
              <a:t>Backup B2: conventions and the eighteen Pine files</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2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Backup</a:t>
            </a:r>
          </a:p>
        </p:txBody>
      </p:sp>
      <p:sp>
        <p:nvSpPr>
          <p:cNvPr id="38" name="Sources"/>
          <p:cNvSpPr txBox="1"/>
          <p:nvPr/>
        </p:nvSpPr>
        <p:spPr>
          <a:xfrm>
            <a:off x="3840480" y="6455664"/>
            <a:ext cx="7406640" cy="274320"/>
          </a:xfrm>
          <a:prstGeom prst="rect">
            <a:avLst/>
          </a:prstGeom>
          <a:noFill/>
        </p:spPr>
        <p:txBody>
          <a:bodyPr wrap="square" lIns="36576" tIns="18288" rIns="36576" bIns="18288" anchor="t">
            <a:spAutoFit/>
          </a:bodyPr>
          <a:lstStyle/>
          <a:p>
            <a:pPr algn="r">
              <a:spcAft>
                <a:spcPts val="400"/>
              </a:spcAft>
            </a:pPr>
            <a:r>
              <a:rPr sz="900" b="0">
                <a:solidFill>
                  <a:srgbClr val="5F6266"/>
                </a:solidFill>
              </a:rPr>
              <a:t>Full source of all 18 scripts in report Appendix B</a:t>
            </a:r>
          </a:p>
        </p:txBody>
      </p:sp>
      <p:graphicFrame>
        <p:nvGraphicFramePr>
          <p:cNvPr id="39" name="Table 38"/>
          <p:cNvGraphicFramePr>
            <a:graphicFrameLocks noGrp="1"/>
          </p:cNvGraphicFramePr>
          <p:nvPr/>
        </p:nvGraphicFramePr>
        <p:xfrm>
          <a:off x="850392" y="1371600"/>
          <a:ext cx="4754880" cy="3840480"/>
        </p:xfrm>
        <a:graphic>
          <a:graphicData uri="http://schemas.openxmlformats.org/drawingml/2006/table">
            <a:tbl>
              <a:tblPr firstRow="1" bandRow="0">
                <a:tableStyleId>{5C22544A-7EE6-4342-B048-85BDC9FD1C3A}</a:tableStyleId>
              </a:tblPr>
              <a:tblGrid>
                <a:gridCol w="1371600"/>
                <a:gridCol w="3383280"/>
              </a:tblGrid>
              <a:tr h="384048">
                <a:tc>
                  <a:txBody>
                    <a:bodyPr wrap="square"/>
                    <a:lstStyle/>
                    <a:p>
                      <a:pPr algn="l"/>
                      <a:r>
                        <a:rPr sz="950">
                          <a:solidFill>
                            <a:srgbClr val="36393B"/>
                          </a:solidFill>
                          <a:latin typeface="+mj-lt"/>
                        </a:rPr>
                        <a:t>ITEM</a:t>
                      </a:r>
                    </a:p>
                  </a:txBody>
                  <a:tcPr marL="45720" marR="45720" marT="18288" marB="18288" anchor="ctr">
                    <a:solidFill>
                      <a:srgbClr val="2BB399"/>
                    </a:solidFill>
                  </a:tcPr>
                </a:tc>
                <a:tc>
                  <a:txBody>
                    <a:bodyPr wrap="square"/>
                    <a:lstStyle/>
                    <a:p>
                      <a:pPr algn="l"/>
                      <a:r>
                        <a:rPr sz="950">
                          <a:solidFill>
                            <a:srgbClr val="36393B"/>
                          </a:solidFill>
                          <a:latin typeface="+mj-lt"/>
                        </a:rPr>
                        <a:t>SETTING</a:t>
                      </a:r>
                    </a:p>
                  </a:txBody>
                  <a:tcPr marL="45720" marR="45720" marT="18288" marB="18288" anchor="ctr">
                    <a:solidFill>
                      <a:srgbClr val="2BB399"/>
                    </a:solidFill>
                  </a:tcPr>
                </a:tc>
              </a:tr>
              <a:tr h="384048">
                <a:tc>
                  <a:txBody>
                    <a:bodyPr wrap="square"/>
                    <a:lstStyle/>
                    <a:p>
                      <a:pPr algn="l"/>
                      <a:r>
                        <a:rPr sz="1200" b="1">
                          <a:solidFill>
                            <a:srgbClr val="36393B"/>
                          </a:solidFill>
                        </a:rPr>
                        <a:t>Capital</a:t>
                      </a:r>
                    </a:p>
                  </a:txBody>
                  <a:tcPr marL="45720" marR="45720" marT="18288" marB="18288" anchor="ctr">
                    <a:solidFill>
                      <a:srgbClr val="FFFFFF"/>
                    </a:solidFill>
                  </a:tcPr>
                </a:tc>
                <a:tc>
                  <a:txBody>
                    <a:bodyPr wrap="square"/>
                    <a:lstStyle/>
                    <a:p>
                      <a:pPr algn="l"/>
                      <a:r>
                        <a:rPr sz="1200" b="0">
                          <a:solidFill>
                            <a:srgbClr val="36393B"/>
                          </a:solidFill>
                        </a:rPr>
                        <a:t>₹10 lakh; 100% equity; long-only</a:t>
                      </a:r>
                    </a:p>
                  </a:txBody>
                  <a:tcPr marL="45720" marR="45720" marT="18288" marB="18288" anchor="ctr">
                    <a:solidFill>
                      <a:srgbClr val="FFFFFF"/>
                    </a:solidFill>
                  </a:tcPr>
                </a:tc>
              </a:tr>
              <a:tr h="384048">
                <a:tc>
                  <a:txBody>
                    <a:bodyPr wrap="square"/>
                    <a:lstStyle/>
                    <a:p>
                      <a:pPr algn="l"/>
                      <a:r>
                        <a:rPr sz="1200" b="1">
                          <a:solidFill>
                            <a:srgbClr val="36393B"/>
                          </a:solidFill>
                        </a:rPr>
                        <a:t>Positions</a:t>
                      </a:r>
                    </a:p>
                  </a:txBody>
                  <a:tcPr marL="45720" marR="45720" marT="18288" marB="18288" anchor="ctr">
                    <a:solidFill>
                      <a:srgbClr val="F4FEFB"/>
                    </a:solidFill>
                  </a:tcPr>
                </a:tc>
                <a:tc>
                  <a:txBody>
                    <a:bodyPr wrap="square"/>
                    <a:lstStyle/>
                    <a:p>
                      <a:pPr algn="l"/>
                      <a:r>
                        <a:rPr sz="1200" b="0">
                          <a:solidFill>
                            <a:srgbClr val="36393B"/>
                          </a:solidFill>
                        </a:rPr>
                        <a:t>One at a time; no overlap</a:t>
                      </a:r>
                    </a:p>
                  </a:txBody>
                  <a:tcPr marL="45720" marR="45720" marT="18288" marB="18288" anchor="ctr">
                    <a:solidFill>
                      <a:srgbClr val="F4FEFB"/>
                    </a:solidFill>
                  </a:tcPr>
                </a:tc>
              </a:tr>
              <a:tr h="384048">
                <a:tc>
                  <a:txBody>
                    <a:bodyPr wrap="square"/>
                    <a:lstStyle/>
                    <a:p>
                      <a:pPr algn="l"/>
                      <a:r>
                        <a:rPr sz="1200" b="1">
                          <a:solidFill>
                            <a:srgbClr val="36393B"/>
                          </a:solidFill>
                        </a:rPr>
                        <a:t>Execution</a:t>
                      </a:r>
                    </a:p>
                  </a:txBody>
                  <a:tcPr marL="45720" marR="45720" marT="18288" marB="18288" anchor="ctr">
                    <a:solidFill>
                      <a:srgbClr val="FFFFFF"/>
                    </a:solidFill>
                  </a:tcPr>
                </a:tc>
                <a:tc>
                  <a:txBody>
                    <a:bodyPr wrap="square"/>
                    <a:lstStyle/>
                    <a:p>
                      <a:pPr algn="l"/>
                      <a:r>
                        <a:rPr sz="1200" b="0">
                          <a:solidFill>
                            <a:srgbClr val="36393B"/>
                          </a:solidFill>
                        </a:rPr>
                        <a:t>Signal on close; next-open fill</a:t>
                      </a:r>
                    </a:p>
                  </a:txBody>
                  <a:tcPr marL="45720" marR="45720" marT="18288" marB="18288" anchor="ctr">
                    <a:solidFill>
                      <a:srgbClr val="FFFFFF"/>
                    </a:solidFill>
                  </a:tcPr>
                </a:tc>
              </a:tr>
              <a:tr h="384048">
                <a:tc>
                  <a:txBody>
                    <a:bodyPr wrap="square"/>
                    <a:lstStyle/>
                    <a:p>
                      <a:pPr algn="l"/>
                      <a:r>
                        <a:rPr sz="1200" b="1">
                          <a:solidFill>
                            <a:srgbClr val="36393B"/>
                          </a:solidFill>
                        </a:rPr>
                        <a:t>Costs</a:t>
                      </a:r>
                    </a:p>
                  </a:txBody>
                  <a:tcPr marL="45720" marR="45720" marT="18288" marB="18288" anchor="ctr">
                    <a:solidFill>
                      <a:srgbClr val="F4FEFB"/>
                    </a:solidFill>
                  </a:tcPr>
                </a:tc>
                <a:tc>
                  <a:txBody>
                    <a:bodyPr wrap="square"/>
                    <a:lstStyle/>
                    <a:p>
                      <a:pPr algn="l"/>
                      <a:r>
                        <a:rPr sz="1200" b="0">
                          <a:solidFill>
                            <a:srgbClr val="36393B"/>
                          </a:solidFill>
                        </a:rPr>
                        <a:t>0.15% per side (0.05%, 0.25% tested)</a:t>
                      </a:r>
                    </a:p>
                  </a:txBody>
                  <a:tcPr marL="45720" marR="45720" marT="18288" marB="18288" anchor="ctr">
                    <a:solidFill>
                      <a:srgbClr val="F4FEFB"/>
                    </a:solidFill>
                  </a:tcPr>
                </a:tc>
              </a:tr>
              <a:tr h="384048">
                <a:tc>
                  <a:txBody>
                    <a:bodyPr wrap="square"/>
                    <a:lstStyle/>
                    <a:p>
                      <a:pPr algn="l"/>
                      <a:r>
                        <a:rPr sz="1200" b="1">
                          <a:solidFill>
                            <a:srgbClr val="36393B"/>
                          </a:solidFill>
                        </a:rPr>
                        <a:t>Idle cash</a:t>
                      </a:r>
                    </a:p>
                  </a:txBody>
                  <a:tcPr marL="45720" marR="45720" marT="18288" marB="18288" anchor="ctr">
                    <a:solidFill>
                      <a:srgbClr val="FFFFFF"/>
                    </a:solidFill>
                  </a:tcPr>
                </a:tc>
                <a:tc>
                  <a:txBody>
                    <a:bodyPr wrap="square"/>
                    <a:lstStyle/>
                    <a:p>
                      <a:pPr algn="l"/>
                      <a:r>
                        <a:rPr sz="1200" b="0">
                          <a:solidFill>
                            <a:srgbClr val="36393B"/>
                          </a:solidFill>
                        </a:rPr>
                        <a:t>6% a year (0% tested)</a:t>
                      </a:r>
                    </a:p>
                  </a:txBody>
                  <a:tcPr marL="45720" marR="45720" marT="18288" marB="18288" anchor="ctr">
                    <a:solidFill>
                      <a:srgbClr val="FFFFFF"/>
                    </a:solidFill>
                  </a:tcPr>
                </a:tc>
              </a:tr>
              <a:tr h="384048">
                <a:tc>
                  <a:txBody>
                    <a:bodyPr wrap="square"/>
                    <a:lstStyle/>
                    <a:p>
                      <a:pPr algn="l"/>
                      <a:r>
                        <a:rPr sz="1200" b="1">
                          <a:solidFill>
                            <a:srgbClr val="36393B"/>
                          </a:solidFill>
                        </a:rPr>
                        <a:t>Sharpe</a:t>
                      </a:r>
                    </a:p>
                  </a:txBody>
                  <a:tcPr marL="45720" marR="45720" marT="18288" marB="18288" anchor="ctr">
                    <a:solidFill>
                      <a:srgbClr val="F4FEFB"/>
                    </a:solidFill>
                  </a:tcPr>
                </a:tc>
                <a:tc>
                  <a:txBody>
                    <a:bodyPr wrap="square"/>
                    <a:lstStyle/>
                    <a:p>
                      <a:pPr algn="l"/>
                      <a:r>
                        <a:rPr sz="1200" b="0">
                          <a:solidFill>
                            <a:srgbClr val="36393B"/>
                          </a:solidFill>
                        </a:rPr>
                        <a:t>Excess of 6%; s.e. from Lo (2002)</a:t>
                      </a:r>
                    </a:p>
                  </a:txBody>
                  <a:tcPr marL="45720" marR="45720" marT="18288" marB="18288" anchor="ctr">
                    <a:solidFill>
                      <a:srgbClr val="F4FEFB"/>
                    </a:solidFill>
                  </a:tcPr>
                </a:tc>
              </a:tr>
              <a:tr h="384048">
                <a:tc>
                  <a:txBody>
                    <a:bodyPr wrap="square"/>
                    <a:lstStyle/>
                    <a:p>
                      <a:pPr algn="l"/>
                      <a:r>
                        <a:rPr sz="1200" b="1">
                          <a:solidFill>
                            <a:srgbClr val="36393B"/>
                          </a:solidFill>
                        </a:rPr>
                        <a:t>Samples</a:t>
                      </a:r>
                    </a:p>
                  </a:txBody>
                  <a:tcPr marL="45720" marR="45720" marT="18288" marB="18288" anchor="ctr">
                    <a:solidFill>
                      <a:srgbClr val="FFFFFF"/>
                    </a:solidFill>
                  </a:tcPr>
                </a:tc>
                <a:tc>
                  <a:txBody>
                    <a:bodyPr wrap="square"/>
                    <a:lstStyle/>
                    <a:p>
                      <a:pPr algn="l"/>
                      <a:r>
                        <a:rPr sz="1200" b="0">
                          <a:solidFill>
                            <a:srgbClr val="36393B"/>
                          </a:solidFill>
                        </a:rPr>
                        <a:t>IS 2015–21; OOS 2022–26</a:t>
                      </a:r>
                    </a:p>
                  </a:txBody>
                  <a:tcPr marL="45720" marR="45720" marT="18288" marB="18288" anchor="ctr">
                    <a:solidFill>
                      <a:srgbClr val="FFFFFF"/>
                    </a:solidFill>
                  </a:tcPr>
                </a:tc>
              </a:tr>
              <a:tr h="384048">
                <a:tc>
                  <a:txBody>
                    <a:bodyPr wrap="square"/>
                    <a:lstStyle/>
                    <a:p>
                      <a:pPr algn="l"/>
                      <a:r>
                        <a:rPr sz="1200" b="1">
                          <a:solidFill>
                            <a:srgbClr val="36393B"/>
                          </a:solidFill>
                        </a:rPr>
                        <a:t>Data fixes</a:t>
                      </a:r>
                    </a:p>
                  </a:txBody>
                  <a:tcPr marL="45720" marR="45720" marT="18288" marB="18288" anchor="ctr">
                    <a:solidFill>
                      <a:srgbClr val="F4FEFB"/>
                    </a:solidFill>
                  </a:tcPr>
                </a:tc>
                <a:tc>
                  <a:txBody>
                    <a:bodyPr wrap="square"/>
                    <a:lstStyle/>
                    <a:p>
                      <a:pPr algn="l"/>
                      <a:r>
                        <a:rPr sz="1200" b="0">
                          <a:solidFill>
                            <a:srgbClr val="36393B"/>
                          </a:solidFill>
                        </a:rPr>
                        <a:t>Reliance rights 2020, Jio demerger 2023; ITC Hotels 2025</a:t>
                      </a:r>
                    </a:p>
                  </a:txBody>
                  <a:tcPr marL="45720" marR="45720" marT="18288" marB="18288" anchor="ctr">
                    <a:solidFill>
                      <a:srgbClr val="F4FEFB"/>
                    </a:solidFill>
                  </a:tcPr>
                </a:tc>
              </a:tr>
              <a:tr h="384048">
                <a:tc>
                  <a:txBody>
                    <a:bodyPr wrap="square"/>
                    <a:lstStyle/>
                    <a:p>
                      <a:pPr algn="l"/>
                      <a:r>
                        <a:rPr sz="1200" b="1">
                          <a:solidFill>
                            <a:srgbClr val="36393B"/>
                          </a:solidFill>
                        </a:rPr>
                        <a:t>Parameters</a:t>
                      </a:r>
                    </a:p>
                  </a:txBody>
                  <a:tcPr marL="45720" marR="45720" marT="18288" marB="18288" anchor="ctr">
                    <a:solidFill>
                      <a:srgbClr val="FFFFFF"/>
                    </a:solidFill>
                  </a:tcPr>
                </a:tc>
                <a:tc>
                  <a:txBody>
                    <a:bodyPr wrap="square"/>
                    <a:lstStyle/>
                    <a:p>
                      <a:pPr algn="l"/>
                      <a:r>
                        <a:rPr sz="1200" b="0">
                          <a:solidFill>
                            <a:srgbClr val="36393B"/>
                          </a:solidFill>
                        </a:rPr>
                        <a:t>Textbook defaults, same on all 7 stocks</a:t>
                      </a:r>
                    </a:p>
                  </a:txBody>
                  <a:tcPr marL="45720" marR="45720" marT="18288" marB="18288" anchor="ctr">
                    <a:solidFill>
                      <a:srgbClr val="FFFFFF"/>
                    </a:solidFill>
                  </a:tcPr>
                </a:tc>
              </a:tr>
            </a:tbl>
          </a:graphicData>
        </a:graphic>
      </p:graphicFrame>
      <p:graphicFrame>
        <p:nvGraphicFramePr>
          <p:cNvPr id="40" name="Table 39"/>
          <p:cNvGraphicFramePr>
            <a:graphicFrameLocks noGrp="1"/>
          </p:cNvGraphicFramePr>
          <p:nvPr/>
        </p:nvGraphicFramePr>
        <p:xfrm>
          <a:off x="5943600" y="1371600"/>
          <a:ext cx="5349240" cy="3200400"/>
        </p:xfrm>
        <a:graphic>
          <a:graphicData uri="http://schemas.openxmlformats.org/drawingml/2006/table">
            <a:tbl>
              <a:tblPr firstRow="1" bandRow="0">
                <a:tableStyleId>{5C22544A-7EE6-4342-B048-85BDC9FD1C3A}</a:tableStyleId>
              </a:tblPr>
              <a:tblGrid>
                <a:gridCol w="731520"/>
                <a:gridCol w="2971800"/>
                <a:gridCol w="1645920"/>
              </a:tblGrid>
              <a:tr h="457200">
                <a:tc>
                  <a:txBody>
                    <a:bodyPr wrap="square"/>
                    <a:lstStyle/>
                    <a:p>
                      <a:pPr algn="l"/>
                      <a:r>
                        <a:rPr sz="950">
                          <a:solidFill>
                            <a:srgbClr val="36393B"/>
                          </a:solidFill>
                          <a:latin typeface="+mj-lt"/>
                        </a:rPr>
                        <a:t>FILE</a:t>
                      </a:r>
                    </a:p>
                  </a:txBody>
                  <a:tcPr marL="45720" marR="45720" marT="18288" marB="18288" anchor="ctr">
                    <a:solidFill>
                      <a:srgbClr val="2BB399"/>
                    </a:solidFill>
                  </a:tcPr>
                </a:tc>
                <a:tc>
                  <a:txBody>
                    <a:bodyPr wrap="square"/>
                    <a:lstStyle/>
                    <a:p>
                      <a:pPr algn="l"/>
                      <a:r>
                        <a:rPr sz="950">
                          <a:solidFill>
                            <a:srgbClr val="36393B"/>
                          </a:solidFill>
                          <a:latin typeface="+mj-lt"/>
                        </a:rPr>
                        <a:t>SCRIPT</a:t>
                      </a:r>
                    </a:p>
                  </a:txBody>
                  <a:tcPr marL="45720" marR="45720" marT="18288" marB="18288" anchor="ctr">
                    <a:solidFill>
                      <a:srgbClr val="2BB399"/>
                    </a:solidFill>
                  </a:tcPr>
                </a:tc>
                <a:tc>
                  <a:txBody>
                    <a:bodyPr wrap="square"/>
                    <a:lstStyle/>
                    <a:p>
                      <a:pPr algn="l"/>
                      <a:r>
                        <a:rPr sz="950">
                          <a:solidFill>
                            <a:srgbClr val="36393B"/>
                          </a:solidFill>
                          <a:latin typeface="+mj-lt"/>
                        </a:rPr>
                        <a:t>REQUIREMENT</a:t>
                      </a:r>
                    </a:p>
                  </a:txBody>
                  <a:tcPr marL="45720" marR="45720" marT="18288" marB="18288" anchor="ctr">
                    <a:solidFill>
                      <a:srgbClr val="2BB399"/>
                    </a:solidFill>
                  </a:tcPr>
                </a:tc>
              </a:tr>
              <a:tr h="457200">
                <a:tc>
                  <a:txBody>
                    <a:bodyPr wrap="square"/>
                    <a:lstStyle/>
                    <a:p>
                      <a:pPr algn="l"/>
                      <a:r>
                        <a:rPr sz="1200" b="1">
                          <a:solidFill>
                            <a:srgbClr val="36393B"/>
                          </a:solidFill>
                        </a:rPr>
                        <a:t>01–08</a:t>
                      </a:r>
                    </a:p>
                  </a:txBody>
                  <a:tcPr marL="45720" marR="45720" marT="18288" marB="18288" anchor="ctr">
                    <a:solidFill>
                      <a:srgbClr val="FFFFFF"/>
                    </a:solidFill>
                  </a:tcPr>
                </a:tc>
                <a:tc>
                  <a:txBody>
                    <a:bodyPr wrap="square"/>
                    <a:lstStyle/>
                    <a:p>
                      <a:pPr algn="l"/>
                      <a:r>
                        <a:rPr sz="1200" b="0">
                          <a:solidFill>
                            <a:srgbClr val="36393B"/>
                          </a:solidFill>
                        </a:rPr>
                        <a:t>SMA, EMA, RSI, MACD, Bollinger, Stochastic, ADX/DMI, OBV</a:t>
                      </a:r>
                    </a:p>
                  </a:txBody>
                  <a:tcPr marL="45720" marR="45720" marT="18288" marB="18288" anchor="ctr">
                    <a:solidFill>
                      <a:srgbClr val="FFFFFF"/>
                    </a:solidFill>
                  </a:tcPr>
                </a:tc>
                <a:tc>
                  <a:txBody>
                    <a:bodyPr wrap="square"/>
                    <a:lstStyle/>
                    <a:p>
                      <a:pPr algn="l"/>
                      <a:r>
                        <a:rPr sz="1200" b="0">
                          <a:solidFill>
                            <a:srgbClr val="36393B"/>
                          </a:solidFill>
                        </a:rPr>
                        <a:t>1: indicators</a:t>
                      </a:r>
                    </a:p>
                  </a:txBody>
                  <a:tcPr marL="45720" marR="45720" marT="18288" marB="18288" anchor="ctr">
                    <a:solidFill>
                      <a:srgbClr val="FFFFFF"/>
                    </a:solidFill>
                  </a:tcPr>
                </a:tc>
              </a:tr>
              <a:tr h="457200">
                <a:tc>
                  <a:txBody>
                    <a:bodyPr wrap="square"/>
                    <a:lstStyle/>
                    <a:p>
                      <a:pPr algn="l"/>
                      <a:r>
                        <a:rPr sz="1200" b="1">
                          <a:solidFill>
                            <a:srgbClr val="36393B"/>
                          </a:solidFill>
                        </a:rPr>
                        <a:t>09–12</a:t>
                      </a:r>
                    </a:p>
                  </a:txBody>
                  <a:tcPr marL="45720" marR="45720" marT="18288" marB="18288" anchor="ctr">
                    <a:solidFill>
                      <a:srgbClr val="F4FEFB"/>
                    </a:solidFill>
                  </a:tcPr>
                </a:tc>
                <a:tc>
                  <a:txBody>
                    <a:bodyPr wrap="square"/>
                    <a:lstStyle/>
                    <a:p>
                      <a:pPr algn="l"/>
                      <a:r>
                        <a:rPr sz="1200" b="0">
                          <a:solidFill>
                            <a:srgbClr val="36393B"/>
                          </a:solidFill>
                        </a:rPr>
                        <a:t>Supertrend, CCI, MFI, Donchian</a:t>
                      </a:r>
                    </a:p>
                  </a:txBody>
                  <a:tcPr marL="45720" marR="45720" marT="18288" marB="18288" anchor="ctr">
                    <a:solidFill>
                      <a:srgbClr val="F4FEFB"/>
                    </a:solidFill>
                  </a:tcPr>
                </a:tc>
                <a:tc>
                  <a:txBody>
                    <a:bodyPr wrap="square"/>
                    <a:lstStyle/>
                    <a:p>
                      <a:pPr algn="l"/>
                      <a:r>
                        <a:rPr sz="1200" b="0">
                          <a:solidFill>
                            <a:srgbClr val="36393B"/>
                          </a:solidFill>
                        </a:rPr>
                        <a:t>1: added indicators</a:t>
                      </a:r>
                    </a:p>
                  </a:txBody>
                  <a:tcPr marL="45720" marR="45720" marT="18288" marB="18288" anchor="ctr">
                    <a:solidFill>
                      <a:srgbClr val="F4FEFB"/>
                    </a:solidFill>
                  </a:tcPr>
                </a:tc>
              </a:tr>
              <a:tr h="457200">
                <a:tc>
                  <a:txBody>
                    <a:bodyPr wrap="square"/>
                    <a:lstStyle/>
                    <a:p>
                      <a:pPr algn="l"/>
                      <a:r>
                        <a:rPr sz="1200" b="1">
                          <a:solidFill>
                            <a:srgbClr val="36393B"/>
                          </a:solidFill>
                        </a:rPr>
                        <a:t>13</a:t>
                      </a:r>
                    </a:p>
                  </a:txBody>
                  <a:tcPr marL="45720" marR="45720" marT="18288" marB="18288" anchor="ctr">
                    <a:solidFill>
                      <a:srgbClr val="FFFFFF"/>
                    </a:solidFill>
                  </a:tcPr>
                </a:tc>
                <a:tc>
                  <a:txBody>
                    <a:bodyPr wrap="square"/>
                    <a:lstStyle/>
                    <a:p>
                      <a:pPr algn="l"/>
                      <a:r>
                        <a:rPr sz="1200" b="0">
                          <a:solidFill>
                            <a:srgbClr val="36393B"/>
                          </a:solidFill>
                        </a:rPr>
                        <a:t>Seven-stock dashboard</a:t>
                      </a:r>
                    </a:p>
                  </a:txBody>
                  <a:tcPr marL="45720" marR="45720" marT="18288" marB="18288" anchor="ctr">
                    <a:solidFill>
                      <a:srgbClr val="FFFFFF"/>
                    </a:solidFill>
                  </a:tcPr>
                </a:tc>
                <a:tc>
                  <a:txBody>
                    <a:bodyPr wrap="square"/>
                    <a:lstStyle/>
                    <a:p>
                      <a:pPr algn="l"/>
                      <a:r>
                        <a:rPr sz="1200" b="0">
                          <a:solidFill>
                            <a:srgbClr val="36393B"/>
                          </a:solidFill>
                        </a:rPr>
                        <a:t>1: 12 × 7 table</a:t>
                      </a:r>
                    </a:p>
                  </a:txBody>
                  <a:tcPr marL="45720" marR="45720" marT="18288" marB="18288" anchor="ctr">
                    <a:solidFill>
                      <a:srgbClr val="FFFFFF"/>
                    </a:solidFill>
                  </a:tcPr>
                </a:tc>
              </a:tr>
              <a:tr h="457200">
                <a:tc>
                  <a:txBody>
                    <a:bodyPr wrap="square"/>
                    <a:lstStyle/>
                    <a:p>
                      <a:pPr algn="l"/>
                      <a:r>
                        <a:rPr sz="1200" b="1">
                          <a:solidFill>
                            <a:srgbClr val="36393B"/>
                          </a:solidFill>
                        </a:rPr>
                        <a:t>14–16</a:t>
                      </a:r>
                    </a:p>
                  </a:txBody>
                  <a:tcPr marL="45720" marR="45720" marT="18288" marB="18288" anchor="ctr">
                    <a:solidFill>
                      <a:srgbClr val="F4FEFB"/>
                    </a:solidFill>
                  </a:tcPr>
                </a:tc>
                <a:tc>
                  <a:txBody>
                    <a:bodyPr wrap="square"/>
                    <a:lstStyle/>
                    <a:p>
                      <a:pPr algn="l"/>
                      <a:r>
                        <a:rPr sz="1200" b="0">
                          <a:solidFill>
                            <a:srgbClr val="36393B"/>
                          </a:solidFill>
                        </a:rPr>
                        <a:t>Strategies A, B, C</a:t>
                      </a:r>
                    </a:p>
                  </a:txBody>
                  <a:tcPr marL="45720" marR="45720" marT="18288" marB="18288" anchor="ctr">
                    <a:solidFill>
                      <a:srgbClr val="F4FEFB"/>
                    </a:solidFill>
                  </a:tcPr>
                </a:tc>
                <a:tc>
                  <a:txBody>
                    <a:bodyPr wrap="square"/>
                    <a:lstStyle/>
                    <a:p>
                      <a:pPr algn="l"/>
                      <a:r>
                        <a:rPr sz="1200" b="0">
                          <a:solidFill>
                            <a:srgbClr val="36393B"/>
                          </a:solidFill>
                        </a:rPr>
                        <a:t>2: 7 / 15 / 60 days</a:t>
                      </a:r>
                    </a:p>
                  </a:txBody>
                  <a:tcPr marL="45720" marR="45720" marT="18288" marB="18288" anchor="ctr">
                    <a:solidFill>
                      <a:srgbClr val="F4FEFB"/>
                    </a:solidFill>
                  </a:tcPr>
                </a:tc>
              </a:tr>
              <a:tr h="457200">
                <a:tc>
                  <a:txBody>
                    <a:bodyPr wrap="square"/>
                    <a:lstStyle/>
                    <a:p>
                      <a:pPr algn="l"/>
                      <a:r>
                        <a:rPr sz="1200" b="1">
                          <a:solidFill>
                            <a:srgbClr val="36393B"/>
                          </a:solidFill>
                        </a:rPr>
                        <a:t>17</a:t>
                      </a:r>
                    </a:p>
                  </a:txBody>
                  <a:tcPr marL="45720" marR="45720" marT="18288" marB="18288" anchor="ctr">
                    <a:solidFill>
                      <a:srgbClr val="FFFFFF"/>
                    </a:solidFill>
                  </a:tcPr>
                </a:tc>
                <a:tc>
                  <a:txBody>
                    <a:bodyPr wrap="square"/>
                    <a:lstStyle/>
                    <a:p>
                      <a:pPr algn="l"/>
                      <a:r>
                        <a:rPr sz="1200" b="0">
                          <a:solidFill>
                            <a:srgbClr val="36393B"/>
                          </a:solidFill>
                        </a:rPr>
                        <a:t>Bias Lab</a:t>
                      </a:r>
                    </a:p>
                  </a:txBody>
                  <a:tcPr marL="45720" marR="45720" marT="18288" marB="18288" anchor="ctr">
                    <a:solidFill>
                      <a:srgbClr val="FFFFFF"/>
                    </a:solidFill>
                  </a:tcPr>
                </a:tc>
                <a:tc>
                  <a:txBody>
                    <a:bodyPr wrap="square"/>
                    <a:lstStyle/>
                    <a:p>
                      <a:pPr algn="l"/>
                      <a:r>
                        <a:rPr sz="1200" b="0">
                          <a:solidFill>
                            <a:srgbClr val="36393B"/>
                          </a:solidFill>
                        </a:rPr>
                        <a:t>3–4: eight bias modes</a:t>
                      </a:r>
                    </a:p>
                  </a:txBody>
                  <a:tcPr marL="45720" marR="45720" marT="18288" marB="18288" anchor="ctr">
                    <a:solidFill>
                      <a:srgbClr val="FFFFFF"/>
                    </a:solidFill>
                  </a:tcPr>
                </a:tc>
              </a:tr>
              <a:tr h="457200">
                <a:tc>
                  <a:txBody>
                    <a:bodyPr wrap="square"/>
                    <a:lstStyle/>
                    <a:p>
                      <a:pPr algn="l"/>
                      <a:r>
                        <a:rPr sz="1200" b="1">
                          <a:solidFill>
                            <a:srgbClr val="36393B"/>
                          </a:solidFill>
                        </a:rPr>
                        <a:t>18</a:t>
                      </a:r>
                    </a:p>
                  </a:txBody>
                  <a:tcPr marL="45720" marR="45720" marT="18288" marB="18288" anchor="ctr">
                    <a:solidFill>
                      <a:srgbClr val="F4FEFB"/>
                    </a:solidFill>
                  </a:tcPr>
                </a:tc>
                <a:tc>
                  <a:txBody>
                    <a:bodyPr wrap="square"/>
                    <a:lstStyle/>
                    <a:p>
                      <a:pPr algn="l"/>
                      <a:r>
                        <a:rPr sz="1200" b="0">
                          <a:solidFill>
                            <a:srgbClr val="36393B"/>
                          </a:solidFill>
                        </a:rPr>
                        <a:t>Disciplined strategy</a:t>
                      </a:r>
                    </a:p>
                  </a:txBody>
                  <a:tcPr marL="45720" marR="45720" marT="18288" marB="18288" anchor="ctr">
                    <a:solidFill>
                      <a:srgbClr val="F4FEFB"/>
                    </a:solidFill>
                  </a:tcPr>
                </a:tc>
                <a:tc>
                  <a:txBody>
                    <a:bodyPr wrap="square"/>
                    <a:lstStyle/>
                    <a:p>
                      <a:pPr algn="l"/>
                      <a:r>
                        <a:rPr sz="1200" b="0">
                          <a:solidFill>
                            <a:srgbClr val="36393B"/>
                          </a:solidFill>
                        </a:rPr>
                        <a:t>5: M1–M5, IS / OOS</a:t>
                      </a:r>
                    </a:p>
                  </a:txBody>
                  <a:tcPr marL="45720" marR="45720" marT="18288" marB="18288" anchor="ctr">
                    <a:solidFill>
                      <a:srgbClr val="F4FEFB"/>
                    </a:solidFill>
                  </a:tcPr>
                </a:tc>
              </a:tr>
            </a:tbl>
          </a:graphicData>
        </a:graphic>
      </p:graphicFrame>
      <p:sp>
        <p:nvSpPr>
          <p:cNvPr id="41" name="TextBox 40"/>
          <p:cNvSpPr txBox="1"/>
          <p:nvPr/>
        </p:nvSpPr>
        <p:spPr>
          <a:xfrm>
            <a:off x="5943600" y="4754880"/>
            <a:ext cx="5349240" cy="731520"/>
          </a:xfrm>
          <a:prstGeom prst="rect">
            <a:avLst/>
          </a:prstGeom>
          <a:noFill/>
        </p:spPr>
        <p:txBody>
          <a:bodyPr wrap="square" anchor="t" lIns="36576" rIns="36576" tIns="18288" bIns="18288">
            <a:spAutoFit/>
          </a:bodyPr>
          <a:lstStyle/>
          <a:p>
            <a:pPr algn="l">
              <a:spcAft>
                <a:spcPts val="300"/>
              </a:spcAft>
            </a:pPr>
            <a:r>
              <a:rPr sz="1200" b="1">
                <a:solidFill>
                  <a:srgbClr val="5F6266"/>
                </a:solidFill>
              </a:rPr>
              <a:t>To reproduce: </a:t>
            </a:r>
            <a:r>
              <a:rPr sz="1200" b="0">
                <a:solidFill>
                  <a:srgbClr val="5F6266"/>
                </a:solidFill>
              </a:rPr>
              <a:t>open an NSE daily chart with ADJ off, paste a file into the Pine Editor, click Add to chart.</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6A12F8-DD2F-AE73-677F-D5310D6D52B5}"/>
              </a:ext>
            </a:extLst>
          </p:cNvPr>
          <p:cNvSpPr>
            <a:spLocks noGrp="1"/>
          </p:cNvSpPr>
          <p:nvPr>
            <p:ph type="title"/>
          </p:nvPr>
        </p:nvSpPr>
        <p:spPr>
          <a:xfrm>
            <a:off x="1907196" y="2188196"/>
            <a:ext cx="5985159" cy="1594507"/>
          </a:xfrm>
        </p:spPr>
        <p:txBody>
          <a:bodyPr/>
          <a:lstStyle/>
          <a:p>
            <a:r>
              <a:rPr lang="en-US" dirty="0"/>
              <a:t>Thank you</a:t>
            </a:r>
          </a:p>
        </p:txBody>
      </p:sp>
      <p:sp>
        <p:nvSpPr>
          <p:cNvPr id="15" name="Text Placeholder 14">
            <a:extLst>
              <a:ext uri="{FF2B5EF4-FFF2-40B4-BE49-F238E27FC236}">
                <a16:creationId xmlns:a16="http://schemas.microsoft.com/office/drawing/2014/main" id="{791AF693-3675-52A5-9E8E-C071048A1A4D}"/>
              </a:ext>
            </a:extLst>
          </p:cNvPr>
          <p:cNvSpPr>
            <a:spLocks noGrp="1"/>
          </p:cNvSpPr>
          <p:nvPr>
            <p:ph type="body" idx="1"/>
          </p:nvPr>
        </p:nvSpPr>
        <p:spPr>
          <a:xfrm>
            <a:off x="1907196" y="4078224"/>
            <a:ext cx="5444517" cy="1731890"/>
          </a:xfrm>
        </p:spPr>
        <p:txBody>
          <a:bodyPr/>
          <a:lstStyle/>
          <a:p>
            <a:r>
              <a:rPr lang="en-US" dirty="0"/>
              <a:t>Adwaaiit Pande · Ayushi Mishra</a:t>
            </a:r>
          </a:p>
          <a:p>
            <a:r>
              <a:rPr lang="en-US" dirty="0"/>
              <a:t>Report · 18 Pine v6 scripts · Python replication</a:t>
            </a:r>
          </a:p>
          <a:p>
            <a:r>
              <a:rPr lang="en-US" dirty="0"/>
              <a:t>Live demo: Pine file 17, Bias Lab</a:t>
            </a:r>
          </a:p>
          <a:p>
            <a:r>
              <a:rPr lang="en-US" dirty="0"/>
              <a:t>Questions?</a:t>
            </a:r>
          </a:p>
        </p:txBody>
      </p:sp>
    </p:spTree>
    <p:extLst>
      <p:ext uri="{BB962C8B-B14F-4D97-AF65-F5344CB8AC3E}">
        <p14:creationId xmlns:p14="http://schemas.microsoft.com/office/powerpoint/2010/main" val="1023783487"/>
      </p:ext>
    </p:extLst>
  </p:cSld>
  <p:clrMapOvr>
    <a:masterClrMapping/>
  </p:clrMapOvr>
</p:sld>
</file>

<file path=ppt/theme/theme1.xml><?xml version="1.0" encoding="utf-8"?>
<a:theme xmlns:a="http://schemas.openxmlformats.org/drawingml/2006/main" name="Custom">
  <a:themeElements>
    <a:clrScheme name="Custom 8">
      <a:dk1>
        <a:srgbClr val="36393B"/>
      </a:dk1>
      <a:lt1>
        <a:srgbClr val="FFFFFF"/>
      </a:lt1>
      <a:dk2>
        <a:srgbClr val="4D62EF"/>
      </a:dk2>
      <a:lt2>
        <a:srgbClr val="E7E4E6"/>
      </a:lt2>
      <a:accent1>
        <a:srgbClr val="3AEFCC"/>
      </a:accent1>
      <a:accent2>
        <a:srgbClr val="62D382"/>
      </a:accent2>
      <a:accent3>
        <a:srgbClr val="FDED60"/>
      </a:accent3>
      <a:accent4>
        <a:srgbClr val="FD4C00"/>
      </a:accent4>
      <a:accent5>
        <a:srgbClr val="FE2701"/>
      </a:accent5>
      <a:accent6>
        <a:srgbClr val="CA54FB"/>
      </a:accent6>
      <a:hlink>
        <a:srgbClr val="4D62EF"/>
      </a:hlink>
      <a:folHlink>
        <a:srgbClr val="FC4C00"/>
      </a:folHlink>
    </a:clrScheme>
    <a:fontScheme name="Custom 19">
      <a:majorFont>
        <a:latin typeface="Arial Black"/>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051434_win32_KB_V3.potx" id="{43D84336-549C-4EAD-AE8D-BE1D65DE3314}" vid="{2C1BB0A5-2565-4EB8-A5F5-FF12201C54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CD1C4F3-182B-4FFD-86F3-85933C0520B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A0E3FE2-6B9B-4C9A-84D9-AD118750DE60}">
  <ds:schemaRefs>
    <ds:schemaRef ds:uri="http://schemas.microsoft.com/sharepoint/v3/contenttype/forms"/>
  </ds:schemaRefs>
</ds:datastoreItem>
</file>

<file path=customXml/itemProps3.xml><?xml version="1.0" encoding="utf-8"?>
<ds:datastoreItem xmlns:ds="http://schemas.openxmlformats.org/officeDocument/2006/customXml" ds:itemID="{F6D4D42E-C7BD-4080-9A83-56BA58F91A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{6C685447-D573-4BD3-954E-4D2AB5ED6BB2}TFe33beb5d-e502-4448-a67e-cd378462b5dc44b6c264_win32-f98e54472961</Template>
  <TotalTime>0</TotalTime>
  <Words>3581</Words>
  <Application>Microsoft Macintosh PowerPoint</Application>
  <PresentationFormat>Widescreen</PresentationFormat>
  <Paragraphs>402</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Black</vt:lpstr>
      <vt:lpstr>Avenir Next LT Pro</vt:lpstr>
      <vt:lpstr>Avenir Next LT Pro Light</vt:lpstr>
      <vt:lpstr>Calibri</vt:lpstr>
      <vt:lpstr>Custom</vt:lpstr>
      <vt:lpstr>Robo-advisory portfolio design</vt:lpstr>
      <vt:lpstr>The answer first: three findings</vt:lpstr>
      <vt:lpstr>Six steps, three stages: measure, model, recommend</vt:lpstr>
      <vt:lpstr>Only the choice task yields the parameters both theories need</vt:lpstr>
      <vt:lpstr>Twenty adaptive choices pin down five parameters</vt:lpstr>
      <vt:lpstr>Step 4: Kshitij is the outlier</vt:lpstr>
      <vt:lpstr>Results &amp; advice</vt:lpstr>
      <vt:lpstr>Three of five profiles carry a flag an adviser must act on</vt:lpstr>
      <vt:lpstr>EUT: all five, 100%, one portfolio</vt:lpstr>
      <vt:lpstr>SP/A-BPT personalises the mix through loss aversion</vt:lpstr>
      <vt:lpstr>What we would tell each client</vt:lpstr>
      <vt:lpstr>Personality should shape the advice, not the weights</vt:lpstr>
      <vt:lpstr>A working robo-advisor: survey to portfolio in one sitting</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Adwaaiit Pande</dc:creator>
  <cp:lastModifiedBy>Adwaaiit Pande</cp:lastModifiedBy>
  <cp:revision>3</cp:revision>
  <dcterms:created xsi:type="dcterms:W3CDTF">2026-10-05T16:12:43Z</dcterms:created>
  <dcterms:modified xsi:type="dcterms:W3CDTF">2026-10-06T18:52:34Z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